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7475200" cy="9753600"/>
  <p:notesSz cx="17475200" cy="97536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4" d="100"/>
          <a:sy n="44" d="100"/>
        </p:scale>
        <p:origin x="772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26700" y="6362700"/>
            <a:ext cx="977900" cy="6985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51300" y="1206500"/>
            <a:ext cx="9677400" cy="42037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6000" y="8978900"/>
            <a:ext cx="3962400" cy="2794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49828" y="5498401"/>
            <a:ext cx="14769465" cy="2499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49828" y="5498401"/>
            <a:ext cx="14769465" cy="2499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C345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00" b="0" i="0">
                <a:solidFill>
                  <a:srgbClr val="0C345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873760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999728" y="2243328"/>
            <a:ext cx="7601712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0113" y="465313"/>
            <a:ext cx="15574973" cy="15919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rgbClr val="262626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8050" y="4219493"/>
            <a:ext cx="7478395" cy="2277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0" i="0">
                <a:solidFill>
                  <a:srgbClr val="0C3454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107384" y="9455853"/>
            <a:ext cx="1232534" cy="212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873760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2582144" y="9070848"/>
            <a:ext cx="401929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pn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g"/><Relationship Id="rId5" Type="http://schemas.openxmlformats.org/officeDocument/2006/relationships/image" Target="../media/image18.png"/><Relationship Id="rId4" Type="http://schemas.openxmlformats.org/officeDocument/2006/relationships/image" Target="../media/image17.jpg"/><Relationship Id="rId9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jpg"/><Relationship Id="rId5" Type="http://schemas.openxmlformats.org/officeDocument/2006/relationships/image" Target="../media/image37.jpg"/><Relationship Id="rId4" Type="http://schemas.openxmlformats.org/officeDocument/2006/relationships/image" Target="../media/image3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jpg"/><Relationship Id="rId4" Type="http://schemas.openxmlformats.org/officeDocument/2006/relationships/image" Target="../media/image4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jpg"/><Relationship Id="rId5" Type="http://schemas.openxmlformats.org/officeDocument/2006/relationships/image" Target="../media/image46.jpg"/><Relationship Id="rId4" Type="http://schemas.openxmlformats.org/officeDocument/2006/relationships/image" Target="../media/image4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jpg"/><Relationship Id="rId5" Type="http://schemas.openxmlformats.org/officeDocument/2006/relationships/image" Target="../media/image51.png"/><Relationship Id="rId4" Type="http://schemas.openxmlformats.org/officeDocument/2006/relationships/image" Target="../media/image50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69563" y="3094566"/>
            <a:ext cx="184785" cy="3429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50" spc="-50" dirty="0">
                <a:solidFill>
                  <a:srgbClr val="11384D"/>
                </a:solidFill>
                <a:latin typeface="Courier New"/>
                <a:cs typeface="Courier New"/>
              </a:rPr>
              <a:t>O</a:t>
            </a:r>
            <a:endParaRPr sz="2050">
              <a:latin typeface="Courier New"/>
              <a:cs typeface="Courier New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4260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4"/>
              </a:spcBef>
              <a:tabLst>
                <a:tab pos="10735945" algn="l"/>
              </a:tabLst>
            </a:pPr>
            <a:r>
              <a:rPr sz="8800" dirty="0">
                <a:solidFill>
                  <a:srgbClr val="2A2A2A"/>
                </a:solidFill>
                <a:latin typeface="Cambria"/>
                <a:cs typeface="Cambria"/>
              </a:rPr>
              <a:t>From</a:t>
            </a:r>
            <a:r>
              <a:rPr sz="8800" spc="85" dirty="0">
                <a:solidFill>
                  <a:srgbClr val="2A2A2A"/>
                </a:solidFill>
                <a:latin typeface="Cambria"/>
                <a:cs typeface="Cambria"/>
              </a:rPr>
              <a:t> </a:t>
            </a:r>
            <a:r>
              <a:rPr sz="8800" spc="-10" dirty="0">
                <a:solidFill>
                  <a:srgbClr val="212121"/>
                </a:solidFill>
                <a:latin typeface="Cambria"/>
                <a:cs typeface="Cambria"/>
              </a:rPr>
              <a:t>Transactions</a:t>
            </a:r>
            <a:r>
              <a:rPr sz="8800" dirty="0">
                <a:solidFill>
                  <a:srgbClr val="212121"/>
                </a:solidFill>
                <a:latin typeface="Cambria"/>
                <a:cs typeface="Cambria"/>
              </a:rPr>
              <a:t>	</a:t>
            </a:r>
            <a:r>
              <a:rPr sz="8800" spc="-10" dirty="0">
                <a:solidFill>
                  <a:srgbClr val="262626"/>
                </a:solidFill>
                <a:latin typeface="Cambria"/>
                <a:cs typeface="Cambria"/>
              </a:rPr>
              <a:t>Strategy</a:t>
            </a:r>
            <a:endParaRPr sz="8800">
              <a:latin typeface="Cambria"/>
              <a:cs typeface="Cambria"/>
            </a:endParaRPr>
          </a:p>
          <a:p>
            <a:pPr marL="29845">
              <a:lnSpc>
                <a:spcPct val="100000"/>
              </a:lnSpc>
              <a:spcBef>
                <a:spcPts val="1340"/>
              </a:spcBef>
            </a:pPr>
            <a:r>
              <a:rPr sz="3600" dirty="0">
                <a:solidFill>
                  <a:srgbClr val="000000"/>
                </a:solidFill>
              </a:rPr>
              <a:t>Unlocking</a:t>
            </a:r>
            <a:r>
              <a:rPr sz="3600" spc="1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Customer</a:t>
            </a:r>
            <a:r>
              <a:rPr sz="3600" spc="16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Purchasing</a:t>
            </a:r>
            <a:r>
              <a:rPr sz="3600" spc="15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Patterns</a:t>
            </a:r>
            <a:r>
              <a:rPr sz="3600" spc="170" dirty="0">
                <a:solidFill>
                  <a:srgbClr val="000000"/>
                </a:solidFill>
              </a:rPr>
              <a:t> </a:t>
            </a:r>
            <a:r>
              <a:rPr sz="3600" spc="75" dirty="0">
                <a:solidFill>
                  <a:srgbClr val="000000"/>
                </a:solidFill>
              </a:rPr>
              <a:t>with</a:t>
            </a:r>
            <a:r>
              <a:rPr sz="3600" spc="-11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Market</a:t>
            </a:r>
            <a:r>
              <a:rPr sz="3600" spc="140" dirty="0">
                <a:solidFill>
                  <a:srgbClr val="000000"/>
                </a:solidFill>
              </a:rPr>
              <a:t> </a:t>
            </a:r>
            <a:r>
              <a:rPr sz="3600" dirty="0">
                <a:solidFill>
                  <a:srgbClr val="000000"/>
                </a:solidFill>
              </a:rPr>
              <a:t>Basket</a:t>
            </a:r>
            <a:r>
              <a:rPr sz="3600" spc="220" dirty="0">
                <a:solidFill>
                  <a:srgbClr val="000000"/>
                </a:solidFill>
              </a:rPr>
              <a:t> </a:t>
            </a:r>
            <a:r>
              <a:rPr sz="3600" spc="-10" dirty="0">
                <a:solidFill>
                  <a:srgbClr val="000000"/>
                </a:solidFill>
              </a:rPr>
              <a:t>Analysis</a:t>
            </a:r>
            <a:endParaRPr sz="3600"/>
          </a:p>
        </p:txBody>
      </p:sp>
      <p:sp>
        <p:nvSpPr>
          <p:cNvPr id="4" name="object 4"/>
          <p:cNvSpPr txBox="1"/>
          <p:nvPr/>
        </p:nvSpPr>
        <p:spPr>
          <a:xfrm>
            <a:off x="16114306" y="9422341"/>
            <a:ext cx="1224280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dirty="0">
                <a:latin typeface="Cambria"/>
                <a:cs typeface="Cambria"/>
              </a:rPr>
              <a:t>W</a:t>
            </a:r>
            <a:r>
              <a:rPr sz="1450" spc="270" dirty="0">
                <a:latin typeface="Cambria"/>
                <a:cs typeface="Cambria"/>
              </a:rPr>
              <a:t> </a:t>
            </a:r>
            <a:r>
              <a:rPr sz="1450" spc="-50" dirty="0">
                <a:latin typeface="Cambria"/>
                <a:cs typeface="Cambria"/>
              </a:rPr>
              <a:t>NotebaokLM</a:t>
            </a:r>
            <a:endParaRPr sz="1450">
              <a:latin typeface="Cambria"/>
              <a:cs typeface="Cambria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68DB8E-B969-5579-A13E-8E93E9E22CDD}"/>
              </a:ext>
            </a:extLst>
          </p:cNvPr>
          <p:cNvSpPr/>
          <p:nvPr/>
        </p:nvSpPr>
        <p:spPr>
          <a:xfrm>
            <a:off x="949828" y="8915400"/>
            <a:ext cx="4130172" cy="381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3300" y="7708900"/>
            <a:ext cx="901700" cy="812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1700" y="5613400"/>
            <a:ext cx="1117600" cy="685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14400" y="4495800"/>
            <a:ext cx="1079500" cy="7112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66800" y="3289300"/>
            <a:ext cx="787400" cy="9144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16235" y="421922"/>
            <a:ext cx="12879070" cy="15830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ts val="6025"/>
              </a:lnSpc>
              <a:spcBef>
                <a:spcPts val="125"/>
              </a:spcBef>
            </a:pPr>
            <a:r>
              <a:rPr sz="5250" spc="-80" dirty="0">
                <a:solidFill>
                  <a:srgbClr val="0A365D"/>
                </a:solidFill>
                <a:latin typeface="Times New Roman"/>
                <a:cs typeface="Times New Roman"/>
              </a:rPr>
              <a:t>Our</a:t>
            </a:r>
            <a:r>
              <a:rPr sz="5250" spc="-250" dirty="0">
                <a:solidFill>
                  <a:srgbClr val="0A365D"/>
                </a:solidFill>
                <a:latin typeface="Times New Roman"/>
                <a:cs typeface="Times New Roman"/>
              </a:rPr>
              <a:t> </a:t>
            </a:r>
            <a:r>
              <a:rPr sz="5250" spc="-95" dirty="0">
                <a:solidFill>
                  <a:srgbClr val="083456"/>
                </a:solidFill>
                <a:latin typeface="Times New Roman"/>
                <a:cs typeface="Times New Roman"/>
              </a:rPr>
              <a:t>Analysis</a:t>
            </a:r>
            <a:r>
              <a:rPr sz="5250" spc="-235" dirty="0">
                <a:solidFill>
                  <a:srgbClr val="083456"/>
                </a:solidFill>
                <a:latin typeface="Times New Roman"/>
                <a:cs typeface="Times New Roman"/>
              </a:rPr>
              <a:t> </a:t>
            </a:r>
            <a:r>
              <a:rPr sz="5250" spc="-105" dirty="0">
                <a:solidFill>
                  <a:srgbClr val="0A3B62"/>
                </a:solidFill>
                <a:latin typeface="Times New Roman"/>
                <a:cs typeface="Times New Roman"/>
              </a:rPr>
              <a:t>Revealed</a:t>
            </a:r>
            <a:r>
              <a:rPr sz="5250" spc="-220" dirty="0">
                <a:solidFill>
                  <a:srgbClr val="0A3B62"/>
                </a:solidFill>
                <a:latin typeface="Times New Roman"/>
                <a:cs typeface="Times New Roman"/>
              </a:rPr>
              <a:t> </a:t>
            </a:r>
            <a:r>
              <a:rPr sz="5250" spc="-220" dirty="0">
                <a:solidFill>
                  <a:srgbClr val="0C3D66"/>
                </a:solidFill>
                <a:latin typeface="Times New Roman"/>
                <a:cs typeface="Times New Roman"/>
              </a:rPr>
              <a:t>Five</a:t>
            </a:r>
            <a:r>
              <a:rPr sz="5250" spc="-195" dirty="0">
                <a:solidFill>
                  <a:srgbClr val="0C3D66"/>
                </a:solidFill>
                <a:latin typeface="Times New Roman"/>
                <a:cs typeface="Times New Roman"/>
              </a:rPr>
              <a:t> </a:t>
            </a:r>
            <a:r>
              <a:rPr sz="5250" spc="-55" dirty="0">
                <a:solidFill>
                  <a:srgbClr val="073459"/>
                </a:solidFill>
                <a:latin typeface="Times New Roman"/>
                <a:cs typeface="Times New Roman"/>
              </a:rPr>
              <a:t>Actionable</a:t>
            </a:r>
            <a:r>
              <a:rPr sz="5250" spc="-175" dirty="0">
                <a:solidFill>
                  <a:srgbClr val="073459"/>
                </a:solidFill>
                <a:latin typeface="Times New Roman"/>
                <a:cs typeface="Times New Roman"/>
              </a:rPr>
              <a:t> </a:t>
            </a:r>
            <a:r>
              <a:rPr sz="5250" spc="-10" dirty="0">
                <a:solidFill>
                  <a:srgbClr val="0A3B64"/>
                </a:solidFill>
                <a:latin typeface="Times New Roman"/>
                <a:cs typeface="Times New Roman"/>
              </a:rPr>
              <a:t>Customer</a:t>
            </a:r>
            <a:endParaRPr sz="5250">
              <a:latin typeface="Times New Roman"/>
              <a:cs typeface="Times New Roman"/>
            </a:endParaRPr>
          </a:p>
          <a:p>
            <a:pPr marL="24765">
              <a:lnSpc>
                <a:spcPts val="6205"/>
              </a:lnSpc>
            </a:pPr>
            <a:r>
              <a:rPr spc="-155" dirty="0">
                <a:solidFill>
                  <a:srgbClr val="083659"/>
                </a:solidFill>
                <a:latin typeface="Times New Roman"/>
                <a:cs typeface="Times New Roman"/>
              </a:rPr>
              <a:t>Behavior</a:t>
            </a:r>
            <a:r>
              <a:rPr spc="-165" dirty="0">
                <a:solidFill>
                  <a:srgbClr val="083659"/>
                </a:solidFill>
                <a:latin typeface="Times New Roman"/>
                <a:cs typeface="Times New Roman"/>
              </a:rPr>
              <a:t> </a:t>
            </a:r>
            <a:r>
              <a:rPr spc="-10" dirty="0">
                <a:solidFill>
                  <a:srgbClr val="05365D"/>
                </a:solidFill>
                <a:latin typeface="Times New Roman"/>
                <a:cs typeface="Times New Roman"/>
              </a:rPr>
              <a:t>Patterns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14669" y="2170641"/>
            <a:ext cx="15377794" cy="17602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 marR="283845" indent="7620">
              <a:lnSpc>
                <a:spcPts val="2900"/>
              </a:lnSpc>
              <a:spcBef>
                <a:spcPts val="484"/>
              </a:spcBef>
            </a:pPr>
            <a:r>
              <a:rPr sz="2700" spc="-370" dirty="0">
                <a:latin typeface="Arial MT"/>
                <a:cs typeface="Arial MT"/>
              </a:rPr>
              <a:t>We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spc="-125" dirty="0">
                <a:latin typeface="Arial MT"/>
                <a:cs typeface="Arial MT"/>
              </a:rPr>
              <a:t>applied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spc="-140" dirty="0">
                <a:latin typeface="Arial MT"/>
                <a:cs typeface="Arial MT"/>
              </a:rPr>
              <a:t>association</a:t>
            </a:r>
            <a:r>
              <a:rPr sz="2700" spc="-45" dirty="0">
                <a:latin typeface="Arial MT"/>
                <a:cs typeface="Arial MT"/>
              </a:rPr>
              <a:t> </a:t>
            </a:r>
            <a:r>
              <a:rPr sz="2700" spc="-140" dirty="0">
                <a:latin typeface="Arial MT"/>
                <a:cs typeface="Arial MT"/>
              </a:rPr>
              <a:t>rule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spc="-150" dirty="0">
                <a:latin typeface="Arial MT"/>
                <a:cs typeface="Arial MT"/>
              </a:rPr>
              <a:t>mining</a:t>
            </a:r>
            <a:r>
              <a:rPr sz="2700" spc="-35" dirty="0">
                <a:latin typeface="Arial MT"/>
                <a:cs typeface="Arial MT"/>
              </a:rPr>
              <a:t> </a:t>
            </a:r>
            <a:r>
              <a:rPr sz="2700" spc="-25" dirty="0">
                <a:latin typeface="Arial MT"/>
                <a:cs typeface="Arial MT"/>
              </a:rPr>
              <a:t>to</a:t>
            </a:r>
            <a:r>
              <a:rPr sz="2700" spc="-170" dirty="0">
                <a:latin typeface="Arial MT"/>
                <a:cs typeface="Arial MT"/>
              </a:rPr>
              <a:t> </a:t>
            </a:r>
            <a:r>
              <a:rPr sz="2700" spc="-160" dirty="0">
                <a:latin typeface="Arial MT"/>
                <a:cs typeface="Arial MT"/>
              </a:rPr>
              <a:t>Indian</a:t>
            </a:r>
            <a:r>
              <a:rPr sz="2700" spc="-30" dirty="0">
                <a:latin typeface="Arial MT"/>
                <a:cs typeface="Arial MT"/>
              </a:rPr>
              <a:t> </a:t>
            </a:r>
            <a:r>
              <a:rPr sz="2700" spc="-150" dirty="0">
                <a:latin typeface="Arial MT"/>
                <a:cs typeface="Arial MT"/>
              </a:rPr>
              <a:t>household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spc="-110" dirty="0">
                <a:latin typeface="Arial MT"/>
                <a:cs typeface="Arial MT"/>
              </a:rPr>
              <a:t>transaction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135" dirty="0">
                <a:latin typeface="Arial MT"/>
                <a:cs typeface="Arial MT"/>
              </a:rPr>
              <a:t>data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140" dirty="0">
                <a:latin typeface="Arial MT"/>
                <a:cs typeface="Arial MT"/>
              </a:rPr>
              <a:t> </a:t>
            </a:r>
            <a:r>
              <a:rPr sz="2700" spc="-155" dirty="0">
                <a:latin typeface="Arial MT"/>
                <a:cs typeface="Arial MT"/>
              </a:rPr>
              <a:t>uncover</a:t>
            </a:r>
            <a:r>
              <a:rPr sz="2700" spc="90" dirty="0">
                <a:latin typeface="Arial MT"/>
                <a:cs typeface="Arial MT"/>
              </a:rPr>
              <a:t> </a:t>
            </a:r>
            <a:r>
              <a:rPr sz="2700" spc="-185" dirty="0">
                <a:latin typeface="Arial MT"/>
                <a:cs typeface="Arial MT"/>
              </a:rPr>
              <a:t>how</a:t>
            </a:r>
            <a:r>
              <a:rPr sz="2700" dirty="0">
                <a:latin typeface="Arial MT"/>
                <a:cs typeface="Arial MT"/>
              </a:rPr>
              <a:t> </a:t>
            </a:r>
            <a:r>
              <a:rPr sz="2700" spc="-135" dirty="0">
                <a:latin typeface="Arial MT"/>
                <a:cs typeface="Arial MT"/>
              </a:rPr>
              <a:t>customers</a:t>
            </a:r>
            <a:r>
              <a:rPr sz="2700" spc="80" dirty="0">
                <a:latin typeface="Arial MT"/>
                <a:cs typeface="Arial MT"/>
              </a:rPr>
              <a:t> </a:t>
            </a:r>
            <a:r>
              <a:rPr sz="2700" spc="-145" dirty="0">
                <a:latin typeface="Arial MT"/>
                <a:cs typeface="Arial MT"/>
              </a:rPr>
              <a:t>shop.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20" dirty="0">
                <a:latin typeface="Arial MT"/>
                <a:cs typeface="Arial MT"/>
              </a:rPr>
              <a:t>This </a:t>
            </a:r>
            <a:r>
              <a:rPr sz="2700" spc="-140" dirty="0">
                <a:latin typeface="Arial MT"/>
                <a:cs typeface="Arial MT"/>
              </a:rPr>
              <a:t>analysis</a:t>
            </a:r>
            <a:r>
              <a:rPr sz="2700" spc="-50" dirty="0">
                <a:latin typeface="Arial MT"/>
                <a:cs typeface="Arial MT"/>
              </a:rPr>
              <a:t> </a:t>
            </a:r>
            <a:r>
              <a:rPr sz="2700" spc="-175" dirty="0">
                <a:latin typeface="Arial MT"/>
                <a:cs typeface="Arial MT"/>
              </a:rPr>
              <a:t>moved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spc="-120" dirty="0">
                <a:latin typeface="Arial MT"/>
                <a:cs typeface="Arial MT"/>
              </a:rPr>
              <a:t>beyond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spc="-145" dirty="0">
                <a:latin typeface="Arial MT"/>
                <a:cs typeface="Arial MT"/>
              </a:rPr>
              <a:t>simple</a:t>
            </a:r>
            <a:r>
              <a:rPr sz="2700" spc="-45" dirty="0">
                <a:latin typeface="Arial MT"/>
                <a:cs typeface="Arial MT"/>
              </a:rPr>
              <a:t> </a:t>
            </a:r>
            <a:r>
              <a:rPr sz="2700" spc="-70" dirty="0">
                <a:latin typeface="Arial MT"/>
                <a:cs typeface="Arial MT"/>
              </a:rPr>
              <a:t>product</a:t>
            </a:r>
            <a:r>
              <a:rPr sz="2700" spc="-114" dirty="0">
                <a:latin typeface="Arial MT"/>
                <a:cs typeface="Arial MT"/>
              </a:rPr>
              <a:t> </a:t>
            </a:r>
            <a:r>
              <a:rPr sz="2700" spc="-95" dirty="0">
                <a:latin typeface="Arial MT"/>
                <a:cs typeface="Arial MT"/>
              </a:rPr>
              <a:t>popularity </a:t>
            </a:r>
            <a:r>
              <a:rPr sz="2700" dirty="0">
                <a:latin typeface="Arial MT"/>
                <a:cs typeface="Arial MT"/>
              </a:rPr>
              <a:t>to</a:t>
            </a:r>
            <a:r>
              <a:rPr sz="2700" spc="-185" dirty="0">
                <a:latin typeface="Arial MT"/>
                <a:cs typeface="Arial MT"/>
              </a:rPr>
              <a:t> </a:t>
            </a:r>
            <a:r>
              <a:rPr sz="2700" spc="-40" dirty="0">
                <a:latin typeface="Arial MT"/>
                <a:cs typeface="Arial MT"/>
              </a:rPr>
              <a:t>identify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spc="-60" dirty="0">
                <a:latin typeface="Arial MT"/>
                <a:cs typeface="Arial MT"/>
              </a:rPr>
              <a:t>statistically</a:t>
            </a:r>
            <a:r>
              <a:rPr sz="2700" spc="50" dirty="0">
                <a:latin typeface="Arial MT"/>
                <a:cs typeface="Arial MT"/>
              </a:rPr>
              <a:t> </a:t>
            </a:r>
            <a:r>
              <a:rPr sz="2700" spc="-80" dirty="0">
                <a:latin typeface="Arial MT"/>
                <a:cs typeface="Arial MT"/>
              </a:rPr>
              <a:t>significant</a:t>
            </a:r>
            <a:r>
              <a:rPr sz="2700" spc="35" dirty="0">
                <a:latin typeface="Arial MT"/>
                <a:cs typeface="Arial MT"/>
              </a:rPr>
              <a:t> </a:t>
            </a:r>
            <a:r>
              <a:rPr sz="2700" spc="-125" dirty="0">
                <a:latin typeface="Arial MT"/>
                <a:cs typeface="Arial MT"/>
              </a:rPr>
              <a:t>co-</a:t>
            </a:r>
            <a:r>
              <a:rPr sz="2700" spc="-110" dirty="0">
                <a:latin typeface="Arial MT"/>
                <a:cs typeface="Arial MT"/>
              </a:rPr>
              <a:t>purchase</a:t>
            </a:r>
            <a:r>
              <a:rPr sz="2700" spc="-2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behaviors.</a:t>
            </a:r>
            <a:endParaRPr sz="27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65"/>
              </a:spcBef>
            </a:pPr>
            <a:endParaRPr sz="2700">
              <a:latin typeface="Arial MT"/>
              <a:cs typeface="Arial MT"/>
            </a:endParaRPr>
          </a:p>
          <a:p>
            <a:pPr marL="1547495">
              <a:lnSpc>
                <a:spcPct val="100000"/>
              </a:lnSpc>
              <a:tabLst>
                <a:tab pos="6663690" algn="l"/>
              </a:tabLst>
            </a:pPr>
            <a:r>
              <a:rPr sz="2500" dirty="0">
                <a:latin typeface="Arial MT"/>
                <a:cs typeface="Arial MT"/>
              </a:rPr>
              <a:t>Staple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Products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as</a:t>
            </a:r>
            <a:r>
              <a:rPr sz="2500" spc="4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Anchors</a:t>
            </a:r>
            <a:r>
              <a:rPr sz="2500" dirty="0">
                <a:latin typeface="Arial MT"/>
                <a:cs typeface="Arial MT"/>
              </a:rPr>
              <a:t>	</a:t>
            </a:r>
            <a:r>
              <a:rPr sz="2500" spc="-140" dirty="0">
                <a:latin typeface="Arial MT"/>
                <a:cs typeface="Arial MT"/>
              </a:rPr>
              <a:t>Core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65" dirty="0">
                <a:latin typeface="Arial MT"/>
                <a:cs typeface="Arial MT"/>
              </a:rPr>
              <a:t>items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spc="-75" dirty="0">
                <a:latin typeface="Arial MT"/>
                <a:cs typeface="Arial MT"/>
              </a:rPr>
              <a:t>like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spc="-75" dirty="0">
                <a:latin typeface="Arial MT"/>
                <a:cs typeface="Arial MT"/>
              </a:rPr>
              <a:t>Atta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spc="-110" dirty="0">
                <a:latin typeface="Arial MT"/>
                <a:cs typeface="Arial MT"/>
              </a:rPr>
              <a:t>and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160" dirty="0">
                <a:latin typeface="Arial MT"/>
                <a:cs typeface="Arial MT"/>
              </a:rPr>
              <a:t>Rice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70" dirty="0">
                <a:latin typeface="Arial MT"/>
                <a:cs typeface="Arial MT"/>
              </a:rPr>
              <a:t>form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175" dirty="0">
                <a:latin typeface="Arial MT"/>
                <a:cs typeface="Arial MT"/>
              </a:rPr>
              <a:t> </a:t>
            </a:r>
            <a:r>
              <a:rPr sz="2500" spc="-60" dirty="0">
                <a:latin typeface="Arial MT"/>
                <a:cs typeface="Arial MT"/>
              </a:rPr>
              <a:t>foundation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70" dirty="0">
                <a:latin typeface="Arial MT"/>
                <a:cs typeface="Arial MT"/>
              </a:rPr>
              <a:t>most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55" dirty="0">
                <a:latin typeface="Arial MT"/>
                <a:cs typeface="Arial MT"/>
              </a:rPr>
              <a:t>baskets.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49537" y="4616450"/>
            <a:ext cx="414274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dirty="0">
                <a:latin typeface="Arial MT"/>
                <a:cs typeface="Arial MT"/>
              </a:rPr>
              <a:t>Strong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Complementary</a:t>
            </a:r>
            <a:r>
              <a:rPr sz="2500" spc="31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Pairs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70103" y="4616450"/>
            <a:ext cx="8620760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-105" dirty="0">
                <a:latin typeface="Arial MT"/>
                <a:cs typeface="Arial MT"/>
              </a:rPr>
              <a:t>Discovered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powerful</a:t>
            </a:r>
            <a:r>
              <a:rPr sz="2500" spc="-130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product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65" dirty="0">
                <a:latin typeface="Arial MT"/>
                <a:cs typeface="Arial MT"/>
              </a:rPr>
              <a:t>bundles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75" dirty="0">
                <a:latin typeface="Arial MT"/>
                <a:cs typeface="Arial MT"/>
              </a:rPr>
              <a:t>like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spc="-125" dirty="0">
                <a:latin typeface="Arial MT"/>
                <a:cs typeface="Arial MT"/>
              </a:rPr>
              <a:t>Paneer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with</a:t>
            </a:r>
            <a:r>
              <a:rPr sz="2500" spc="-135" dirty="0">
                <a:latin typeface="Arial MT"/>
                <a:cs typeface="Arial MT"/>
              </a:rPr>
              <a:t> </a:t>
            </a:r>
            <a:r>
              <a:rPr sz="2500" spc="-225" dirty="0">
                <a:latin typeface="Arial MT"/>
                <a:cs typeface="Arial MT"/>
              </a:rPr>
              <a:t>Tea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254" dirty="0">
                <a:latin typeface="Arial MT"/>
                <a:cs typeface="Arial MT"/>
              </a:rPr>
              <a:t>&amp;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Milk.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450848" y="5712530"/>
            <a:ext cx="461200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0" dirty="0">
                <a:latin typeface="Arial MT"/>
                <a:cs typeface="Arial MT"/>
              </a:rPr>
              <a:t>Untapped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Cross-Category</a:t>
            </a:r>
            <a:r>
              <a:rPr sz="2550" spc="-18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Links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7831" y="5712530"/>
            <a:ext cx="757999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200" dirty="0">
                <a:latin typeface="Arial MT"/>
                <a:cs typeface="Arial MT"/>
              </a:rPr>
              <a:t>Found</a:t>
            </a:r>
            <a:r>
              <a:rPr sz="2550" spc="-50" dirty="0">
                <a:latin typeface="Arial MT"/>
                <a:cs typeface="Arial MT"/>
              </a:rPr>
              <a:t> </a:t>
            </a:r>
            <a:r>
              <a:rPr sz="2550" spc="-90" dirty="0">
                <a:latin typeface="Arial MT"/>
                <a:cs typeface="Arial MT"/>
              </a:rPr>
              <a:t>connections </a:t>
            </a:r>
            <a:r>
              <a:rPr sz="2550" spc="-100" dirty="0">
                <a:latin typeface="Arial MT"/>
                <a:cs typeface="Arial MT"/>
              </a:rPr>
              <a:t>between</a:t>
            </a:r>
            <a:r>
              <a:rPr sz="2550" spc="-75" dirty="0">
                <a:latin typeface="Arial MT"/>
                <a:cs typeface="Arial MT"/>
              </a:rPr>
              <a:t> </a:t>
            </a:r>
            <a:r>
              <a:rPr sz="2550" spc="-100" dirty="0">
                <a:latin typeface="Arial MT"/>
                <a:cs typeface="Arial MT"/>
              </a:rPr>
              <a:t>groceries</a:t>
            </a:r>
            <a:r>
              <a:rPr sz="2550" spc="-45" dirty="0">
                <a:latin typeface="Arial MT"/>
                <a:cs typeface="Arial MT"/>
              </a:rPr>
              <a:t> </a:t>
            </a:r>
            <a:r>
              <a:rPr sz="2550" spc="-130" dirty="0">
                <a:latin typeface="Arial MT"/>
                <a:cs typeface="Arial MT"/>
              </a:rPr>
              <a:t>and</a:t>
            </a:r>
            <a:r>
              <a:rPr sz="2550" spc="-45" dirty="0">
                <a:latin typeface="Arial MT"/>
                <a:cs typeface="Arial MT"/>
              </a:rPr>
              <a:t> </a:t>
            </a:r>
            <a:r>
              <a:rPr sz="2550" spc="-130" dirty="0">
                <a:latin typeface="Arial MT"/>
                <a:cs typeface="Arial MT"/>
              </a:rPr>
              <a:t>personal</a:t>
            </a:r>
            <a:r>
              <a:rPr sz="2550" spc="5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care.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3224" y="6804730"/>
            <a:ext cx="27940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50" dirty="0">
                <a:solidFill>
                  <a:srgbClr val="0A233B"/>
                </a:solidFill>
                <a:latin typeface="Arial MT"/>
                <a:cs typeface="Arial MT"/>
              </a:rPr>
              <a:t>O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51322" y="6804730"/>
            <a:ext cx="423291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dirty="0">
                <a:latin typeface="Arial MT"/>
                <a:cs typeface="Arial MT"/>
              </a:rPr>
              <a:t>Directional</a:t>
            </a:r>
            <a:r>
              <a:rPr sz="2550" spc="-100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Purchasing</a:t>
            </a:r>
            <a:r>
              <a:rPr sz="2550" spc="-9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Habits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64165" y="6804730"/>
            <a:ext cx="7809230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90" dirty="0">
                <a:latin typeface="Arial MT"/>
                <a:cs typeface="Arial MT"/>
              </a:rPr>
              <a:t>Identified </a:t>
            </a:r>
            <a:r>
              <a:rPr sz="1500" dirty="0">
                <a:latin typeface="Arial MT"/>
                <a:cs typeface="Arial MT"/>
              </a:rPr>
              <a:t>’</a:t>
            </a:r>
            <a:r>
              <a:rPr sz="2550" dirty="0">
                <a:latin typeface="Arial MT"/>
                <a:cs typeface="Arial MT"/>
              </a:rPr>
              <a:t>trigger’</a:t>
            </a:r>
            <a:r>
              <a:rPr sz="2550" spc="-445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products</a:t>
            </a:r>
            <a:r>
              <a:rPr sz="2550" spc="20" dirty="0">
                <a:latin typeface="Arial MT"/>
                <a:cs typeface="Arial MT"/>
              </a:rPr>
              <a:t> </a:t>
            </a:r>
            <a:r>
              <a:rPr sz="2550" spc="-55" dirty="0">
                <a:latin typeface="Arial MT"/>
                <a:cs typeface="Arial MT"/>
              </a:rPr>
              <a:t>that</a:t>
            </a:r>
            <a:r>
              <a:rPr sz="2550" spc="-70" dirty="0">
                <a:latin typeface="Arial MT"/>
                <a:cs typeface="Arial MT"/>
              </a:rPr>
              <a:t> reliably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-120" dirty="0">
                <a:latin typeface="Arial MT"/>
                <a:cs typeface="Arial MT"/>
              </a:rPr>
              <a:t>lead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to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75" dirty="0">
                <a:latin typeface="Arial MT"/>
                <a:cs typeface="Arial MT"/>
              </a:rPr>
              <a:t>other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-75" dirty="0">
                <a:latin typeface="Arial MT"/>
                <a:cs typeface="Arial MT"/>
              </a:rPr>
              <a:t>sales.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69685" y="7905750"/>
            <a:ext cx="15863569" cy="1275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594485">
              <a:lnSpc>
                <a:spcPct val="100000"/>
              </a:lnSpc>
              <a:spcBef>
                <a:spcPts val="100"/>
              </a:spcBef>
              <a:tabLst>
                <a:tab pos="6711950" algn="l"/>
              </a:tabLst>
            </a:pPr>
            <a:r>
              <a:rPr sz="2500" dirty="0">
                <a:latin typeface="Arial MT"/>
                <a:cs typeface="Arial MT"/>
              </a:rPr>
              <a:t>Data-Driven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Decision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Framework</a:t>
            </a:r>
            <a:r>
              <a:rPr sz="2500" dirty="0">
                <a:latin typeface="Arial MT"/>
                <a:cs typeface="Arial MT"/>
              </a:rPr>
              <a:t>	</a:t>
            </a:r>
            <a:r>
              <a:rPr sz="2500" spc="-90" dirty="0">
                <a:latin typeface="Arial MT"/>
                <a:cs typeface="Arial MT"/>
              </a:rPr>
              <a:t>Established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a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55" dirty="0">
                <a:latin typeface="Arial MT"/>
                <a:cs typeface="Arial MT"/>
              </a:rPr>
              <a:t>robust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method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for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future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90" dirty="0">
                <a:latin typeface="Arial MT"/>
                <a:cs typeface="Arial MT"/>
              </a:rPr>
              <a:t>merchandising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tests.</a:t>
            </a:r>
            <a:endParaRPr sz="25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25"/>
              </a:spcBef>
            </a:pP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200" spc="-114" dirty="0">
                <a:latin typeface="Arial MT"/>
                <a:cs typeface="Arial MT"/>
              </a:rPr>
              <a:t>These</a:t>
            </a:r>
            <a:r>
              <a:rPr sz="2200" spc="-40" dirty="0">
                <a:latin typeface="Arial MT"/>
                <a:cs typeface="Arial MT"/>
              </a:rPr>
              <a:t> </a:t>
            </a:r>
            <a:r>
              <a:rPr sz="2200" spc="-45" dirty="0">
                <a:latin typeface="Arial MT"/>
                <a:cs typeface="Arial MT"/>
              </a:rPr>
              <a:t>insights</a:t>
            </a:r>
            <a:r>
              <a:rPr sz="2200" spc="-110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provide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210" dirty="0">
                <a:latin typeface="Arial MT"/>
                <a:cs typeface="Arial MT"/>
              </a:rPr>
              <a:t>a</a:t>
            </a:r>
            <a:r>
              <a:rPr sz="2200" spc="-45" dirty="0">
                <a:latin typeface="Arial MT"/>
                <a:cs typeface="Arial MT"/>
              </a:rPr>
              <a:t> </a:t>
            </a:r>
            <a:r>
              <a:rPr sz="2200" spc="-65" dirty="0">
                <a:latin typeface="Arial MT"/>
                <a:cs typeface="Arial MT"/>
              </a:rPr>
              <a:t>clear</a:t>
            </a:r>
            <a:r>
              <a:rPr sz="2200" spc="-90" dirty="0">
                <a:latin typeface="Arial MT"/>
                <a:cs typeface="Arial MT"/>
              </a:rPr>
              <a:t> </a:t>
            </a:r>
            <a:r>
              <a:rPr sz="2200" spc="-95" dirty="0">
                <a:latin typeface="Arial MT"/>
                <a:cs typeface="Arial MT"/>
              </a:rPr>
              <a:t>roadmap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for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optimizing</a:t>
            </a:r>
            <a:r>
              <a:rPr sz="2200" spc="-100" dirty="0">
                <a:latin typeface="Arial MT"/>
                <a:cs typeface="Arial MT"/>
              </a:rPr>
              <a:t> </a:t>
            </a:r>
            <a:r>
              <a:rPr sz="2200" spc="-35" dirty="0">
                <a:latin typeface="Arial MT"/>
                <a:cs typeface="Arial MT"/>
              </a:rPr>
              <a:t>product</a:t>
            </a:r>
            <a:r>
              <a:rPr sz="2200" spc="-114" dirty="0">
                <a:latin typeface="Arial MT"/>
                <a:cs typeface="Arial MT"/>
              </a:rPr>
              <a:t> </a:t>
            </a:r>
            <a:r>
              <a:rPr sz="2200" spc="-75" dirty="0">
                <a:latin typeface="Arial MT"/>
                <a:cs typeface="Arial MT"/>
              </a:rPr>
              <a:t>placement,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60" dirty="0">
                <a:latin typeface="Arial MT"/>
                <a:cs typeface="Arial MT"/>
              </a:rPr>
              <a:t>promotions, </a:t>
            </a:r>
            <a:r>
              <a:rPr sz="2200" spc="-120" dirty="0">
                <a:latin typeface="Arial MT"/>
                <a:cs typeface="Arial MT"/>
              </a:rPr>
              <a:t>and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50" dirty="0">
                <a:latin typeface="Arial MT"/>
                <a:cs typeface="Arial MT"/>
              </a:rPr>
              <a:t>bundling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55" dirty="0">
                <a:latin typeface="Arial MT"/>
                <a:cs typeface="Arial MT"/>
              </a:rPr>
              <a:t>strategies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30" dirty="0">
                <a:latin typeface="Arial MT"/>
                <a:cs typeface="Arial MT"/>
              </a:rPr>
              <a:t>to</a:t>
            </a:r>
            <a:r>
              <a:rPr sz="2200" spc="-125" dirty="0">
                <a:latin typeface="Arial MT"/>
                <a:cs typeface="Arial MT"/>
              </a:rPr>
              <a:t> </a:t>
            </a:r>
            <a:r>
              <a:rPr sz="2200" spc="-70" dirty="0">
                <a:latin typeface="Arial MT"/>
                <a:cs typeface="Arial MT"/>
              </a:rPr>
              <a:t>increase</a:t>
            </a:r>
            <a:r>
              <a:rPr sz="2200" spc="-10" dirty="0">
                <a:latin typeface="Arial MT"/>
                <a:cs typeface="Arial MT"/>
              </a:rPr>
              <a:t> </a:t>
            </a:r>
            <a:r>
              <a:rPr sz="2200" spc="-70" dirty="0">
                <a:latin typeface="Arial MT"/>
                <a:cs typeface="Arial MT"/>
              </a:rPr>
              <a:t>basket</a:t>
            </a:r>
            <a:r>
              <a:rPr sz="2200" spc="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value.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9500" y="7785100"/>
            <a:ext cx="584200" cy="9779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300" y="5689600"/>
            <a:ext cx="1892300" cy="1790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59500" y="6096000"/>
            <a:ext cx="584200" cy="9779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883400" y="5981700"/>
            <a:ext cx="3200400" cy="1193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159500" y="4406900"/>
            <a:ext cx="571500" cy="965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86980" y="413102"/>
            <a:ext cx="14338935" cy="1590040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 marR="5080" indent="5080">
              <a:lnSpc>
                <a:spcPts val="5900"/>
              </a:lnSpc>
              <a:spcBef>
                <a:spcPts val="715"/>
              </a:spcBef>
              <a:tabLst>
                <a:tab pos="9742805" algn="l"/>
              </a:tabLst>
            </a:pPr>
            <a:r>
              <a:rPr sz="5350" spc="-215" dirty="0">
                <a:solidFill>
                  <a:srgbClr val="0F0F0F"/>
                </a:solidFill>
              </a:rPr>
              <a:t>The</a:t>
            </a:r>
            <a:r>
              <a:rPr sz="5350" spc="-114" dirty="0">
                <a:solidFill>
                  <a:srgbClr val="0F0F0F"/>
                </a:solidFill>
              </a:rPr>
              <a:t> </a:t>
            </a:r>
            <a:r>
              <a:rPr sz="5350" spc="-225" dirty="0">
                <a:solidFill>
                  <a:srgbClr val="111111"/>
                </a:solidFill>
              </a:rPr>
              <a:t>Core</a:t>
            </a:r>
            <a:r>
              <a:rPr sz="5350" spc="-90" dirty="0">
                <a:solidFill>
                  <a:srgbClr val="111111"/>
                </a:solidFill>
              </a:rPr>
              <a:t> </a:t>
            </a:r>
            <a:r>
              <a:rPr sz="5350" spc="-160" dirty="0">
                <a:solidFill>
                  <a:srgbClr val="131313"/>
                </a:solidFill>
              </a:rPr>
              <a:t>Challenge:</a:t>
            </a:r>
            <a:r>
              <a:rPr sz="5350" spc="-30" dirty="0">
                <a:solidFill>
                  <a:srgbClr val="131313"/>
                </a:solidFill>
              </a:rPr>
              <a:t> </a:t>
            </a:r>
            <a:r>
              <a:rPr sz="5350" spc="-280" dirty="0">
                <a:solidFill>
                  <a:srgbClr val="111111"/>
                </a:solidFill>
              </a:rPr>
              <a:t>Understanding</a:t>
            </a:r>
            <a:r>
              <a:rPr sz="5350" dirty="0">
                <a:solidFill>
                  <a:srgbClr val="111111"/>
                </a:solidFill>
              </a:rPr>
              <a:t>	</a:t>
            </a:r>
            <a:r>
              <a:rPr sz="5350" spc="-229" dirty="0">
                <a:solidFill>
                  <a:srgbClr val="161616"/>
                </a:solidFill>
              </a:rPr>
              <a:t>the</a:t>
            </a:r>
            <a:r>
              <a:rPr sz="5350" spc="-125" dirty="0">
                <a:solidFill>
                  <a:srgbClr val="161616"/>
                </a:solidFill>
              </a:rPr>
              <a:t> </a:t>
            </a:r>
            <a:r>
              <a:rPr sz="5350" spc="-210" dirty="0">
                <a:solidFill>
                  <a:srgbClr val="181818"/>
                </a:solidFill>
              </a:rPr>
              <a:t>‘Why’</a:t>
            </a:r>
            <a:r>
              <a:rPr sz="5350" spc="-45" dirty="0">
                <a:solidFill>
                  <a:srgbClr val="181818"/>
                </a:solidFill>
              </a:rPr>
              <a:t> </a:t>
            </a:r>
            <a:r>
              <a:rPr sz="5350" spc="-175" dirty="0">
                <a:solidFill>
                  <a:srgbClr val="111111"/>
                </a:solidFill>
              </a:rPr>
              <a:t>Behind </a:t>
            </a:r>
            <a:r>
              <a:rPr sz="5350" spc="-270" dirty="0">
                <a:solidFill>
                  <a:srgbClr val="151515"/>
                </a:solidFill>
              </a:rPr>
              <a:t>Every</a:t>
            </a:r>
            <a:r>
              <a:rPr sz="5350" spc="50" dirty="0">
                <a:solidFill>
                  <a:srgbClr val="151515"/>
                </a:solidFill>
              </a:rPr>
              <a:t> </a:t>
            </a:r>
            <a:r>
              <a:rPr sz="5350" spc="-280" dirty="0">
                <a:solidFill>
                  <a:srgbClr val="000000"/>
                </a:solidFill>
              </a:rPr>
              <a:t>Purchase</a:t>
            </a:r>
            <a:endParaRPr sz="5350"/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549131" y="2559402"/>
            <a:ext cx="13404215" cy="6124575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2610485" marR="995680" indent="-2598420">
              <a:lnSpc>
                <a:spcPts val="4600"/>
              </a:lnSpc>
              <a:spcBef>
                <a:spcPts val="515"/>
              </a:spcBef>
            </a:pPr>
            <a:r>
              <a:rPr sz="4100" spc="-140" dirty="0">
                <a:latin typeface="Arial MT"/>
                <a:cs typeface="Arial MT"/>
              </a:rPr>
              <a:t>How</a:t>
            </a:r>
            <a:r>
              <a:rPr sz="4100" spc="-145" dirty="0">
                <a:latin typeface="Arial MT"/>
                <a:cs typeface="Arial MT"/>
              </a:rPr>
              <a:t> </a:t>
            </a:r>
            <a:r>
              <a:rPr sz="4100" spc="-65" dirty="0">
                <a:latin typeface="Arial MT"/>
                <a:cs typeface="Arial MT"/>
              </a:rPr>
              <a:t>can</a:t>
            </a:r>
            <a:r>
              <a:rPr sz="4100" spc="-220" dirty="0">
                <a:latin typeface="Arial MT"/>
                <a:cs typeface="Arial MT"/>
              </a:rPr>
              <a:t> </a:t>
            </a:r>
            <a:r>
              <a:rPr sz="4100" spc="-140" dirty="0">
                <a:latin typeface="Arial MT"/>
                <a:cs typeface="Arial MT"/>
              </a:rPr>
              <a:t>we</a:t>
            </a:r>
            <a:r>
              <a:rPr sz="4100" spc="-175" dirty="0">
                <a:latin typeface="Arial MT"/>
                <a:cs typeface="Arial MT"/>
              </a:rPr>
              <a:t> </a:t>
            </a:r>
            <a:r>
              <a:rPr sz="4100" spc="-120" dirty="0">
                <a:latin typeface="Arial MT"/>
                <a:cs typeface="Arial MT"/>
              </a:rPr>
              <a:t>move</a:t>
            </a:r>
            <a:r>
              <a:rPr sz="4100" spc="-165" dirty="0">
                <a:latin typeface="Arial MT"/>
                <a:cs typeface="Arial MT"/>
              </a:rPr>
              <a:t> </a:t>
            </a:r>
            <a:r>
              <a:rPr sz="4100" spc="-30" dirty="0">
                <a:latin typeface="Arial MT"/>
                <a:cs typeface="Arial MT"/>
              </a:rPr>
              <a:t>from</a:t>
            </a:r>
            <a:r>
              <a:rPr sz="4100" spc="-254" dirty="0">
                <a:latin typeface="Arial MT"/>
                <a:cs typeface="Arial MT"/>
              </a:rPr>
              <a:t> </a:t>
            </a:r>
            <a:r>
              <a:rPr sz="4100" spc="-10" dirty="0">
                <a:latin typeface="Arial MT"/>
                <a:cs typeface="Arial MT"/>
              </a:rPr>
              <a:t>knowing</a:t>
            </a:r>
            <a:r>
              <a:rPr sz="4100" spc="-245" dirty="0">
                <a:latin typeface="Arial MT"/>
                <a:cs typeface="Arial MT"/>
              </a:rPr>
              <a:t> </a:t>
            </a:r>
            <a:r>
              <a:rPr sz="4100" i="1" spc="-25" dirty="0">
                <a:latin typeface="Arial"/>
                <a:cs typeface="Arial"/>
              </a:rPr>
              <a:t>what</a:t>
            </a:r>
            <a:r>
              <a:rPr sz="4100" i="1" spc="-260" dirty="0">
                <a:latin typeface="Arial"/>
                <a:cs typeface="Arial"/>
              </a:rPr>
              <a:t> </a:t>
            </a:r>
            <a:r>
              <a:rPr sz="4100" spc="-50" dirty="0">
                <a:latin typeface="Arial MT"/>
                <a:cs typeface="Arial MT"/>
              </a:rPr>
              <a:t>customers</a:t>
            </a:r>
            <a:r>
              <a:rPr sz="4100" spc="-65" dirty="0">
                <a:latin typeface="Arial MT"/>
                <a:cs typeface="Arial MT"/>
              </a:rPr>
              <a:t> </a:t>
            </a:r>
            <a:r>
              <a:rPr sz="4100" dirty="0">
                <a:latin typeface="Arial MT"/>
                <a:cs typeface="Arial MT"/>
              </a:rPr>
              <a:t>buy</a:t>
            </a:r>
            <a:r>
              <a:rPr sz="4100" spc="-270" dirty="0">
                <a:latin typeface="Arial MT"/>
                <a:cs typeface="Arial MT"/>
              </a:rPr>
              <a:t> </a:t>
            </a:r>
            <a:r>
              <a:rPr sz="4100" spc="55" dirty="0">
                <a:latin typeface="Arial MT"/>
                <a:cs typeface="Arial MT"/>
              </a:rPr>
              <a:t>to </a:t>
            </a:r>
            <a:r>
              <a:rPr sz="4100" spc="80" dirty="0">
                <a:latin typeface="Arial MT"/>
                <a:cs typeface="Arial MT"/>
              </a:rPr>
              <a:t>to</a:t>
            </a:r>
            <a:r>
              <a:rPr sz="4100" spc="-320" dirty="0">
                <a:latin typeface="Arial MT"/>
                <a:cs typeface="Arial MT"/>
              </a:rPr>
              <a:t> </a:t>
            </a:r>
            <a:r>
              <a:rPr sz="4100" spc="-35" dirty="0">
                <a:latin typeface="Arial MT"/>
                <a:cs typeface="Arial MT"/>
              </a:rPr>
              <a:t>understanding</a:t>
            </a:r>
            <a:r>
              <a:rPr sz="4100" spc="-145" dirty="0">
                <a:latin typeface="Arial MT"/>
                <a:cs typeface="Arial MT"/>
              </a:rPr>
              <a:t> </a:t>
            </a:r>
            <a:r>
              <a:rPr sz="4100" i="1" dirty="0">
                <a:latin typeface="Arial"/>
                <a:cs typeface="Arial"/>
              </a:rPr>
              <a:t>how</a:t>
            </a:r>
            <a:r>
              <a:rPr sz="4100" i="1" spc="-215" dirty="0">
                <a:latin typeface="Arial"/>
                <a:cs typeface="Arial"/>
              </a:rPr>
              <a:t> </a:t>
            </a:r>
            <a:r>
              <a:rPr sz="4100" dirty="0">
                <a:latin typeface="Arial MT"/>
                <a:cs typeface="Arial MT"/>
              </a:rPr>
              <a:t>they</a:t>
            </a:r>
            <a:r>
              <a:rPr sz="4100" spc="-200" dirty="0">
                <a:latin typeface="Arial MT"/>
                <a:cs typeface="Arial MT"/>
              </a:rPr>
              <a:t> </a:t>
            </a:r>
            <a:r>
              <a:rPr sz="4100" spc="-20" dirty="0">
                <a:latin typeface="Arial MT"/>
                <a:cs typeface="Arial MT"/>
              </a:rPr>
              <a:t>buy?</a:t>
            </a:r>
            <a:endParaRPr sz="41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15"/>
              </a:spcBef>
            </a:pPr>
            <a:endParaRPr sz="4100">
              <a:latin typeface="Arial MT"/>
              <a:cs typeface="Arial MT"/>
            </a:endParaRPr>
          </a:p>
          <a:p>
            <a:pPr marL="4359275">
              <a:lnSpc>
                <a:spcPts val="3410"/>
              </a:lnSpc>
              <a:tabLst>
                <a:tab pos="7631430" algn="l"/>
              </a:tabLst>
            </a:pPr>
            <a:r>
              <a:rPr sz="3100" u="heavy" dirty="0">
                <a:uFill>
                  <a:solidFill>
                    <a:srgbClr val="1C3848"/>
                  </a:solidFill>
                </a:uFill>
                <a:latin typeface="Arial MT"/>
                <a:cs typeface="Arial MT"/>
              </a:rPr>
              <a:t>	</a:t>
            </a:r>
            <a:r>
              <a:rPr sz="3100" dirty="0">
                <a:latin typeface="Arial MT"/>
                <a:cs typeface="Arial MT"/>
              </a:rPr>
              <a:t> </a:t>
            </a:r>
            <a:r>
              <a:rPr sz="3100" spc="-350" dirty="0">
                <a:latin typeface="Arial MT"/>
                <a:cs typeface="Arial MT"/>
              </a:rPr>
              <a:t>Increase</a:t>
            </a:r>
            <a:r>
              <a:rPr sz="3100" spc="125" dirty="0">
                <a:latin typeface="Arial MT"/>
                <a:cs typeface="Arial MT"/>
              </a:rPr>
              <a:t> </a:t>
            </a:r>
            <a:r>
              <a:rPr sz="3100" spc="-375" dirty="0">
                <a:latin typeface="Arial MT"/>
                <a:cs typeface="Arial MT"/>
              </a:rPr>
              <a:t>average</a:t>
            </a:r>
            <a:r>
              <a:rPr sz="3100" spc="80" dirty="0">
                <a:latin typeface="Arial MT"/>
                <a:cs typeface="Arial MT"/>
              </a:rPr>
              <a:t> </a:t>
            </a:r>
            <a:r>
              <a:rPr sz="3100" spc="-355" dirty="0">
                <a:latin typeface="Arial MT"/>
                <a:cs typeface="Arial MT"/>
              </a:rPr>
              <a:t>basket</a:t>
            </a:r>
            <a:r>
              <a:rPr sz="3100" spc="275" dirty="0">
                <a:latin typeface="Arial MT"/>
                <a:cs typeface="Arial MT"/>
              </a:rPr>
              <a:t> </a:t>
            </a:r>
            <a:r>
              <a:rPr sz="3100" spc="-360" dirty="0">
                <a:latin typeface="Arial MT"/>
                <a:cs typeface="Arial MT"/>
              </a:rPr>
              <a:t>value</a:t>
            </a:r>
            <a:r>
              <a:rPr sz="3100" spc="70" dirty="0">
                <a:latin typeface="Arial MT"/>
                <a:cs typeface="Arial MT"/>
              </a:rPr>
              <a:t> </a:t>
            </a:r>
            <a:r>
              <a:rPr sz="3100" spc="-325" dirty="0">
                <a:latin typeface="Arial MT"/>
                <a:cs typeface="Arial MT"/>
              </a:rPr>
              <a:t>through</a:t>
            </a:r>
            <a:endParaRPr sz="3100">
              <a:latin typeface="Arial MT"/>
              <a:cs typeface="Arial MT"/>
            </a:endParaRPr>
          </a:p>
          <a:p>
            <a:pPr marL="7748905">
              <a:lnSpc>
                <a:spcPts val="3350"/>
              </a:lnSpc>
            </a:pPr>
            <a:r>
              <a:rPr sz="3050" spc="-225" dirty="0">
                <a:latin typeface="Arial MT"/>
                <a:cs typeface="Arial MT"/>
              </a:rPr>
              <a:t>effective</a:t>
            </a:r>
            <a:r>
              <a:rPr sz="3050" spc="110" dirty="0">
                <a:latin typeface="Arial MT"/>
                <a:cs typeface="Arial MT"/>
              </a:rPr>
              <a:t> </a:t>
            </a:r>
            <a:r>
              <a:rPr sz="3050" spc="-250" dirty="0">
                <a:latin typeface="Arial MT"/>
                <a:cs typeface="Arial MT"/>
              </a:rPr>
              <a:t>cross-</a:t>
            </a:r>
            <a:r>
              <a:rPr sz="3050" spc="-90" dirty="0">
                <a:latin typeface="Arial MT"/>
                <a:cs typeface="Arial MT"/>
              </a:rPr>
              <a:t>selling.</a:t>
            </a:r>
            <a:endParaRPr sz="3050">
              <a:latin typeface="Arial MT"/>
              <a:cs typeface="Arial MT"/>
            </a:endParaRPr>
          </a:p>
          <a:p>
            <a:pPr marL="7761605" marR="5080" indent="-19050">
              <a:lnSpc>
                <a:spcPct val="78200"/>
              </a:lnSpc>
              <a:spcBef>
                <a:spcPts val="2790"/>
              </a:spcBef>
            </a:pPr>
            <a:r>
              <a:rPr sz="3250" spc="-425" dirty="0">
                <a:latin typeface="Arial MT"/>
                <a:cs typeface="Arial MT"/>
              </a:rPr>
              <a:t>Optimize</a:t>
            </a:r>
            <a:r>
              <a:rPr sz="3250" spc="135" dirty="0">
                <a:latin typeface="Arial MT"/>
                <a:cs typeface="Arial MT"/>
              </a:rPr>
              <a:t> </a:t>
            </a:r>
            <a:r>
              <a:rPr sz="3250" spc="-380" dirty="0">
                <a:latin typeface="Arial MT"/>
                <a:cs typeface="Arial MT"/>
              </a:rPr>
              <a:t>shelf</a:t>
            </a:r>
            <a:r>
              <a:rPr sz="3250" spc="-30" dirty="0">
                <a:latin typeface="Arial MT"/>
                <a:cs typeface="Arial MT"/>
              </a:rPr>
              <a:t> </a:t>
            </a:r>
            <a:r>
              <a:rPr sz="3250" spc="-440" dirty="0">
                <a:latin typeface="Arial MT"/>
                <a:cs typeface="Arial MT"/>
              </a:rPr>
              <a:t>placement</a:t>
            </a:r>
            <a:r>
              <a:rPr sz="3250" spc="190" dirty="0">
                <a:latin typeface="Arial MT"/>
                <a:cs typeface="Arial MT"/>
              </a:rPr>
              <a:t> </a:t>
            </a:r>
            <a:r>
              <a:rPr sz="3250" spc="-450" dirty="0">
                <a:latin typeface="Arial MT"/>
                <a:cs typeface="Arial MT"/>
              </a:rPr>
              <a:t>based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spc="-475" dirty="0">
                <a:latin typeface="Arial MT"/>
                <a:cs typeface="Arial MT"/>
              </a:rPr>
              <a:t>on</a:t>
            </a:r>
            <a:r>
              <a:rPr sz="3250" spc="-285" dirty="0">
                <a:latin typeface="Arial MT"/>
                <a:cs typeface="Arial MT"/>
              </a:rPr>
              <a:t> </a:t>
            </a:r>
            <a:r>
              <a:rPr sz="3250" spc="-315" dirty="0">
                <a:latin typeface="Arial MT"/>
                <a:cs typeface="Arial MT"/>
              </a:rPr>
              <a:t>real- </a:t>
            </a:r>
            <a:r>
              <a:rPr sz="3250" spc="-380" dirty="0">
                <a:latin typeface="Arial MT"/>
                <a:cs typeface="Arial MT"/>
              </a:rPr>
              <a:t>world</a:t>
            </a:r>
            <a:r>
              <a:rPr sz="3250" spc="-114" dirty="0">
                <a:latin typeface="Arial MT"/>
                <a:cs typeface="Arial MT"/>
              </a:rPr>
              <a:t> </a:t>
            </a:r>
            <a:r>
              <a:rPr sz="3250" spc="-420" dirty="0">
                <a:latin typeface="Arial MT"/>
                <a:cs typeface="Arial MT"/>
              </a:rPr>
              <a:t>shopping</a:t>
            </a:r>
            <a:r>
              <a:rPr sz="3250" spc="-40" dirty="0">
                <a:latin typeface="Arial MT"/>
                <a:cs typeface="Arial MT"/>
              </a:rPr>
              <a:t> </a:t>
            </a:r>
            <a:r>
              <a:rPr sz="3250" spc="-345" dirty="0">
                <a:latin typeface="Arial MT"/>
                <a:cs typeface="Arial MT"/>
              </a:rPr>
              <a:t>habits.</a:t>
            </a:r>
            <a:endParaRPr sz="3250">
              <a:latin typeface="Arial MT"/>
              <a:cs typeface="Arial MT"/>
            </a:endParaRPr>
          </a:p>
          <a:p>
            <a:pPr marL="7747000">
              <a:lnSpc>
                <a:spcPts val="3215"/>
              </a:lnSpc>
              <a:spcBef>
                <a:spcPts val="2200"/>
              </a:spcBef>
            </a:pPr>
            <a:r>
              <a:rPr sz="2900" spc="-280" dirty="0">
                <a:latin typeface="Arial MT"/>
                <a:cs typeface="Arial MT"/>
              </a:rPr>
              <a:t>Design</a:t>
            </a:r>
            <a:r>
              <a:rPr sz="2900" spc="-20" dirty="0">
                <a:latin typeface="Arial MT"/>
                <a:cs typeface="Arial MT"/>
              </a:rPr>
              <a:t> </a:t>
            </a:r>
            <a:r>
              <a:rPr sz="2900" spc="-210" dirty="0">
                <a:latin typeface="Arial MT"/>
                <a:cs typeface="Arial MT"/>
              </a:rPr>
              <a:t>promotions</a:t>
            </a:r>
            <a:r>
              <a:rPr sz="2900" spc="15" dirty="0">
                <a:latin typeface="Arial MT"/>
                <a:cs typeface="Arial MT"/>
              </a:rPr>
              <a:t> </a:t>
            </a:r>
            <a:r>
              <a:rPr sz="2900" spc="-265" dirty="0">
                <a:latin typeface="Arial MT"/>
                <a:cs typeface="Arial MT"/>
              </a:rPr>
              <a:t>and</a:t>
            </a:r>
            <a:r>
              <a:rPr sz="2900" spc="-180" dirty="0">
                <a:latin typeface="Arial MT"/>
                <a:cs typeface="Arial MT"/>
              </a:rPr>
              <a:t> product</a:t>
            </a:r>
            <a:r>
              <a:rPr sz="2900" spc="105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bundles</a:t>
            </a:r>
            <a:endParaRPr sz="2900">
              <a:latin typeface="Arial MT"/>
              <a:cs typeface="Arial MT"/>
            </a:endParaRPr>
          </a:p>
          <a:p>
            <a:pPr marL="7743190">
              <a:lnSpc>
                <a:spcPts val="3395"/>
              </a:lnSpc>
            </a:pPr>
            <a:r>
              <a:rPr sz="3050" spc="-195" dirty="0">
                <a:latin typeface="Arial MT"/>
                <a:cs typeface="Arial MT"/>
              </a:rPr>
              <a:t>that</a:t>
            </a:r>
            <a:r>
              <a:rPr sz="3050" spc="-160" dirty="0">
                <a:latin typeface="Arial MT"/>
                <a:cs typeface="Arial MT"/>
              </a:rPr>
              <a:t> </a:t>
            </a:r>
            <a:r>
              <a:rPr sz="3050" spc="-305" dirty="0">
                <a:latin typeface="Arial MT"/>
                <a:cs typeface="Arial MT"/>
              </a:rPr>
              <a:t>resonate</a:t>
            </a:r>
            <a:r>
              <a:rPr sz="3050" spc="155" dirty="0">
                <a:latin typeface="Arial MT"/>
                <a:cs typeface="Arial MT"/>
              </a:rPr>
              <a:t> </a:t>
            </a:r>
            <a:r>
              <a:rPr sz="3050" spc="-229" dirty="0">
                <a:latin typeface="Arial MT"/>
                <a:cs typeface="Arial MT"/>
              </a:rPr>
              <a:t>with</a:t>
            </a:r>
            <a:r>
              <a:rPr sz="3050" spc="-204" dirty="0">
                <a:latin typeface="Arial MT"/>
                <a:cs typeface="Arial MT"/>
              </a:rPr>
              <a:t> </a:t>
            </a:r>
            <a:r>
              <a:rPr sz="3050" spc="-300" dirty="0">
                <a:latin typeface="Arial MT"/>
                <a:cs typeface="Arial MT"/>
              </a:rPr>
              <a:t>customers.</a:t>
            </a:r>
            <a:endParaRPr sz="3050">
              <a:latin typeface="Arial MT"/>
              <a:cs typeface="Arial MT"/>
            </a:endParaRPr>
          </a:p>
          <a:p>
            <a:pPr marL="4359275">
              <a:lnSpc>
                <a:spcPts val="3470"/>
              </a:lnSpc>
              <a:spcBef>
                <a:spcPts val="1989"/>
              </a:spcBef>
              <a:tabLst>
                <a:tab pos="7633970" algn="l"/>
              </a:tabLst>
            </a:pPr>
            <a:r>
              <a:rPr sz="3200" u="heavy" dirty="0">
                <a:uFill>
                  <a:solidFill>
                    <a:srgbClr val="283F54"/>
                  </a:solidFill>
                </a:uFill>
                <a:latin typeface="Arial MT"/>
                <a:cs typeface="Arial MT"/>
              </a:rPr>
              <a:t>	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459" dirty="0">
                <a:latin typeface="Arial MT"/>
                <a:cs typeface="Arial MT"/>
              </a:rPr>
              <a:t>Gain</a:t>
            </a:r>
            <a:r>
              <a:rPr sz="3200" spc="-135" dirty="0">
                <a:latin typeface="Arial MT"/>
                <a:cs typeface="Arial MT"/>
              </a:rPr>
              <a:t> </a:t>
            </a:r>
            <a:r>
              <a:rPr sz="3200" spc="-535" dirty="0">
                <a:latin typeface="Arial MT"/>
                <a:cs typeface="Arial MT"/>
              </a:rPr>
              <a:t>a</a:t>
            </a:r>
            <a:r>
              <a:rPr sz="3200" spc="-35" dirty="0">
                <a:latin typeface="Arial MT"/>
                <a:cs typeface="Arial MT"/>
              </a:rPr>
              <a:t> </a:t>
            </a:r>
            <a:r>
              <a:rPr sz="3200" spc="-330" dirty="0">
                <a:latin typeface="Arial MT"/>
                <a:cs typeface="Arial MT"/>
              </a:rPr>
              <a:t>competitive</a:t>
            </a:r>
            <a:r>
              <a:rPr sz="3200" spc="80" dirty="0">
                <a:latin typeface="Arial MT"/>
                <a:cs typeface="Arial MT"/>
              </a:rPr>
              <a:t> </a:t>
            </a:r>
            <a:r>
              <a:rPr sz="3200" spc="-415" dirty="0">
                <a:latin typeface="Arial MT"/>
                <a:cs typeface="Arial MT"/>
              </a:rPr>
              <a:t>edge</a:t>
            </a:r>
            <a:r>
              <a:rPr sz="3200" spc="-100" dirty="0">
                <a:latin typeface="Arial MT"/>
                <a:cs typeface="Arial MT"/>
              </a:rPr>
              <a:t> </a:t>
            </a:r>
            <a:r>
              <a:rPr sz="3200" spc="-330" dirty="0">
                <a:latin typeface="Arial MT"/>
                <a:cs typeface="Arial MT"/>
              </a:rPr>
              <a:t>through</a:t>
            </a:r>
            <a:r>
              <a:rPr sz="3200" spc="15" dirty="0">
                <a:latin typeface="Arial MT"/>
                <a:cs typeface="Arial MT"/>
              </a:rPr>
              <a:t> </a:t>
            </a:r>
            <a:r>
              <a:rPr sz="3200" spc="-310" dirty="0">
                <a:latin typeface="Arial MT"/>
                <a:cs typeface="Arial MT"/>
              </a:rPr>
              <a:t>data-</a:t>
            </a:r>
            <a:endParaRPr sz="3200">
              <a:latin typeface="Arial MT"/>
              <a:cs typeface="Arial MT"/>
            </a:endParaRPr>
          </a:p>
          <a:p>
            <a:pPr marL="7749540">
              <a:lnSpc>
                <a:spcPts val="3350"/>
              </a:lnSpc>
            </a:pPr>
            <a:r>
              <a:rPr sz="3100" spc="-290" dirty="0">
                <a:latin typeface="Arial MT"/>
                <a:cs typeface="Arial MT"/>
              </a:rPr>
              <a:t>driven</a:t>
            </a:r>
            <a:r>
              <a:rPr sz="3100" spc="-145" dirty="0">
                <a:latin typeface="Arial MT"/>
                <a:cs typeface="Arial MT"/>
              </a:rPr>
              <a:t> </a:t>
            </a:r>
            <a:r>
              <a:rPr sz="3100" spc="-320" dirty="0">
                <a:latin typeface="Arial MT"/>
                <a:cs typeface="Arial MT"/>
              </a:rPr>
              <a:t>merchandising.</a:t>
            </a:r>
            <a:endParaRPr sz="31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90600" y="3797300"/>
            <a:ext cx="15494000" cy="5003800"/>
            <a:chOff x="990600" y="3797300"/>
            <a:chExt cx="15494000" cy="50038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0600" y="3797300"/>
              <a:ext cx="15494000" cy="50038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208000" y="4229100"/>
              <a:ext cx="1993900" cy="73660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6145"/>
              </a:lnSpc>
              <a:spcBef>
                <a:spcPts val="135"/>
              </a:spcBef>
            </a:pPr>
            <a:r>
              <a:rPr sz="5450" spc="140" dirty="0">
                <a:solidFill>
                  <a:srgbClr val="1C1C1C"/>
                </a:solidFill>
              </a:rPr>
              <a:t>Our</a:t>
            </a:r>
            <a:r>
              <a:rPr sz="5450" spc="190" dirty="0">
                <a:solidFill>
                  <a:srgbClr val="1C1C1C"/>
                </a:solidFill>
              </a:rPr>
              <a:t> </a:t>
            </a:r>
            <a:r>
              <a:rPr sz="5450" spc="-10" dirty="0">
                <a:solidFill>
                  <a:srgbClr val="1D1D1D"/>
                </a:solidFill>
              </a:rPr>
              <a:t>Approach:</a:t>
            </a:r>
            <a:endParaRPr sz="5450"/>
          </a:p>
          <a:p>
            <a:pPr marL="13335">
              <a:lnSpc>
                <a:spcPts val="6145"/>
              </a:lnSpc>
            </a:pPr>
            <a:r>
              <a:rPr sz="5450" dirty="0">
                <a:solidFill>
                  <a:srgbClr val="033864"/>
                </a:solidFill>
              </a:rPr>
              <a:t>Market</a:t>
            </a:r>
            <a:r>
              <a:rPr sz="5450" spc="95" dirty="0">
                <a:solidFill>
                  <a:srgbClr val="033864"/>
                </a:solidFill>
              </a:rPr>
              <a:t> </a:t>
            </a:r>
            <a:r>
              <a:rPr sz="5450" dirty="0">
                <a:solidFill>
                  <a:srgbClr val="01315B"/>
                </a:solidFill>
              </a:rPr>
              <a:t>Basket</a:t>
            </a:r>
            <a:r>
              <a:rPr sz="5450" spc="130" dirty="0">
                <a:solidFill>
                  <a:srgbClr val="01315B"/>
                </a:solidFill>
              </a:rPr>
              <a:t> </a:t>
            </a:r>
            <a:r>
              <a:rPr sz="5450" spc="-10" dirty="0">
                <a:solidFill>
                  <a:srgbClr val="013159"/>
                </a:solidFill>
              </a:rPr>
              <a:t>Analysis</a:t>
            </a:r>
            <a:endParaRPr sz="545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65787" y="2220030"/>
            <a:ext cx="15537815" cy="83820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dirty="0">
                <a:latin typeface="Arial MT"/>
                <a:cs typeface="Arial MT"/>
              </a:rPr>
              <a:t>Market</a:t>
            </a:r>
            <a:r>
              <a:rPr sz="2550" spc="35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Basket</a:t>
            </a:r>
            <a:r>
              <a:rPr sz="2550" spc="120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Analysis</a:t>
            </a:r>
            <a:r>
              <a:rPr sz="2550" spc="-2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is</a:t>
            </a:r>
            <a:r>
              <a:rPr sz="2550" spc="-17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a</a:t>
            </a:r>
            <a:r>
              <a:rPr sz="2550" spc="-9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data</a:t>
            </a:r>
            <a:r>
              <a:rPr sz="2550" spc="-2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mining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technique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used</a:t>
            </a:r>
            <a:r>
              <a:rPr sz="2550" spc="-7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to</a:t>
            </a:r>
            <a:r>
              <a:rPr sz="2550" spc="-8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discover</a:t>
            </a:r>
            <a:r>
              <a:rPr sz="2550" spc="-4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co-</a:t>
            </a:r>
            <a:r>
              <a:rPr sz="2550" dirty="0">
                <a:latin typeface="Arial MT"/>
                <a:cs typeface="Arial MT"/>
              </a:rPr>
              <a:t>occurrence</a:t>
            </a:r>
            <a:r>
              <a:rPr sz="2550" spc="14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patterns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between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items</a:t>
            </a:r>
            <a:r>
              <a:rPr sz="2550" spc="-11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in</a:t>
            </a: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2600" dirty="0">
                <a:latin typeface="Arial MT"/>
                <a:cs typeface="Arial MT"/>
              </a:rPr>
              <a:t>a</a:t>
            </a:r>
            <a:r>
              <a:rPr sz="2600" spc="105" dirty="0">
                <a:latin typeface="Arial MT"/>
                <a:cs typeface="Arial MT"/>
              </a:rPr>
              <a:t> </a:t>
            </a:r>
            <a:r>
              <a:rPr sz="2600" spc="-30" dirty="0">
                <a:latin typeface="Arial MT"/>
                <a:cs typeface="Arial MT"/>
              </a:rPr>
              <a:t>transaction.</a:t>
            </a:r>
            <a:r>
              <a:rPr sz="2600" spc="1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It</a:t>
            </a:r>
            <a:r>
              <a:rPr sz="2600" spc="16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answers</a:t>
            </a:r>
            <a:r>
              <a:rPr sz="2600" spc="2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14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classic</a:t>
            </a:r>
            <a:r>
              <a:rPr sz="2600" spc="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question:</a:t>
            </a:r>
            <a:r>
              <a:rPr sz="2600" spc="-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'Customers</a:t>
            </a:r>
            <a:r>
              <a:rPr sz="2600" spc="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who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bought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Product</a:t>
            </a:r>
            <a:r>
              <a:rPr sz="2600" spc="210" dirty="0">
                <a:latin typeface="Arial MT"/>
                <a:cs typeface="Arial MT"/>
              </a:rPr>
              <a:t> </a:t>
            </a:r>
            <a:r>
              <a:rPr sz="2600" spc="-250" dirty="0">
                <a:latin typeface="Arial MT"/>
                <a:cs typeface="Arial MT"/>
              </a:rPr>
              <a:t>X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also</a:t>
            </a:r>
            <a:r>
              <a:rPr sz="2600" spc="-17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bought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Product</a:t>
            </a:r>
            <a:r>
              <a:rPr sz="2600" spc="21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Y'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3968" y="5918552"/>
            <a:ext cx="3771900" cy="459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2745" algn="l"/>
              </a:tabLst>
            </a:pPr>
            <a:r>
              <a:rPr sz="2850" spc="-25" dirty="0">
                <a:latin typeface="Cambria"/>
                <a:cs typeface="Cambria"/>
              </a:rPr>
              <a:t>1.</a:t>
            </a:r>
            <a:r>
              <a:rPr sz="2850" dirty="0">
                <a:latin typeface="Cambria"/>
                <a:cs typeface="Cambria"/>
              </a:rPr>
              <a:t>	</a:t>
            </a:r>
            <a:r>
              <a:rPr sz="2850" dirty="0">
                <a:solidFill>
                  <a:srgbClr val="0C0C0C"/>
                </a:solidFill>
                <a:latin typeface="Cambria"/>
                <a:cs typeface="Cambria"/>
              </a:rPr>
              <a:t>Analyze</a:t>
            </a:r>
            <a:r>
              <a:rPr sz="2850" spc="20" dirty="0">
                <a:solidFill>
                  <a:srgbClr val="0C0C0C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70707"/>
                </a:solidFill>
                <a:latin typeface="Cambria"/>
                <a:cs typeface="Cambria"/>
              </a:rPr>
              <a:t>Transactions</a:t>
            </a:r>
            <a:endParaRPr sz="285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602" y="7016750"/>
            <a:ext cx="3804920" cy="11557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810">
              <a:lnSpc>
                <a:spcPct val="100299"/>
              </a:lnSpc>
              <a:spcBef>
                <a:spcPts val="90"/>
              </a:spcBef>
            </a:pPr>
            <a:r>
              <a:rPr sz="2500" spc="-305" dirty="0">
                <a:latin typeface="Arial MT"/>
                <a:cs typeface="Arial MT"/>
              </a:rPr>
              <a:t>We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95" dirty="0">
                <a:latin typeface="Arial MT"/>
                <a:cs typeface="Arial MT"/>
              </a:rPr>
              <a:t>process</a:t>
            </a:r>
            <a:r>
              <a:rPr sz="2500" spc="-80" dirty="0">
                <a:latin typeface="Arial MT"/>
                <a:cs typeface="Arial MT"/>
              </a:rPr>
              <a:t> </a:t>
            </a:r>
            <a:r>
              <a:rPr sz="2500" spc="-90" dirty="0">
                <a:latin typeface="Arial MT"/>
                <a:cs typeface="Arial MT"/>
              </a:rPr>
              <a:t>thousands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of </a:t>
            </a:r>
            <a:r>
              <a:rPr sz="2400" spc="-45" dirty="0">
                <a:latin typeface="Arial MT"/>
                <a:cs typeface="Arial MT"/>
              </a:rPr>
              <a:t>individual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40" dirty="0">
                <a:latin typeface="Arial MT"/>
                <a:cs typeface="Arial MT"/>
              </a:rPr>
              <a:t>customer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shopping </a:t>
            </a:r>
            <a:r>
              <a:rPr sz="2500" spc="-10" dirty="0">
                <a:latin typeface="Arial MT"/>
                <a:cs typeface="Arial MT"/>
              </a:rPr>
              <a:t>trips.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46174" y="5918552"/>
            <a:ext cx="3950970" cy="2618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360"/>
              </a:lnSpc>
              <a:spcBef>
                <a:spcPts val="95"/>
              </a:spcBef>
            </a:pPr>
            <a:r>
              <a:rPr sz="2850" dirty="0">
                <a:solidFill>
                  <a:srgbClr val="080808"/>
                </a:solidFill>
                <a:latin typeface="Cambria"/>
                <a:cs typeface="Cambria"/>
              </a:rPr>
              <a:t>2.</a:t>
            </a:r>
            <a:r>
              <a:rPr sz="2850" spc="55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2850" dirty="0">
                <a:latin typeface="Cambria"/>
                <a:cs typeface="Cambria"/>
              </a:rPr>
              <a:t>Identify</a:t>
            </a:r>
            <a:r>
              <a:rPr sz="2850" spc="250" dirty="0"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C0C0C"/>
                </a:solidFill>
                <a:latin typeface="Cambria"/>
                <a:cs typeface="Cambria"/>
              </a:rPr>
              <a:t>Frequent</a:t>
            </a:r>
            <a:endParaRPr sz="2850">
              <a:latin typeface="Cambria"/>
              <a:cs typeface="Cambria"/>
            </a:endParaRPr>
          </a:p>
          <a:p>
            <a:pPr marL="12700">
              <a:lnSpc>
                <a:spcPts val="3600"/>
              </a:lnSpc>
            </a:pPr>
            <a:r>
              <a:rPr sz="3050" spc="-10" dirty="0">
                <a:latin typeface="Cambria"/>
                <a:cs typeface="Cambria"/>
              </a:rPr>
              <a:t>Pairs</a:t>
            </a:r>
            <a:endParaRPr sz="3050">
              <a:latin typeface="Cambria"/>
              <a:cs typeface="Cambria"/>
            </a:endParaRPr>
          </a:p>
          <a:p>
            <a:pPr marL="15240" marR="5080">
              <a:lnSpc>
                <a:spcPct val="104000"/>
              </a:lnSpc>
              <a:spcBef>
                <a:spcPts val="1730"/>
              </a:spcBef>
            </a:pPr>
            <a:r>
              <a:rPr sz="2350" spc="-10" dirty="0">
                <a:latin typeface="Arial MT"/>
                <a:cs typeface="Arial MT"/>
              </a:rPr>
              <a:t>The</a:t>
            </a:r>
            <a:r>
              <a:rPr sz="2350" spc="-15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Apriori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algorithm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finds </a:t>
            </a:r>
            <a:r>
              <a:rPr sz="2350" dirty="0">
                <a:latin typeface="Arial MT"/>
                <a:cs typeface="Arial MT"/>
              </a:rPr>
              <a:t>item</a:t>
            </a:r>
            <a:r>
              <a:rPr sz="2350" spc="-1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combinations</a:t>
            </a:r>
            <a:r>
              <a:rPr sz="2350" spc="1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that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spc="-75" dirty="0">
                <a:latin typeface="Arial MT"/>
                <a:cs typeface="Arial MT"/>
              </a:rPr>
              <a:t>appear </a:t>
            </a:r>
            <a:r>
              <a:rPr sz="2350" dirty="0">
                <a:latin typeface="Arial MT"/>
                <a:cs typeface="Arial MT"/>
              </a:rPr>
              <a:t>together</a:t>
            </a:r>
            <a:r>
              <a:rPr sz="2350" spc="50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more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often</a:t>
            </a:r>
            <a:r>
              <a:rPr sz="2350" spc="-5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than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by </a:t>
            </a:r>
            <a:r>
              <a:rPr sz="2350" spc="-30" dirty="0">
                <a:latin typeface="Arial MT"/>
                <a:cs typeface="Arial MT"/>
              </a:rPr>
              <a:t>random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chance.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191974" y="5918552"/>
            <a:ext cx="3942715" cy="2620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410"/>
              </a:lnSpc>
              <a:spcBef>
                <a:spcPts val="95"/>
              </a:spcBef>
            </a:pPr>
            <a:r>
              <a:rPr sz="2850" dirty="0">
                <a:latin typeface="Cambria"/>
                <a:cs typeface="Cambria"/>
              </a:rPr>
              <a:t>3.</a:t>
            </a:r>
            <a:r>
              <a:rPr sz="2850" spc="90" dirty="0">
                <a:latin typeface="Cambria"/>
                <a:cs typeface="Cambria"/>
              </a:rPr>
              <a:t> </a:t>
            </a:r>
            <a:r>
              <a:rPr sz="2850" spc="50" dirty="0">
                <a:solidFill>
                  <a:srgbClr val="080808"/>
                </a:solidFill>
                <a:latin typeface="Cambria"/>
                <a:cs typeface="Cambria"/>
              </a:rPr>
              <a:t>Generate</a:t>
            </a:r>
            <a:r>
              <a:rPr sz="2850" spc="300" dirty="0">
                <a:solidFill>
                  <a:srgbClr val="080808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A0A0A"/>
                </a:solidFill>
                <a:latin typeface="Cambria"/>
                <a:cs typeface="Cambria"/>
              </a:rPr>
              <a:t>Association</a:t>
            </a:r>
            <a:endParaRPr sz="2850">
              <a:latin typeface="Cambria"/>
              <a:cs typeface="Cambria"/>
            </a:endParaRPr>
          </a:p>
          <a:p>
            <a:pPr marL="27940">
              <a:lnSpc>
                <a:spcPts val="3529"/>
              </a:lnSpc>
            </a:pPr>
            <a:r>
              <a:rPr sz="2950" spc="-10" dirty="0">
                <a:latin typeface="Cambria"/>
                <a:cs typeface="Cambria"/>
              </a:rPr>
              <a:t>Rules</a:t>
            </a:r>
            <a:endParaRPr sz="2950">
              <a:latin typeface="Cambria"/>
              <a:cs typeface="Cambria"/>
            </a:endParaRPr>
          </a:p>
          <a:p>
            <a:pPr marL="30480" marR="5080" indent="3175">
              <a:lnSpc>
                <a:spcPct val="100200"/>
              </a:lnSpc>
              <a:spcBef>
                <a:spcPts val="1705"/>
              </a:spcBef>
            </a:pPr>
            <a:r>
              <a:rPr sz="2500" spc="-305" dirty="0">
                <a:latin typeface="Arial MT"/>
                <a:cs typeface="Arial MT"/>
              </a:rPr>
              <a:t>We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14" dirty="0">
                <a:latin typeface="Arial MT"/>
                <a:cs typeface="Arial MT"/>
              </a:rPr>
              <a:t>create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70" dirty="0">
                <a:latin typeface="Arial MT"/>
                <a:cs typeface="Arial MT"/>
              </a:rPr>
              <a:t>directional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rules </a:t>
            </a:r>
            <a:r>
              <a:rPr sz="2400" spc="-100" dirty="0">
                <a:latin typeface="Arial MT"/>
                <a:cs typeface="Arial MT"/>
              </a:rPr>
              <a:t>(e.g.,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If</a:t>
            </a:r>
            <a:r>
              <a:rPr sz="2400" spc="-17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(Bread},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35" dirty="0">
                <a:latin typeface="Arial MT"/>
                <a:cs typeface="Arial MT"/>
              </a:rPr>
              <a:t>then</a:t>
            </a:r>
            <a:r>
              <a:rPr sz="2400" spc="-13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(Milk))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to </a:t>
            </a:r>
            <a:r>
              <a:rPr sz="2500" spc="-95" dirty="0">
                <a:latin typeface="Arial MT"/>
                <a:cs typeface="Arial MT"/>
              </a:rPr>
              <a:t>understand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purchase </a:t>
            </a:r>
            <a:r>
              <a:rPr sz="2400" spc="-70" dirty="0">
                <a:latin typeface="Arial MT"/>
                <a:cs typeface="Arial MT"/>
              </a:rPr>
              <a:t>sequence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and</a:t>
            </a:r>
            <a:r>
              <a:rPr sz="2400" spc="-10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behavior.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66425" y="9087908"/>
            <a:ext cx="15114905" cy="3746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300" spc="-135" dirty="0">
                <a:solidFill>
                  <a:srgbClr val="0F283F"/>
                </a:solidFill>
                <a:latin typeface="Arial MT"/>
                <a:cs typeface="Arial MT"/>
              </a:rPr>
              <a:t>Source</a:t>
            </a:r>
            <a:r>
              <a:rPr sz="2300" spc="-120" dirty="0">
                <a:solidFill>
                  <a:srgbClr val="0F283F"/>
                </a:solidFill>
                <a:latin typeface="Arial MT"/>
                <a:cs typeface="Arial MT"/>
              </a:rPr>
              <a:t> </a:t>
            </a:r>
            <a:r>
              <a:rPr sz="2300" spc="-80" dirty="0">
                <a:solidFill>
                  <a:srgbClr val="232323"/>
                </a:solidFill>
                <a:latin typeface="Arial MT"/>
                <a:cs typeface="Arial MT"/>
              </a:rPr>
              <a:t>Data: </a:t>
            </a:r>
            <a:r>
              <a:rPr sz="2300" spc="-180" dirty="0">
                <a:latin typeface="Arial MT"/>
                <a:cs typeface="Arial MT"/>
              </a:rPr>
              <a:t>The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110" dirty="0">
                <a:latin typeface="Arial MT"/>
                <a:cs typeface="Arial MT"/>
              </a:rPr>
              <a:t>analysis</a:t>
            </a:r>
            <a:r>
              <a:rPr sz="2300" spc="-50" dirty="0">
                <a:latin typeface="Arial MT"/>
                <a:cs typeface="Arial MT"/>
              </a:rPr>
              <a:t> </a:t>
            </a:r>
            <a:r>
              <a:rPr sz="2300" spc="-180" dirty="0">
                <a:latin typeface="Arial MT"/>
                <a:cs typeface="Arial MT"/>
              </a:rPr>
              <a:t>was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spc="-95" dirty="0">
                <a:latin typeface="Arial MT"/>
                <a:cs typeface="Arial MT"/>
              </a:rPr>
              <a:t>performed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165" dirty="0">
                <a:latin typeface="Arial MT"/>
                <a:cs typeface="Arial MT"/>
              </a:rPr>
              <a:t>on</a:t>
            </a:r>
            <a:r>
              <a:rPr sz="2300" spc="-5" dirty="0">
                <a:latin typeface="Arial MT"/>
                <a:cs typeface="Arial MT"/>
              </a:rPr>
              <a:t> </a:t>
            </a:r>
            <a:r>
              <a:rPr sz="2300" spc="-120" dirty="0">
                <a:latin typeface="Arial MT"/>
                <a:cs typeface="Arial MT"/>
              </a:rPr>
              <a:t>survey-</a:t>
            </a:r>
            <a:r>
              <a:rPr sz="2300" spc="-80" dirty="0">
                <a:latin typeface="Arial MT"/>
                <a:cs typeface="Arial MT"/>
              </a:rPr>
              <a:t>based</a:t>
            </a:r>
            <a:r>
              <a:rPr sz="2300" spc="55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transaction</a:t>
            </a:r>
            <a:r>
              <a:rPr sz="2300" spc="35" dirty="0">
                <a:latin typeface="Arial MT"/>
                <a:cs typeface="Arial MT"/>
              </a:rPr>
              <a:t> </a:t>
            </a:r>
            <a:r>
              <a:rPr sz="2300" spc="-125" dirty="0">
                <a:latin typeface="Arial MT"/>
                <a:cs typeface="Arial MT"/>
              </a:rPr>
              <a:t>data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105" dirty="0">
                <a:latin typeface="Arial MT"/>
                <a:cs typeface="Arial MT"/>
              </a:rPr>
              <a:t>representing</a:t>
            </a:r>
            <a:r>
              <a:rPr sz="2300" spc="165" dirty="0">
                <a:latin typeface="Arial MT"/>
                <a:cs typeface="Arial MT"/>
              </a:rPr>
              <a:t> </a:t>
            </a:r>
            <a:r>
              <a:rPr sz="2300" spc="-185" dirty="0">
                <a:latin typeface="Arial MT"/>
                <a:cs typeface="Arial MT"/>
              </a:rPr>
              <a:t>common</a:t>
            </a:r>
            <a:r>
              <a:rPr sz="2300" spc="15" dirty="0">
                <a:latin typeface="Arial MT"/>
                <a:cs typeface="Arial MT"/>
              </a:rPr>
              <a:t> </a:t>
            </a:r>
            <a:r>
              <a:rPr sz="2300" spc="-114" dirty="0">
                <a:latin typeface="Arial MT"/>
                <a:cs typeface="Arial MT"/>
              </a:rPr>
              <a:t>Indian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130" dirty="0">
                <a:latin typeface="Arial MT"/>
                <a:cs typeface="Arial MT"/>
              </a:rPr>
              <a:t>household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purchases.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1500" y="3378200"/>
            <a:ext cx="1473200" cy="1371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03700" y="2984500"/>
            <a:ext cx="850900" cy="57785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30900" y="3365500"/>
            <a:ext cx="1536700" cy="1384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293100" y="2984500"/>
            <a:ext cx="838200" cy="5765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817100" y="3771900"/>
            <a:ext cx="1295400" cy="6223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26800" y="3619500"/>
            <a:ext cx="520700" cy="8890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369800" y="2984500"/>
            <a:ext cx="927100" cy="58039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4312900" y="3213100"/>
            <a:ext cx="1714500" cy="1701800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2804575" y="603955"/>
            <a:ext cx="11809730" cy="1680845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3540760" marR="5080" indent="-3528695">
              <a:lnSpc>
                <a:spcPts val="6200"/>
              </a:lnSpc>
              <a:spcBef>
                <a:spcPts val="830"/>
              </a:spcBef>
            </a:pPr>
            <a:r>
              <a:rPr sz="5700" dirty="0">
                <a:solidFill>
                  <a:srgbClr val="000000"/>
                </a:solidFill>
              </a:rPr>
              <a:t>A</a:t>
            </a:r>
            <a:r>
              <a:rPr sz="5700" spc="-360" dirty="0">
                <a:solidFill>
                  <a:srgbClr val="000000"/>
                </a:solidFill>
              </a:rPr>
              <a:t> </a:t>
            </a:r>
            <a:r>
              <a:rPr sz="5700" spc="-215" dirty="0">
                <a:solidFill>
                  <a:srgbClr val="000000"/>
                </a:solidFill>
              </a:rPr>
              <a:t>Rigorous,</a:t>
            </a:r>
            <a:r>
              <a:rPr sz="5700" spc="-100" dirty="0">
                <a:solidFill>
                  <a:srgbClr val="000000"/>
                </a:solidFill>
              </a:rPr>
              <a:t> </a:t>
            </a:r>
            <a:r>
              <a:rPr sz="5700" spc="-160" dirty="0">
                <a:solidFill>
                  <a:srgbClr val="000000"/>
                </a:solidFill>
              </a:rPr>
              <a:t>Multi-</a:t>
            </a:r>
            <a:r>
              <a:rPr sz="5700" spc="-90" dirty="0">
                <a:solidFill>
                  <a:srgbClr val="000000"/>
                </a:solidFill>
              </a:rPr>
              <a:t>Step</a:t>
            </a:r>
            <a:r>
              <a:rPr sz="5700" spc="-220" dirty="0">
                <a:solidFill>
                  <a:srgbClr val="000000"/>
                </a:solidFill>
              </a:rPr>
              <a:t> </a:t>
            </a:r>
            <a:r>
              <a:rPr sz="5700" spc="-185" dirty="0">
                <a:solidFill>
                  <a:srgbClr val="000000"/>
                </a:solidFill>
              </a:rPr>
              <a:t>Process</a:t>
            </a:r>
            <a:r>
              <a:rPr sz="5700" spc="-35" dirty="0">
                <a:solidFill>
                  <a:srgbClr val="000000"/>
                </a:solidFill>
              </a:rPr>
              <a:t> </a:t>
            </a:r>
            <a:r>
              <a:rPr sz="5700" spc="-110" dirty="0">
                <a:solidFill>
                  <a:srgbClr val="000000"/>
                </a:solidFill>
              </a:rPr>
              <a:t>to</a:t>
            </a:r>
            <a:r>
              <a:rPr sz="5700" spc="-290" dirty="0">
                <a:solidFill>
                  <a:srgbClr val="000000"/>
                </a:solidFill>
              </a:rPr>
              <a:t> </a:t>
            </a:r>
            <a:r>
              <a:rPr sz="5700" spc="-305" dirty="0">
                <a:solidFill>
                  <a:srgbClr val="000000"/>
                </a:solidFill>
              </a:rPr>
              <a:t>Ensure </a:t>
            </a:r>
            <a:r>
              <a:rPr sz="5700" spc="-254" dirty="0">
                <a:solidFill>
                  <a:srgbClr val="000000"/>
                </a:solidFill>
              </a:rPr>
              <a:t>Reliable</a:t>
            </a:r>
            <a:r>
              <a:rPr sz="5700" spc="210" dirty="0">
                <a:solidFill>
                  <a:srgbClr val="000000"/>
                </a:solidFill>
              </a:rPr>
              <a:t> </a:t>
            </a:r>
            <a:r>
              <a:rPr sz="5700" spc="-70" dirty="0">
                <a:solidFill>
                  <a:srgbClr val="000000"/>
                </a:solidFill>
              </a:rPr>
              <a:t>Insights</a:t>
            </a:r>
            <a:endParaRPr sz="5700"/>
          </a:p>
        </p:txBody>
      </p:sp>
      <p:sp>
        <p:nvSpPr>
          <p:cNvPr id="11" name="object 11"/>
          <p:cNvSpPr txBox="1"/>
          <p:nvPr/>
        </p:nvSpPr>
        <p:spPr>
          <a:xfrm>
            <a:off x="967316" y="2969682"/>
            <a:ext cx="3225800" cy="5854700"/>
          </a:xfrm>
          <a:prstGeom prst="rect">
            <a:avLst/>
          </a:prstGeom>
          <a:ln w="12700">
            <a:solidFill>
              <a:srgbClr val="97804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195"/>
              </a:spcBef>
            </a:pPr>
            <a:endParaRPr sz="3200">
              <a:latin typeface="Times New Roman"/>
              <a:cs typeface="Times New Roman"/>
            </a:endParaRPr>
          </a:p>
          <a:p>
            <a:pPr marR="24130" algn="ctr">
              <a:lnSpc>
                <a:spcPts val="3670"/>
              </a:lnSpc>
            </a:pPr>
            <a:r>
              <a:rPr sz="3200" spc="-275" dirty="0">
                <a:latin typeface="Cambria"/>
                <a:cs typeface="Cambria"/>
              </a:rPr>
              <a:t>1.</a:t>
            </a:r>
            <a:r>
              <a:rPr sz="3200" spc="75" dirty="0">
                <a:latin typeface="Cambria"/>
                <a:cs typeface="Cambria"/>
              </a:rPr>
              <a:t> </a:t>
            </a:r>
            <a:r>
              <a:rPr sz="3200" spc="-20" dirty="0">
                <a:latin typeface="Cambria"/>
                <a:cs typeface="Cambria"/>
              </a:rPr>
              <a:t>Data</a:t>
            </a:r>
            <a:endParaRPr sz="3200">
              <a:latin typeface="Cambria"/>
              <a:cs typeface="Cambria"/>
            </a:endParaRPr>
          </a:p>
          <a:p>
            <a:pPr marR="44450" algn="ctr">
              <a:lnSpc>
                <a:spcPts val="3790"/>
              </a:lnSpc>
            </a:pPr>
            <a:r>
              <a:rPr sz="3300" spc="-40" dirty="0">
                <a:latin typeface="Cambria"/>
                <a:cs typeface="Cambria"/>
              </a:rPr>
              <a:t>Structuring</a:t>
            </a:r>
            <a:endParaRPr sz="3300">
              <a:latin typeface="Cambria"/>
              <a:cs typeface="Cambria"/>
            </a:endParaRPr>
          </a:p>
          <a:p>
            <a:pPr marL="262890" marR="295275" indent="17780" algn="ctr">
              <a:lnSpc>
                <a:spcPct val="98700"/>
              </a:lnSpc>
              <a:spcBef>
                <a:spcPts val="2425"/>
              </a:spcBef>
            </a:pPr>
            <a:r>
              <a:rPr sz="2300" spc="-65" dirty="0">
                <a:latin typeface="Cambria"/>
                <a:cs typeface="Cambria"/>
              </a:rPr>
              <a:t>Raw</a:t>
            </a:r>
            <a:r>
              <a:rPr sz="2300" spc="-35" dirty="0">
                <a:latin typeface="Cambria"/>
                <a:cs typeface="Cambria"/>
              </a:rPr>
              <a:t> </a:t>
            </a:r>
            <a:r>
              <a:rPr sz="2300" spc="-70" dirty="0">
                <a:latin typeface="Cambria"/>
                <a:cs typeface="Cambria"/>
              </a:rPr>
              <a:t>survey</a:t>
            </a:r>
            <a:r>
              <a:rPr sz="2300" spc="-30" dirty="0">
                <a:latin typeface="Cambria"/>
                <a:cs typeface="Cambria"/>
              </a:rPr>
              <a:t> </a:t>
            </a:r>
            <a:r>
              <a:rPr sz="2300" spc="-20" dirty="0">
                <a:latin typeface="Cambria"/>
                <a:cs typeface="Cambria"/>
              </a:rPr>
              <a:t>data </a:t>
            </a:r>
            <a:r>
              <a:rPr sz="2200" spc="-70" dirty="0">
                <a:latin typeface="Cambria"/>
                <a:cs typeface="Cambria"/>
              </a:rPr>
              <a:t>(binary</a:t>
            </a:r>
            <a:r>
              <a:rPr sz="2200" spc="-55" dirty="0">
                <a:latin typeface="Cambria"/>
                <a:cs typeface="Cambria"/>
              </a:rPr>
              <a:t> </a:t>
            </a:r>
            <a:r>
              <a:rPr sz="2200" spc="-170" dirty="0">
                <a:latin typeface="Cambria"/>
                <a:cs typeface="Cambria"/>
              </a:rPr>
              <a:t>1/0</a:t>
            </a:r>
            <a:r>
              <a:rPr sz="2200" spc="5" dirty="0">
                <a:latin typeface="Cambria"/>
                <a:cs typeface="Cambria"/>
              </a:rPr>
              <a:t> </a:t>
            </a:r>
            <a:r>
              <a:rPr sz="2200" spc="-35" dirty="0">
                <a:latin typeface="Cambria"/>
                <a:cs typeface="Cambria"/>
              </a:rPr>
              <a:t>format)</a:t>
            </a:r>
            <a:r>
              <a:rPr sz="2200" spc="120" dirty="0">
                <a:latin typeface="Cambria"/>
                <a:cs typeface="Cambria"/>
              </a:rPr>
              <a:t> </a:t>
            </a:r>
            <a:r>
              <a:rPr sz="2200" spc="-25" dirty="0">
                <a:latin typeface="Cambria"/>
                <a:cs typeface="Cambria"/>
              </a:rPr>
              <a:t>is </a:t>
            </a:r>
            <a:r>
              <a:rPr sz="2150" dirty="0">
                <a:latin typeface="Cambria"/>
                <a:cs typeface="Cambria"/>
              </a:rPr>
              <a:t>converted</a:t>
            </a:r>
            <a:r>
              <a:rPr sz="2150" spc="27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into</a:t>
            </a:r>
            <a:r>
              <a:rPr sz="2150" spc="40" dirty="0">
                <a:latin typeface="Cambria"/>
                <a:cs typeface="Cambria"/>
              </a:rPr>
              <a:t> </a:t>
            </a:r>
            <a:r>
              <a:rPr sz="2150" dirty="0">
                <a:latin typeface="Cambria"/>
                <a:cs typeface="Cambria"/>
              </a:rPr>
              <a:t>a</a:t>
            </a:r>
            <a:r>
              <a:rPr sz="2150" spc="130" dirty="0">
                <a:latin typeface="Cambria"/>
                <a:cs typeface="Cambria"/>
              </a:rPr>
              <a:t> </a:t>
            </a:r>
            <a:r>
              <a:rPr sz="2150" spc="-45" dirty="0">
                <a:latin typeface="Cambria"/>
                <a:cs typeface="Cambria"/>
              </a:rPr>
              <a:t>list</a:t>
            </a:r>
            <a:r>
              <a:rPr sz="2150" spc="105" dirty="0">
                <a:latin typeface="Cambria"/>
                <a:cs typeface="Cambria"/>
              </a:rPr>
              <a:t> </a:t>
            </a:r>
            <a:r>
              <a:rPr sz="2150" spc="-25" dirty="0">
                <a:latin typeface="Cambria"/>
                <a:cs typeface="Cambria"/>
              </a:rPr>
              <a:t>of </a:t>
            </a:r>
            <a:r>
              <a:rPr sz="2300" spc="-70" dirty="0">
                <a:latin typeface="Cambria"/>
                <a:cs typeface="Cambria"/>
              </a:rPr>
              <a:t>items</a:t>
            </a:r>
            <a:r>
              <a:rPr sz="2300" spc="-50" dirty="0">
                <a:latin typeface="Cambria"/>
                <a:cs typeface="Cambria"/>
              </a:rPr>
              <a:t> </a:t>
            </a:r>
            <a:r>
              <a:rPr sz="2300" spc="-60" dirty="0">
                <a:latin typeface="Cambria"/>
                <a:cs typeface="Cambria"/>
              </a:rPr>
              <a:t>for</a:t>
            </a:r>
            <a:r>
              <a:rPr sz="2300" spc="-50" dirty="0">
                <a:latin typeface="Cambria"/>
                <a:cs typeface="Cambria"/>
              </a:rPr>
              <a:t> </a:t>
            </a:r>
            <a:r>
              <a:rPr sz="2300" spc="-20" dirty="0">
                <a:latin typeface="Cambria"/>
                <a:cs typeface="Cambria"/>
              </a:rPr>
              <a:t>each </a:t>
            </a:r>
            <a:r>
              <a:rPr sz="2200" spc="-10" dirty="0">
                <a:latin typeface="Cambria"/>
                <a:cs typeface="Cambria"/>
              </a:rPr>
              <a:t>transaction.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056716" y="2969682"/>
            <a:ext cx="3225800" cy="5854700"/>
          </a:xfrm>
          <a:prstGeom prst="rect">
            <a:avLst/>
          </a:prstGeom>
          <a:ln w="12700">
            <a:solidFill>
              <a:srgbClr val="97804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75"/>
              </a:spcBef>
            </a:pPr>
            <a:endParaRPr sz="3400">
              <a:latin typeface="Times New Roman"/>
              <a:cs typeface="Times New Roman"/>
            </a:endParaRPr>
          </a:p>
          <a:p>
            <a:pPr marL="15875" algn="ctr">
              <a:lnSpc>
                <a:spcPts val="3840"/>
              </a:lnSpc>
            </a:pPr>
            <a:r>
              <a:rPr sz="3400" spc="-60" dirty="0">
                <a:latin typeface="Times New Roman"/>
                <a:cs typeface="Times New Roman"/>
              </a:rPr>
              <a:t>2.</a:t>
            </a:r>
            <a:r>
              <a:rPr sz="3400" spc="-170" dirty="0">
                <a:latin typeface="Times New Roman"/>
                <a:cs typeface="Times New Roman"/>
              </a:rPr>
              <a:t> </a:t>
            </a:r>
            <a:r>
              <a:rPr sz="3400" spc="-10" dirty="0">
                <a:latin typeface="Times New Roman"/>
                <a:cs typeface="Times New Roman"/>
              </a:rPr>
              <a:t>Frequent</a:t>
            </a:r>
            <a:endParaRPr sz="3400">
              <a:latin typeface="Times New Roman"/>
              <a:cs typeface="Times New Roman"/>
            </a:endParaRPr>
          </a:p>
          <a:p>
            <a:pPr marL="27940" algn="ctr">
              <a:lnSpc>
                <a:spcPts val="3900"/>
              </a:lnSpc>
            </a:pPr>
            <a:r>
              <a:rPr sz="3450" spc="-30" dirty="0">
                <a:latin typeface="Times New Roman"/>
                <a:cs typeface="Times New Roman"/>
              </a:rPr>
              <a:t>Itemset</a:t>
            </a:r>
            <a:r>
              <a:rPr sz="3450" spc="-160" dirty="0">
                <a:latin typeface="Times New Roman"/>
                <a:cs typeface="Times New Roman"/>
              </a:rPr>
              <a:t> </a:t>
            </a:r>
            <a:r>
              <a:rPr sz="3450" spc="-20" dirty="0">
                <a:latin typeface="Times New Roman"/>
                <a:cs typeface="Times New Roman"/>
              </a:rPr>
              <a:t>Mining</a:t>
            </a:r>
            <a:endParaRPr sz="3450">
              <a:latin typeface="Times New Roman"/>
              <a:cs typeface="Times New Roman"/>
            </a:endParaRPr>
          </a:p>
          <a:p>
            <a:pPr marL="384175" marR="342900" algn="ctr">
              <a:lnSpc>
                <a:spcPct val="95000"/>
              </a:lnSpc>
              <a:spcBef>
                <a:spcPts val="2400"/>
              </a:spcBef>
            </a:pPr>
            <a:r>
              <a:rPr sz="2350" spc="-185" dirty="0">
                <a:latin typeface="Arial MT"/>
                <a:cs typeface="Arial MT"/>
              </a:rPr>
              <a:t>The</a:t>
            </a:r>
            <a:r>
              <a:rPr sz="2350" spc="5" dirty="0">
                <a:latin typeface="Arial MT"/>
                <a:cs typeface="Arial MT"/>
              </a:rPr>
              <a:t> </a:t>
            </a:r>
            <a:r>
              <a:rPr sz="2350" spc="-110" dirty="0">
                <a:latin typeface="Arial MT"/>
                <a:cs typeface="Arial MT"/>
              </a:rPr>
              <a:t>Apriori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110" dirty="0">
                <a:latin typeface="Arial MT"/>
                <a:cs typeface="Arial MT"/>
              </a:rPr>
              <a:t>algorithm </a:t>
            </a:r>
            <a:r>
              <a:rPr sz="2300" spc="-50" dirty="0">
                <a:latin typeface="Arial MT"/>
                <a:cs typeface="Arial MT"/>
              </a:rPr>
              <a:t>is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145" dirty="0">
                <a:latin typeface="Arial MT"/>
                <a:cs typeface="Arial MT"/>
              </a:rPr>
              <a:t>used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to</a:t>
            </a:r>
            <a:r>
              <a:rPr sz="2300" spc="-14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identify</a:t>
            </a:r>
            <a:r>
              <a:rPr sz="2300" spc="-20" dirty="0">
                <a:latin typeface="Arial MT"/>
                <a:cs typeface="Arial MT"/>
              </a:rPr>
              <a:t> </a:t>
            </a:r>
            <a:r>
              <a:rPr sz="2300" spc="-25" dirty="0">
                <a:latin typeface="Arial MT"/>
                <a:cs typeface="Arial MT"/>
              </a:rPr>
              <a:t>all </a:t>
            </a:r>
            <a:r>
              <a:rPr sz="2200" dirty="0">
                <a:latin typeface="Arial MT"/>
                <a:cs typeface="Arial MT"/>
              </a:rPr>
              <a:t>item</a:t>
            </a:r>
            <a:r>
              <a:rPr sz="2200" spc="-15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combinations </a:t>
            </a:r>
            <a:r>
              <a:rPr sz="2400" spc="-114" dirty="0">
                <a:latin typeface="Arial MT"/>
                <a:cs typeface="Arial MT"/>
              </a:rPr>
              <a:t>with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spc="-325" dirty="0">
                <a:latin typeface="Arial MT"/>
                <a:cs typeface="Arial MT"/>
              </a:rPr>
              <a:t>a</a:t>
            </a:r>
            <a:r>
              <a:rPr sz="2400" spc="-60" dirty="0">
                <a:latin typeface="Arial MT"/>
                <a:cs typeface="Arial MT"/>
              </a:rPr>
              <a:t> minimum </a:t>
            </a:r>
            <a:r>
              <a:rPr sz="2300" spc="-60" dirty="0">
                <a:latin typeface="Arial MT"/>
                <a:cs typeface="Arial MT"/>
              </a:rPr>
              <a:t>support</a:t>
            </a:r>
            <a:r>
              <a:rPr sz="2300" spc="-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20%.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133416" y="2969682"/>
            <a:ext cx="3225800" cy="5854700"/>
          </a:xfrm>
          <a:prstGeom prst="rect">
            <a:avLst/>
          </a:prstGeom>
          <a:ln w="12700">
            <a:solidFill>
              <a:srgbClr val="97804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3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5"/>
              </a:spcBef>
            </a:pPr>
            <a:endParaRPr sz="3400">
              <a:latin typeface="Times New Roman"/>
              <a:cs typeface="Times New Roman"/>
            </a:endParaRPr>
          </a:p>
          <a:p>
            <a:pPr marL="696595" marR="673735" indent="362585">
              <a:lnSpc>
                <a:spcPts val="3650"/>
              </a:lnSpc>
            </a:pPr>
            <a:r>
              <a:rPr sz="3400" spc="-45" dirty="0">
                <a:latin typeface="Cambria"/>
                <a:cs typeface="Cambria"/>
              </a:rPr>
              <a:t>3.</a:t>
            </a:r>
            <a:r>
              <a:rPr sz="3400" spc="-140" dirty="0">
                <a:latin typeface="Cambria"/>
                <a:cs typeface="Cambria"/>
              </a:rPr>
              <a:t> </a:t>
            </a:r>
            <a:r>
              <a:rPr sz="3400" spc="-20" dirty="0">
                <a:latin typeface="Cambria"/>
                <a:cs typeface="Cambria"/>
              </a:rPr>
              <a:t>Rule </a:t>
            </a:r>
            <a:r>
              <a:rPr sz="3400" spc="-175" dirty="0">
                <a:latin typeface="Cambria"/>
                <a:cs typeface="Cambria"/>
              </a:rPr>
              <a:t>Generation</a:t>
            </a:r>
            <a:endParaRPr sz="3400">
              <a:latin typeface="Cambria"/>
              <a:cs typeface="Cambria"/>
            </a:endParaRPr>
          </a:p>
          <a:p>
            <a:pPr marL="404495" marR="337185" algn="ctr">
              <a:lnSpc>
                <a:spcPct val="99200"/>
              </a:lnSpc>
              <a:spcBef>
                <a:spcPts val="2295"/>
              </a:spcBef>
            </a:pPr>
            <a:r>
              <a:rPr sz="2300" spc="-95" dirty="0">
                <a:latin typeface="Arial MT"/>
                <a:cs typeface="Arial MT"/>
              </a:rPr>
              <a:t>Association</a:t>
            </a:r>
            <a:r>
              <a:rPr sz="2300" spc="-40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rules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100" dirty="0">
                <a:latin typeface="Arial MT"/>
                <a:cs typeface="Arial MT"/>
              </a:rPr>
              <a:t>are </a:t>
            </a:r>
            <a:r>
              <a:rPr sz="2150" spc="-10" dirty="0">
                <a:latin typeface="Arial MT"/>
                <a:cs typeface="Arial MT"/>
              </a:rPr>
              <a:t>generated</a:t>
            </a:r>
            <a:r>
              <a:rPr sz="2150" spc="-95" dirty="0">
                <a:latin typeface="Arial MT"/>
                <a:cs typeface="Arial MT"/>
              </a:rPr>
              <a:t> </a:t>
            </a:r>
            <a:r>
              <a:rPr sz="2150" spc="-20" dirty="0">
                <a:latin typeface="Arial MT"/>
                <a:cs typeface="Arial MT"/>
              </a:rPr>
              <a:t>from </a:t>
            </a:r>
            <a:r>
              <a:rPr sz="2150" dirty="0">
                <a:latin typeface="Arial MT"/>
                <a:cs typeface="Arial MT"/>
              </a:rPr>
              <a:t>frequent</a:t>
            </a:r>
            <a:r>
              <a:rPr sz="2150" spc="-12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itemsets </a:t>
            </a:r>
            <a:r>
              <a:rPr sz="2300" spc="-110" dirty="0">
                <a:latin typeface="Arial MT"/>
                <a:cs typeface="Arial MT"/>
              </a:rPr>
              <a:t>based</a:t>
            </a:r>
            <a:r>
              <a:rPr sz="2300" spc="-35" dirty="0">
                <a:latin typeface="Arial MT"/>
                <a:cs typeface="Arial MT"/>
              </a:rPr>
              <a:t> </a:t>
            </a:r>
            <a:r>
              <a:rPr sz="2300" spc="-160" dirty="0">
                <a:latin typeface="Arial MT"/>
                <a:cs typeface="Arial MT"/>
              </a:rPr>
              <a:t>on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spc="-270" dirty="0">
                <a:latin typeface="Arial MT"/>
                <a:cs typeface="Arial MT"/>
              </a:rPr>
              <a:t>a</a:t>
            </a:r>
            <a:r>
              <a:rPr sz="2300" spc="-30" dirty="0">
                <a:latin typeface="Arial MT"/>
                <a:cs typeface="Arial MT"/>
              </a:rPr>
              <a:t> </a:t>
            </a:r>
            <a:r>
              <a:rPr sz="2300" spc="-95" dirty="0">
                <a:latin typeface="Arial MT"/>
                <a:cs typeface="Arial MT"/>
              </a:rPr>
              <a:t>minimum </a:t>
            </a:r>
            <a:r>
              <a:rPr sz="2200" spc="-35" dirty="0">
                <a:latin typeface="Arial MT"/>
                <a:cs typeface="Arial MT"/>
              </a:rPr>
              <a:t>confidence</a:t>
            </a:r>
            <a:r>
              <a:rPr sz="2200" spc="60" dirty="0">
                <a:latin typeface="Arial MT"/>
                <a:cs typeface="Arial MT"/>
              </a:rPr>
              <a:t> </a:t>
            </a:r>
            <a:r>
              <a:rPr sz="2200" dirty="0">
                <a:latin typeface="Arial MT"/>
                <a:cs typeface="Arial MT"/>
              </a:rPr>
              <a:t>of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60%.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97420" y="2969682"/>
            <a:ext cx="3251200" cy="5854700"/>
          </a:xfrm>
          <a:prstGeom prst="rect">
            <a:avLst/>
          </a:prstGeom>
          <a:ln w="12700">
            <a:solidFill>
              <a:srgbClr val="97804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450">
              <a:latin typeface="Times New Roman"/>
              <a:cs typeface="Times New Roman"/>
            </a:endParaRPr>
          </a:p>
          <a:p>
            <a:pPr marL="2158365">
              <a:lnSpc>
                <a:spcPct val="100000"/>
              </a:lnSpc>
            </a:pPr>
            <a:r>
              <a:rPr sz="1450" dirty="0">
                <a:solidFill>
                  <a:srgbClr val="113D67"/>
                </a:solidFill>
                <a:latin typeface="Cambria"/>
                <a:cs typeface="Cambria"/>
              </a:rPr>
              <a:t>LIFT</a:t>
            </a:r>
            <a:r>
              <a:rPr sz="1450" spc="30" dirty="0">
                <a:solidFill>
                  <a:srgbClr val="113D67"/>
                </a:solidFill>
                <a:latin typeface="Cambria"/>
                <a:cs typeface="Cambria"/>
              </a:rPr>
              <a:t> </a:t>
            </a:r>
            <a:r>
              <a:rPr sz="1450" dirty="0">
                <a:solidFill>
                  <a:srgbClr val="242424"/>
                </a:solidFill>
                <a:latin typeface="Cambria"/>
                <a:cs typeface="Cambria"/>
              </a:rPr>
              <a:t>&gt;</a:t>
            </a:r>
            <a:r>
              <a:rPr sz="1450" spc="165" dirty="0">
                <a:solidFill>
                  <a:srgbClr val="242424"/>
                </a:solidFill>
                <a:latin typeface="Cambria"/>
                <a:cs typeface="Cambria"/>
              </a:rPr>
              <a:t> </a:t>
            </a:r>
            <a:r>
              <a:rPr sz="1450" spc="-50" dirty="0">
                <a:solidFill>
                  <a:srgbClr val="232323"/>
                </a:solidFill>
                <a:latin typeface="Cambria"/>
                <a:cs typeface="Cambria"/>
              </a:rPr>
              <a:t>1</a:t>
            </a: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</a:pPr>
            <a:endParaRPr sz="14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140"/>
              </a:spcBef>
            </a:pPr>
            <a:endParaRPr sz="1450">
              <a:latin typeface="Cambria"/>
              <a:cs typeface="Cambria"/>
            </a:endParaRPr>
          </a:p>
          <a:p>
            <a:pPr marL="968375" marR="662940" indent="-241300">
              <a:lnSpc>
                <a:spcPts val="3650"/>
              </a:lnSpc>
            </a:pPr>
            <a:r>
              <a:rPr sz="3550" spc="-125" dirty="0">
                <a:latin typeface="Times New Roman"/>
                <a:cs typeface="Times New Roman"/>
              </a:rPr>
              <a:t>4.</a:t>
            </a:r>
            <a:r>
              <a:rPr sz="3550" spc="-290" dirty="0">
                <a:latin typeface="Times New Roman"/>
                <a:cs typeface="Times New Roman"/>
              </a:rPr>
              <a:t> </a:t>
            </a:r>
            <a:r>
              <a:rPr sz="3550" spc="-130" dirty="0">
                <a:latin typeface="Times New Roman"/>
                <a:cs typeface="Times New Roman"/>
              </a:rPr>
              <a:t>Strategic </a:t>
            </a:r>
            <a:r>
              <a:rPr sz="3550" spc="-55" dirty="0">
                <a:latin typeface="Times New Roman"/>
                <a:cs typeface="Times New Roman"/>
              </a:rPr>
              <a:t>Filtering</a:t>
            </a:r>
            <a:endParaRPr sz="3550">
              <a:latin typeface="Times New Roman"/>
              <a:cs typeface="Times New Roman"/>
            </a:endParaRPr>
          </a:p>
          <a:p>
            <a:pPr marL="341630" marR="268605" algn="ctr">
              <a:lnSpc>
                <a:spcPct val="95100"/>
              </a:lnSpc>
              <a:spcBef>
                <a:spcPts val="2310"/>
              </a:spcBef>
            </a:pPr>
            <a:r>
              <a:rPr sz="2400" spc="-225" dirty="0">
                <a:latin typeface="Arial MT"/>
                <a:cs typeface="Arial MT"/>
              </a:rPr>
              <a:t>Rules</a:t>
            </a:r>
            <a:r>
              <a:rPr sz="2400" spc="40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are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85" dirty="0">
                <a:latin typeface="Arial MT"/>
                <a:cs typeface="Arial MT"/>
              </a:rPr>
              <a:t>filtered</a:t>
            </a:r>
            <a:r>
              <a:rPr sz="2400" spc="-70" dirty="0">
                <a:latin typeface="Arial MT"/>
                <a:cs typeface="Arial MT"/>
              </a:rPr>
              <a:t> </a:t>
            </a:r>
            <a:r>
              <a:rPr sz="2400" spc="-95" dirty="0">
                <a:latin typeface="Arial MT"/>
                <a:cs typeface="Arial MT"/>
              </a:rPr>
              <a:t>for</a:t>
            </a:r>
            <a:r>
              <a:rPr sz="2400" spc="15" dirty="0">
                <a:latin typeface="Arial MT"/>
                <a:cs typeface="Arial MT"/>
              </a:rPr>
              <a:t> </a:t>
            </a:r>
            <a:r>
              <a:rPr sz="2400" spc="-375" dirty="0">
                <a:latin typeface="Arial MT"/>
                <a:cs typeface="Arial MT"/>
              </a:rPr>
              <a:t>a </a:t>
            </a:r>
            <a:r>
              <a:rPr sz="2300" spc="-20" dirty="0">
                <a:latin typeface="Arial MT"/>
                <a:cs typeface="Arial MT"/>
              </a:rPr>
              <a:t>Lift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spc="-140" dirty="0">
                <a:latin typeface="Arial MT"/>
                <a:cs typeface="Arial MT"/>
              </a:rPr>
              <a:t>&gt;</a:t>
            </a:r>
            <a:r>
              <a:rPr sz="2300" spc="-170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1</a:t>
            </a:r>
            <a:r>
              <a:rPr sz="2300" spc="-27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to</a:t>
            </a:r>
            <a:r>
              <a:rPr sz="2300" spc="-110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isolate </a:t>
            </a:r>
            <a:r>
              <a:rPr sz="2200" spc="-10" dirty="0">
                <a:latin typeface="Arial MT"/>
                <a:cs typeface="Arial MT"/>
              </a:rPr>
              <a:t>statistically</a:t>
            </a:r>
            <a:r>
              <a:rPr sz="2200" spc="-25" dirty="0">
                <a:latin typeface="Arial MT"/>
                <a:cs typeface="Arial MT"/>
              </a:rPr>
              <a:t> significant </a:t>
            </a:r>
            <a:r>
              <a:rPr sz="2350" spc="-114" dirty="0">
                <a:latin typeface="Arial MT"/>
                <a:cs typeface="Arial MT"/>
              </a:rPr>
              <a:t>associations</a:t>
            </a:r>
            <a:r>
              <a:rPr sz="2350" spc="2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and </a:t>
            </a:r>
            <a:r>
              <a:rPr sz="2400" spc="-200" dirty="0">
                <a:latin typeface="Arial MT"/>
                <a:cs typeface="Arial MT"/>
              </a:rPr>
              <a:t>remove</a:t>
            </a:r>
            <a:r>
              <a:rPr sz="2400" spc="-5" dirty="0">
                <a:latin typeface="Arial MT"/>
                <a:cs typeface="Arial MT"/>
              </a:rPr>
              <a:t> </a:t>
            </a:r>
            <a:r>
              <a:rPr sz="2400" spc="-195" dirty="0">
                <a:latin typeface="Arial MT"/>
                <a:cs typeface="Arial MT"/>
              </a:rPr>
              <a:t>random</a:t>
            </a:r>
            <a:r>
              <a:rPr sz="2400" spc="50" dirty="0">
                <a:latin typeface="Arial MT"/>
                <a:cs typeface="Arial MT"/>
              </a:rPr>
              <a:t> </a:t>
            </a:r>
            <a:r>
              <a:rPr sz="2400" spc="-25" dirty="0">
                <a:latin typeface="Arial MT"/>
                <a:cs typeface="Arial MT"/>
              </a:rPr>
              <a:t>co- </a:t>
            </a:r>
            <a:r>
              <a:rPr sz="2200" spc="-10" dirty="0">
                <a:latin typeface="Arial MT"/>
                <a:cs typeface="Arial MT"/>
              </a:rPr>
              <a:t>occurrences.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13000" y="2540000"/>
            <a:ext cx="1498600" cy="15494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38200" y="2540000"/>
            <a:ext cx="1574800" cy="15494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6756400" y="1471082"/>
            <a:ext cx="3543300" cy="0"/>
          </a:xfrm>
          <a:custGeom>
            <a:avLst/>
            <a:gdLst/>
            <a:ahLst/>
            <a:cxnLst/>
            <a:rect l="l" t="t" r="r" b="b"/>
            <a:pathLst>
              <a:path w="3543300">
                <a:moveTo>
                  <a:pt x="0" y="0"/>
                </a:moveTo>
                <a:lnTo>
                  <a:pt x="3543300" y="0"/>
                </a:lnTo>
              </a:path>
            </a:pathLst>
          </a:custGeom>
          <a:ln w="12700">
            <a:solidFill>
              <a:srgbClr val="878787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543800" y="2933700"/>
            <a:ext cx="2387600" cy="7620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3486" rIns="0" bIns="0" rtlCol="0">
            <a:spAutoFit/>
          </a:bodyPr>
          <a:lstStyle/>
          <a:p>
            <a:pPr algn="ctr">
              <a:lnSpc>
                <a:spcPts val="5750"/>
              </a:lnSpc>
              <a:spcBef>
                <a:spcPts val="100"/>
              </a:spcBef>
            </a:pPr>
            <a:r>
              <a:rPr sz="5000" spc="-10" dirty="0">
                <a:solidFill>
                  <a:srgbClr val="1C1C1C"/>
                </a:solidFill>
              </a:rPr>
              <a:t>Translating</a:t>
            </a:r>
            <a:r>
              <a:rPr sz="5000" spc="204" dirty="0">
                <a:solidFill>
                  <a:srgbClr val="1C1C1C"/>
                </a:solidFill>
              </a:rPr>
              <a:t> </a:t>
            </a:r>
            <a:r>
              <a:rPr sz="5000" dirty="0">
                <a:solidFill>
                  <a:srgbClr val="1D1D1D"/>
                </a:solidFill>
              </a:rPr>
              <a:t>Statistics</a:t>
            </a:r>
            <a:r>
              <a:rPr sz="5000" spc="30" dirty="0">
                <a:solidFill>
                  <a:srgbClr val="1D1D1D"/>
                </a:solidFill>
              </a:rPr>
              <a:t> </a:t>
            </a:r>
            <a:r>
              <a:rPr sz="5000" dirty="0">
                <a:solidFill>
                  <a:srgbClr val="1C1C1C"/>
                </a:solidFill>
              </a:rPr>
              <a:t>into</a:t>
            </a:r>
            <a:r>
              <a:rPr sz="5000" spc="-245" dirty="0">
                <a:solidFill>
                  <a:srgbClr val="1C1C1C"/>
                </a:solidFill>
              </a:rPr>
              <a:t> </a:t>
            </a:r>
            <a:r>
              <a:rPr sz="5000" spc="-10" dirty="0">
                <a:solidFill>
                  <a:srgbClr val="1C1C1C"/>
                </a:solidFill>
              </a:rPr>
              <a:t>Business</a:t>
            </a:r>
            <a:r>
              <a:rPr sz="5000" spc="-50" dirty="0">
                <a:solidFill>
                  <a:srgbClr val="1C1C1C"/>
                </a:solidFill>
              </a:rPr>
              <a:t> </a:t>
            </a:r>
            <a:r>
              <a:rPr sz="5000" spc="45" dirty="0">
                <a:solidFill>
                  <a:srgbClr val="1C1C1C"/>
                </a:solidFill>
              </a:rPr>
              <a:t>Logic:</a:t>
            </a:r>
            <a:endParaRPr sz="5000"/>
          </a:p>
          <a:p>
            <a:pPr marR="18415" algn="ctr">
              <a:lnSpc>
                <a:spcPts val="5870"/>
              </a:lnSpc>
            </a:pPr>
            <a:r>
              <a:rPr sz="5100" dirty="0">
                <a:solidFill>
                  <a:srgbClr val="1C1C1C"/>
                </a:solidFill>
              </a:rPr>
              <a:t>Our</a:t>
            </a:r>
            <a:r>
              <a:rPr sz="5100" spc="-60" dirty="0">
                <a:solidFill>
                  <a:srgbClr val="1C1C1C"/>
                </a:solidFill>
              </a:rPr>
              <a:t> </a:t>
            </a:r>
            <a:r>
              <a:rPr sz="5100" spc="-135" dirty="0">
                <a:solidFill>
                  <a:srgbClr val="181818"/>
                </a:solidFill>
              </a:rPr>
              <a:t>Key </a:t>
            </a:r>
            <a:r>
              <a:rPr sz="5100" spc="-10" dirty="0">
                <a:solidFill>
                  <a:srgbClr val="1A1A1A"/>
                </a:solidFill>
              </a:rPr>
              <a:t>Metrics</a:t>
            </a:r>
            <a:endParaRPr sz="5100"/>
          </a:p>
        </p:txBody>
      </p:sp>
      <p:sp>
        <p:nvSpPr>
          <p:cNvPr id="7" name="object 7"/>
          <p:cNvSpPr txBox="1"/>
          <p:nvPr/>
        </p:nvSpPr>
        <p:spPr>
          <a:xfrm>
            <a:off x="1044060" y="4240320"/>
            <a:ext cx="4237355" cy="1911350"/>
          </a:xfrm>
          <a:prstGeom prst="rect">
            <a:avLst/>
          </a:prstGeom>
        </p:spPr>
        <p:txBody>
          <a:bodyPr vert="horz" wrap="square" lIns="0" tIns="229870" rIns="0" bIns="0" rtlCol="0">
            <a:spAutoFit/>
          </a:bodyPr>
          <a:lstStyle/>
          <a:p>
            <a:pPr marR="43815" algn="ctr">
              <a:lnSpc>
                <a:spcPct val="100000"/>
              </a:lnSpc>
              <a:spcBef>
                <a:spcPts val="1810"/>
              </a:spcBef>
            </a:pPr>
            <a:r>
              <a:rPr sz="2950" spc="-10" dirty="0">
                <a:solidFill>
                  <a:srgbClr val="052646"/>
                </a:solidFill>
                <a:latin typeface="Arial MT"/>
                <a:cs typeface="Arial MT"/>
              </a:rPr>
              <a:t>SUPPORT</a:t>
            </a:r>
            <a:endParaRPr sz="2950">
              <a:latin typeface="Arial MT"/>
              <a:cs typeface="Arial MT"/>
            </a:endParaRPr>
          </a:p>
          <a:p>
            <a:pPr marL="12065" marR="5080" indent="-17145" algn="ctr">
              <a:lnSpc>
                <a:spcPts val="2600"/>
              </a:lnSpc>
              <a:spcBef>
                <a:spcPts val="1830"/>
              </a:spcBef>
            </a:pPr>
            <a:r>
              <a:rPr sz="2500" spc="-195" dirty="0">
                <a:latin typeface="Arial MT"/>
                <a:cs typeface="Arial MT"/>
              </a:rPr>
              <a:t>The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95" dirty="0">
                <a:latin typeface="Arial MT"/>
                <a:cs typeface="Arial MT"/>
              </a:rPr>
              <a:t>popularity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of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220" dirty="0">
                <a:latin typeface="Arial MT"/>
                <a:cs typeface="Arial MT"/>
              </a:rPr>
              <a:t>an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105" dirty="0">
                <a:latin typeface="Arial MT"/>
                <a:cs typeface="Arial MT"/>
              </a:rPr>
              <a:t>item</a:t>
            </a:r>
            <a:r>
              <a:rPr sz="2500" spc="-60" dirty="0">
                <a:latin typeface="Arial MT"/>
                <a:cs typeface="Arial MT"/>
              </a:rPr>
              <a:t> </a:t>
            </a:r>
            <a:r>
              <a:rPr sz="2500" spc="-185" dirty="0">
                <a:latin typeface="Arial MT"/>
                <a:cs typeface="Arial MT"/>
              </a:rPr>
              <a:t>or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item </a:t>
            </a:r>
            <a:r>
              <a:rPr sz="2550" spc="-145" dirty="0">
                <a:latin typeface="Arial MT"/>
                <a:cs typeface="Arial MT"/>
              </a:rPr>
              <a:t>set.</a:t>
            </a:r>
            <a:r>
              <a:rPr sz="2550" spc="-18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It</a:t>
            </a:r>
            <a:r>
              <a:rPr sz="2550" spc="-150" dirty="0">
                <a:latin typeface="Arial MT"/>
                <a:cs typeface="Arial MT"/>
              </a:rPr>
              <a:t> </a:t>
            </a:r>
            <a:r>
              <a:rPr sz="2550" spc="-220" dirty="0">
                <a:latin typeface="Arial MT"/>
                <a:cs typeface="Arial MT"/>
              </a:rPr>
              <a:t>measures</a:t>
            </a:r>
            <a:r>
              <a:rPr sz="2550" spc="75" dirty="0">
                <a:latin typeface="Arial MT"/>
                <a:cs typeface="Arial MT"/>
              </a:rPr>
              <a:t> </a:t>
            </a:r>
            <a:r>
              <a:rPr sz="2550" spc="-229" dirty="0">
                <a:latin typeface="Arial MT"/>
                <a:cs typeface="Arial MT"/>
              </a:rPr>
              <a:t>how</a:t>
            </a:r>
            <a:r>
              <a:rPr sz="2550" spc="-20" dirty="0">
                <a:latin typeface="Arial MT"/>
                <a:cs typeface="Arial MT"/>
              </a:rPr>
              <a:t> </a:t>
            </a:r>
            <a:r>
              <a:rPr sz="2550" spc="-125" dirty="0">
                <a:latin typeface="Arial MT"/>
                <a:cs typeface="Arial MT"/>
              </a:rPr>
              <a:t>frequently</a:t>
            </a:r>
            <a:r>
              <a:rPr sz="2550" spc="7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it </a:t>
            </a:r>
            <a:r>
              <a:rPr sz="2400" spc="-114" dirty="0">
                <a:latin typeface="Arial MT"/>
                <a:cs typeface="Arial MT"/>
              </a:rPr>
              <a:t>appears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in</a:t>
            </a:r>
            <a:r>
              <a:rPr sz="2400" spc="-135" dirty="0">
                <a:latin typeface="Arial MT"/>
                <a:cs typeface="Arial MT"/>
              </a:rPr>
              <a:t> </a:t>
            </a:r>
            <a:r>
              <a:rPr sz="2400" spc="-50" dirty="0">
                <a:latin typeface="Arial MT"/>
                <a:cs typeface="Arial MT"/>
              </a:rPr>
              <a:t>all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transactions.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91143" y="6750050"/>
            <a:ext cx="4538345" cy="73660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614045" marR="5080" indent="-601980">
              <a:lnSpc>
                <a:spcPts val="2600"/>
              </a:lnSpc>
              <a:spcBef>
                <a:spcPts val="520"/>
              </a:spcBef>
            </a:pPr>
            <a:r>
              <a:rPr sz="2500" spc="-175" dirty="0">
                <a:latin typeface="Arial MT"/>
                <a:cs typeface="Arial MT"/>
              </a:rPr>
              <a:t>Business</a:t>
            </a:r>
            <a:r>
              <a:rPr sz="2500" spc="55" dirty="0">
                <a:latin typeface="Arial MT"/>
                <a:cs typeface="Arial MT"/>
              </a:rPr>
              <a:t> </a:t>
            </a:r>
            <a:r>
              <a:rPr sz="2500" spc="-150" dirty="0">
                <a:latin typeface="Arial MT"/>
                <a:cs typeface="Arial MT"/>
              </a:rPr>
              <a:t>Question: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spc="-220" dirty="0">
                <a:latin typeface="Arial MT"/>
                <a:cs typeface="Arial MT"/>
              </a:rPr>
              <a:t>How</a:t>
            </a:r>
            <a:r>
              <a:rPr sz="2500" spc="110" dirty="0">
                <a:latin typeface="Arial MT"/>
                <a:cs typeface="Arial MT"/>
              </a:rPr>
              <a:t> </a:t>
            </a:r>
            <a:r>
              <a:rPr sz="2500" spc="-220" dirty="0">
                <a:latin typeface="Arial MT"/>
                <a:cs typeface="Arial MT"/>
              </a:rPr>
              <a:t>common</a:t>
            </a:r>
            <a:r>
              <a:rPr sz="250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is </a:t>
            </a:r>
            <a:r>
              <a:rPr sz="2500" spc="-65" dirty="0">
                <a:latin typeface="Arial MT"/>
                <a:cs typeface="Arial MT"/>
              </a:rPr>
              <a:t>this</a:t>
            </a:r>
            <a:r>
              <a:rPr sz="2500" spc="-175" dirty="0">
                <a:latin typeface="Arial MT"/>
                <a:cs typeface="Arial MT"/>
              </a:rPr>
              <a:t> </a:t>
            </a:r>
            <a:r>
              <a:rPr sz="2500" spc="-75" dirty="0">
                <a:latin typeface="Arial MT"/>
                <a:cs typeface="Arial MT"/>
              </a:rPr>
              <a:t>product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-80" dirty="0">
                <a:latin typeface="Arial MT"/>
                <a:cs typeface="Arial MT"/>
              </a:rPr>
              <a:t>combination?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6016" y="8138583"/>
            <a:ext cx="4813300" cy="1168400"/>
          </a:xfrm>
          <a:prstGeom prst="rect">
            <a:avLst/>
          </a:prstGeom>
          <a:ln w="12700">
            <a:solidFill>
              <a:srgbClr val="8C7748"/>
            </a:solidFill>
          </a:ln>
        </p:spPr>
        <p:txBody>
          <a:bodyPr vert="horz" wrap="square" lIns="0" tIns="46355" rIns="0" bIns="0" rtlCol="0">
            <a:spAutoFit/>
          </a:bodyPr>
          <a:lstStyle/>
          <a:p>
            <a:pPr marL="509905" marR="467995" indent="78740" algn="ctr">
              <a:lnSpc>
                <a:spcPct val="91100"/>
              </a:lnSpc>
              <a:spcBef>
                <a:spcPts val="365"/>
              </a:spcBef>
              <a:tabLst>
                <a:tab pos="3130550" algn="l"/>
              </a:tabLst>
            </a:pPr>
            <a:r>
              <a:rPr sz="2350" dirty="0">
                <a:solidFill>
                  <a:srgbClr val="8E772F"/>
                </a:solidFill>
                <a:latin typeface="Arial MT"/>
                <a:cs typeface="Arial MT"/>
              </a:rPr>
              <a:t>min_support</a:t>
            </a:r>
            <a:r>
              <a:rPr sz="2350" spc="-55" dirty="0">
                <a:solidFill>
                  <a:srgbClr val="8E772F"/>
                </a:solidFill>
                <a:latin typeface="Arial MT"/>
                <a:cs typeface="Arial MT"/>
              </a:rPr>
              <a:t> </a:t>
            </a:r>
            <a:r>
              <a:rPr sz="2350" spc="-165" dirty="0">
                <a:solidFill>
                  <a:srgbClr val="90752B"/>
                </a:solidFill>
                <a:latin typeface="Arial MT"/>
                <a:cs typeface="Arial MT"/>
              </a:rPr>
              <a:t>=</a:t>
            </a:r>
            <a:r>
              <a:rPr sz="2350" spc="-35" dirty="0">
                <a:solidFill>
                  <a:srgbClr val="90752B"/>
                </a:solidFill>
                <a:latin typeface="Arial MT"/>
                <a:cs typeface="Arial MT"/>
              </a:rPr>
              <a:t> </a:t>
            </a:r>
            <a:r>
              <a:rPr sz="2350" spc="-25" dirty="0">
                <a:solidFill>
                  <a:srgbClr val="907426"/>
                </a:solidFill>
                <a:latin typeface="Arial MT"/>
                <a:cs typeface="Arial MT"/>
              </a:rPr>
              <a:t>0.2</a:t>
            </a:r>
            <a:r>
              <a:rPr sz="2350" dirty="0">
                <a:solidFill>
                  <a:srgbClr val="907426"/>
                </a:solidFill>
                <a:latin typeface="Arial MT"/>
                <a:cs typeface="Arial MT"/>
              </a:rPr>
              <a:t>	</a:t>
            </a:r>
            <a:r>
              <a:rPr sz="2350" spc="-30" dirty="0">
                <a:latin typeface="Arial MT"/>
                <a:cs typeface="Arial MT"/>
              </a:rPr>
              <a:t>(Itemsets </a:t>
            </a:r>
            <a:r>
              <a:rPr sz="2500" spc="-150" dirty="0">
                <a:latin typeface="Arial MT"/>
                <a:cs typeface="Arial MT"/>
              </a:rPr>
              <a:t>must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160" dirty="0">
                <a:latin typeface="Arial MT"/>
                <a:cs typeface="Arial MT"/>
              </a:rPr>
              <a:t>appear</a:t>
            </a:r>
            <a:r>
              <a:rPr sz="2500" spc="-15" dirty="0">
                <a:latin typeface="Arial MT"/>
                <a:cs typeface="Arial MT"/>
              </a:rPr>
              <a:t> </a:t>
            </a:r>
            <a:r>
              <a:rPr sz="2500" spc="-95" dirty="0">
                <a:latin typeface="Arial MT"/>
                <a:cs typeface="Arial MT"/>
              </a:rPr>
              <a:t>in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105" dirty="0">
                <a:latin typeface="Arial MT"/>
                <a:cs typeface="Arial MT"/>
              </a:rPr>
              <a:t>at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110" dirty="0">
                <a:latin typeface="Arial MT"/>
                <a:cs typeface="Arial MT"/>
              </a:rPr>
              <a:t>least</a:t>
            </a:r>
            <a:r>
              <a:rPr sz="2500" spc="-5" dirty="0">
                <a:latin typeface="Arial MT"/>
                <a:cs typeface="Arial MT"/>
              </a:rPr>
              <a:t> </a:t>
            </a:r>
            <a:r>
              <a:rPr sz="2500" spc="-270" dirty="0">
                <a:latin typeface="Arial MT"/>
                <a:cs typeface="Arial MT"/>
              </a:rPr>
              <a:t>20%</a:t>
            </a:r>
            <a:r>
              <a:rPr sz="2500" spc="-10" dirty="0">
                <a:latin typeface="Arial MT"/>
                <a:cs typeface="Arial MT"/>
              </a:rPr>
              <a:t> </a:t>
            </a:r>
            <a:r>
              <a:rPr sz="2500" spc="-85" dirty="0">
                <a:latin typeface="Arial MT"/>
                <a:cs typeface="Arial MT"/>
              </a:rPr>
              <a:t>of </a:t>
            </a:r>
            <a:r>
              <a:rPr sz="2350" spc="-10" dirty="0">
                <a:latin typeface="Arial MT"/>
                <a:cs typeface="Arial MT"/>
              </a:rPr>
              <a:t>baskets).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69971" y="4205494"/>
            <a:ext cx="4532630" cy="1942464"/>
          </a:xfrm>
          <a:prstGeom prst="rect">
            <a:avLst/>
          </a:prstGeom>
        </p:spPr>
        <p:txBody>
          <a:bodyPr vert="horz" wrap="square" lIns="0" tIns="264795" rIns="0" bIns="0" rtlCol="0">
            <a:spAutoFit/>
          </a:bodyPr>
          <a:lstStyle/>
          <a:p>
            <a:pPr marR="34925" algn="ctr">
              <a:lnSpc>
                <a:spcPct val="100000"/>
              </a:lnSpc>
              <a:spcBef>
                <a:spcPts val="2085"/>
              </a:spcBef>
            </a:pPr>
            <a:r>
              <a:rPr sz="2950" spc="-30" dirty="0">
                <a:solidFill>
                  <a:srgbClr val="052B4D"/>
                </a:solidFill>
                <a:latin typeface="Arial MT"/>
                <a:cs typeface="Arial MT"/>
              </a:rPr>
              <a:t>CONFIDENCE</a:t>
            </a:r>
            <a:endParaRPr sz="2950">
              <a:latin typeface="Arial MT"/>
              <a:cs typeface="Arial MT"/>
            </a:endParaRPr>
          </a:p>
          <a:p>
            <a:pPr marL="12700" marR="5080" algn="ctr">
              <a:lnSpc>
                <a:spcPts val="2600"/>
              </a:lnSpc>
              <a:spcBef>
                <a:spcPts val="1830"/>
              </a:spcBef>
            </a:pPr>
            <a:r>
              <a:rPr sz="2350" spc="-90" dirty="0">
                <a:latin typeface="Arial MT"/>
                <a:cs typeface="Arial MT"/>
              </a:rPr>
              <a:t>The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spc="-40" dirty="0">
                <a:latin typeface="Arial MT"/>
                <a:cs typeface="Arial MT"/>
              </a:rPr>
              <a:t>likelihood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-150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purchasing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Item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180" dirty="0">
                <a:latin typeface="Arial MT"/>
                <a:cs typeface="Arial MT"/>
              </a:rPr>
              <a:t>Y, </a:t>
            </a:r>
            <a:r>
              <a:rPr sz="2350" spc="-60" dirty="0">
                <a:latin typeface="Arial MT"/>
                <a:cs typeface="Arial MT"/>
              </a:rPr>
              <a:t>given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that</a:t>
            </a:r>
            <a:r>
              <a:rPr sz="2350" spc="-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Item</a:t>
            </a:r>
            <a:r>
              <a:rPr sz="2350" spc="-15" dirty="0">
                <a:latin typeface="Arial MT"/>
                <a:cs typeface="Arial MT"/>
              </a:rPr>
              <a:t> </a:t>
            </a:r>
            <a:r>
              <a:rPr sz="2350" spc="-395" dirty="0">
                <a:latin typeface="Arial MT"/>
                <a:cs typeface="Arial MT"/>
              </a:rPr>
              <a:t>X</a:t>
            </a:r>
            <a:r>
              <a:rPr sz="2350" spc="25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has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been </a:t>
            </a:r>
            <a:r>
              <a:rPr sz="2300" spc="-10" dirty="0">
                <a:latin typeface="Arial MT"/>
                <a:cs typeface="Arial MT"/>
              </a:rPr>
              <a:t>purchased.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507600" y="6767689"/>
            <a:ext cx="4458970" cy="104584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indent="-29209" algn="ctr">
              <a:lnSpc>
                <a:spcPts val="2600"/>
              </a:lnSpc>
              <a:spcBef>
                <a:spcPts val="380"/>
              </a:spcBef>
            </a:pPr>
            <a:r>
              <a:rPr sz="2350" spc="-90" dirty="0">
                <a:latin typeface="Arial MT"/>
                <a:cs typeface="Arial MT"/>
              </a:rPr>
              <a:t>Business</a:t>
            </a:r>
            <a:r>
              <a:rPr sz="2350" spc="85" dirty="0">
                <a:latin typeface="Arial MT"/>
                <a:cs typeface="Arial MT"/>
              </a:rPr>
              <a:t> </a:t>
            </a:r>
            <a:r>
              <a:rPr sz="2350" spc="-90" dirty="0">
                <a:latin typeface="Arial MT"/>
                <a:cs typeface="Arial MT"/>
              </a:rPr>
              <a:t>Question: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If</a:t>
            </a:r>
            <a:r>
              <a:rPr sz="2350" spc="30" dirty="0">
                <a:latin typeface="Arial MT"/>
                <a:cs typeface="Arial MT"/>
              </a:rPr>
              <a:t> </a:t>
            </a:r>
            <a:r>
              <a:rPr sz="2350" spc="-180" dirty="0">
                <a:latin typeface="Arial MT"/>
                <a:cs typeface="Arial MT"/>
              </a:rPr>
              <a:t>a</a:t>
            </a:r>
            <a:r>
              <a:rPr sz="2350" spc="-11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customer </a:t>
            </a:r>
            <a:r>
              <a:rPr sz="2400" spc="-50" dirty="0">
                <a:latin typeface="Arial MT"/>
                <a:cs typeface="Arial MT"/>
              </a:rPr>
              <a:t>buys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X,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0" dirty="0">
                <a:latin typeface="Arial MT"/>
                <a:cs typeface="Arial MT"/>
              </a:rPr>
              <a:t>how</a:t>
            </a:r>
            <a:r>
              <a:rPr sz="2400" spc="-6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often</a:t>
            </a:r>
            <a:r>
              <a:rPr sz="2400" spc="-145" dirty="0">
                <a:latin typeface="Arial MT"/>
                <a:cs typeface="Arial MT"/>
              </a:rPr>
              <a:t> </a:t>
            </a:r>
            <a:r>
              <a:rPr sz="2400" spc="-80" dirty="0">
                <a:latin typeface="Arial MT"/>
                <a:cs typeface="Arial MT"/>
              </a:rPr>
              <a:t>do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they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14" dirty="0">
                <a:latin typeface="Arial MT"/>
                <a:cs typeface="Arial MT"/>
              </a:rPr>
              <a:t>also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30" dirty="0">
                <a:latin typeface="Arial MT"/>
                <a:cs typeface="Arial MT"/>
              </a:rPr>
              <a:t>buy </a:t>
            </a:r>
            <a:r>
              <a:rPr sz="2350" spc="-25" dirty="0">
                <a:latin typeface="Arial MT"/>
                <a:cs typeface="Arial MT"/>
              </a:rPr>
              <a:t>Y?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301316" y="8138583"/>
            <a:ext cx="4813300" cy="1168400"/>
          </a:xfrm>
          <a:prstGeom prst="rect">
            <a:avLst/>
          </a:prstGeom>
          <a:ln w="12700">
            <a:solidFill>
              <a:srgbClr val="877448"/>
            </a:solidFill>
          </a:ln>
        </p:spPr>
        <p:txBody>
          <a:bodyPr vert="horz" wrap="square" lIns="0" tIns="50800" rIns="0" bIns="0" rtlCol="0">
            <a:spAutoFit/>
          </a:bodyPr>
          <a:lstStyle/>
          <a:p>
            <a:pPr marL="206375" marR="141605" indent="635" algn="ctr">
              <a:lnSpc>
                <a:spcPct val="93300"/>
              </a:lnSpc>
              <a:spcBef>
                <a:spcPts val="400"/>
              </a:spcBef>
            </a:pPr>
            <a:r>
              <a:rPr sz="2300" dirty="0">
                <a:solidFill>
                  <a:srgbClr val="9A8959"/>
                </a:solidFill>
                <a:latin typeface="Arial MT"/>
                <a:cs typeface="Arial MT"/>
              </a:rPr>
              <a:t>‘min_confidence</a:t>
            </a:r>
            <a:r>
              <a:rPr sz="2300" spc="-50" dirty="0">
                <a:solidFill>
                  <a:srgbClr val="9A8959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957C3F"/>
                </a:solidFill>
                <a:latin typeface="Arial MT"/>
                <a:cs typeface="Arial MT"/>
              </a:rPr>
              <a:t>=</a:t>
            </a:r>
            <a:r>
              <a:rPr sz="2300" spc="20" dirty="0">
                <a:solidFill>
                  <a:srgbClr val="957C3F"/>
                </a:solidFill>
                <a:latin typeface="Arial MT"/>
                <a:cs typeface="Arial MT"/>
              </a:rPr>
              <a:t> </a:t>
            </a:r>
            <a:r>
              <a:rPr sz="2300" dirty="0">
                <a:solidFill>
                  <a:srgbClr val="95772D"/>
                </a:solidFill>
                <a:latin typeface="Arial MT"/>
                <a:cs typeface="Arial MT"/>
              </a:rPr>
              <a:t>0.6’</a:t>
            </a:r>
            <a:r>
              <a:rPr sz="2300" spc="75" dirty="0">
                <a:solidFill>
                  <a:srgbClr val="95772D"/>
                </a:solidFill>
                <a:latin typeface="Arial MT"/>
                <a:cs typeface="Arial MT"/>
              </a:rPr>
              <a:t> </a:t>
            </a:r>
            <a:r>
              <a:rPr sz="2300" spc="-55" dirty="0">
                <a:latin typeface="Arial MT"/>
                <a:cs typeface="Arial MT"/>
              </a:rPr>
              <a:t>(The</a:t>
            </a:r>
            <a:r>
              <a:rPr sz="2300" spc="60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rule </a:t>
            </a:r>
            <a:r>
              <a:rPr sz="2350" spc="-45" dirty="0">
                <a:latin typeface="Arial MT"/>
                <a:cs typeface="Arial MT"/>
              </a:rPr>
              <a:t>must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be</a:t>
            </a:r>
            <a:r>
              <a:rPr sz="2350" spc="-16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correct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at</a:t>
            </a:r>
            <a:r>
              <a:rPr sz="2350" spc="-114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least</a:t>
            </a:r>
            <a:r>
              <a:rPr sz="2350" spc="10" dirty="0">
                <a:latin typeface="Arial MT"/>
                <a:cs typeface="Arial MT"/>
              </a:rPr>
              <a:t> </a:t>
            </a:r>
            <a:r>
              <a:rPr sz="2350" spc="-160" dirty="0">
                <a:latin typeface="Arial MT"/>
                <a:cs typeface="Arial MT"/>
              </a:rPr>
              <a:t>60%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of</a:t>
            </a:r>
            <a:r>
              <a:rPr sz="2350" spc="-114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the </a:t>
            </a:r>
            <a:r>
              <a:rPr sz="2350" spc="-10" dirty="0">
                <a:latin typeface="Arial MT"/>
                <a:cs typeface="Arial MT"/>
              </a:rPr>
              <a:t>time).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44214" y="4217894"/>
            <a:ext cx="4728845" cy="2260600"/>
          </a:xfrm>
          <a:prstGeom prst="rect">
            <a:avLst/>
          </a:prstGeom>
        </p:spPr>
        <p:txBody>
          <a:bodyPr vert="horz" wrap="square" lIns="0" tIns="25844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035"/>
              </a:spcBef>
            </a:pPr>
            <a:r>
              <a:rPr sz="2900" spc="-20" dirty="0">
                <a:solidFill>
                  <a:srgbClr val="0C3450"/>
                </a:solidFill>
                <a:latin typeface="Arial MT"/>
                <a:cs typeface="Arial MT"/>
              </a:rPr>
              <a:t>LIFT</a:t>
            </a:r>
            <a:endParaRPr sz="2900">
              <a:latin typeface="Arial MT"/>
              <a:cs typeface="Arial MT"/>
            </a:endParaRPr>
          </a:p>
          <a:p>
            <a:pPr marL="12700" marR="5080" indent="-2540" algn="ctr">
              <a:lnSpc>
                <a:spcPts val="2600"/>
              </a:lnSpc>
              <a:spcBef>
                <a:spcPts val="1839"/>
              </a:spcBef>
            </a:pPr>
            <a:r>
              <a:rPr sz="2350" spc="-95" dirty="0">
                <a:latin typeface="Arial MT"/>
                <a:cs typeface="Arial MT"/>
              </a:rPr>
              <a:t>The</a:t>
            </a:r>
            <a:r>
              <a:rPr sz="2350" spc="-80" dirty="0">
                <a:latin typeface="Arial MT"/>
                <a:cs typeface="Arial MT"/>
              </a:rPr>
              <a:t> </a:t>
            </a:r>
            <a:r>
              <a:rPr sz="2350" spc="-65" dirty="0">
                <a:latin typeface="Arial MT"/>
                <a:cs typeface="Arial MT"/>
              </a:rPr>
              <a:t>increase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</a:t>
            </a:r>
            <a:r>
              <a:rPr sz="2350" spc="-14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the</a:t>
            </a:r>
            <a:r>
              <a:rPr sz="2350" spc="-14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probability</a:t>
            </a:r>
            <a:r>
              <a:rPr sz="2350" spc="7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of </a:t>
            </a:r>
            <a:r>
              <a:rPr sz="2350" spc="-55" dirty="0">
                <a:latin typeface="Arial MT"/>
                <a:cs typeface="Arial MT"/>
              </a:rPr>
              <a:t>purchasing</a:t>
            </a:r>
            <a:r>
              <a:rPr sz="2350" spc="-11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Item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spc="-195" dirty="0">
                <a:latin typeface="Arial MT"/>
                <a:cs typeface="Arial MT"/>
              </a:rPr>
              <a:t>Y</a:t>
            </a:r>
            <a:r>
              <a:rPr sz="2350" spc="-40" dirty="0">
                <a:latin typeface="Arial MT"/>
                <a:cs typeface="Arial MT"/>
              </a:rPr>
              <a:t> </a:t>
            </a:r>
            <a:r>
              <a:rPr sz="2350" spc="-75" dirty="0">
                <a:latin typeface="Arial MT"/>
                <a:cs typeface="Arial MT"/>
              </a:rPr>
              <a:t>when</a:t>
            </a:r>
            <a:r>
              <a:rPr sz="2350" spc="-1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Item</a:t>
            </a:r>
            <a:r>
              <a:rPr sz="2350" spc="-80" dirty="0">
                <a:latin typeface="Arial MT"/>
                <a:cs typeface="Arial MT"/>
              </a:rPr>
              <a:t> </a:t>
            </a:r>
            <a:r>
              <a:rPr sz="2350" spc="-285" dirty="0">
                <a:latin typeface="Arial MT"/>
                <a:cs typeface="Arial MT"/>
              </a:rPr>
              <a:t>X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is </a:t>
            </a:r>
            <a:r>
              <a:rPr sz="2300" spc="-30" dirty="0">
                <a:latin typeface="Arial MT"/>
                <a:cs typeface="Arial MT"/>
              </a:rPr>
              <a:t>purchased.</a:t>
            </a:r>
            <a:r>
              <a:rPr sz="2300" spc="-130" dirty="0">
                <a:latin typeface="Arial MT"/>
                <a:cs typeface="Arial MT"/>
              </a:rPr>
              <a:t> </a:t>
            </a:r>
            <a:r>
              <a:rPr sz="2300" spc="-190" dirty="0">
                <a:latin typeface="Arial MT"/>
                <a:cs typeface="Arial MT"/>
              </a:rPr>
              <a:t>A</a:t>
            </a:r>
            <a:r>
              <a:rPr sz="2300" spc="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Lift</a:t>
            </a:r>
            <a:r>
              <a:rPr sz="2300" spc="75" dirty="0">
                <a:latin typeface="Arial MT"/>
                <a:cs typeface="Arial MT"/>
              </a:rPr>
              <a:t> </a:t>
            </a:r>
            <a:r>
              <a:rPr sz="2300" spc="-140" dirty="0">
                <a:latin typeface="Arial MT"/>
                <a:cs typeface="Arial MT"/>
              </a:rPr>
              <a:t>&gt;</a:t>
            </a:r>
            <a:r>
              <a:rPr sz="2300" spc="-70" dirty="0">
                <a:latin typeface="Arial MT"/>
                <a:cs typeface="Arial MT"/>
              </a:rPr>
              <a:t> </a:t>
            </a:r>
            <a:r>
              <a:rPr sz="2300" spc="-60" dirty="0">
                <a:latin typeface="Arial MT"/>
                <a:cs typeface="Arial MT"/>
              </a:rPr>
              <a:t>1</a:t>
            </a:r>
            <a:r>
              <a:rPr sz="2300" spc="-28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indicates</a:t>
            </a:r>
            <a:r>
              <a:rPr sz="2300" spc="10" dirty="0">
                <a:latin typeface="Arial MT"/>
                <a:cs typeface="Arial MT"/>
              </a:rPr>
              <a:t> </a:t>
            </a:r>
            <a:r>
              <a:rPr sz="2300" spc="-160" dirty="0">
                <a:latin typeface="Arial MT"/>
                <a:cs typeface="Arial MT"/>
              </a:rPr>
              <a:t>a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spc="-20" dirty="0">
                <a:latin typeface="Arial MT"/>
                <a:cs typeface="Arial MT"/>
              </a:rPr>
              <a:t>non- </a:t>
            </a:r>
            <a:r>
              <a:rPr sz="2300" spc="-35" dirty="0">
                <a:latin typeface="Arial MT"/>
                <a:cs typeface="Arial MT"/>
              </a:rPr>
              <a:t>random,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spc="-30" dirty="0">
                <a:latin typeface="Arial MT"/>
                <a:cs typeface="Arial MT"/>
              </a:rPr>
              <a:t>meaningful</a:t>
            </a:r>
            <a:r>
              <a:rPr sz="2300" spc="-2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association.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030335" y="6767689"/>
            <a:ext cx="4568825" cy="1045844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5080" algn="ctr">
              <a:lnSpc>
                <a:spcPts val="2600"/>
              </a:lnSpc>
              <a:spcBef>
                <a:spcPts val="380"/>
              </a:spcBef>
            </a:pPr>
            <a:r>
              <a:rPr sz="2350" spc="-90" dirty="0">
                <a:latin typeface="Arial MT"/>
                <a:cs typeface="Arial MT"/>
              </a:rPr>
              <a:t>Business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spc="-65" dirty="0">
                <a:latin typeface="Arial MT"/>
                <a:cs typeface="Arial MT"/>
              </a:rPr>
              <a:t>Question: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100" dirty="0">
                <a:latin typeface="Arial MT"/>
                <a:cs typeface="Arial MT"/>
              </a:rPr>
              <a:t>How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spc="-65" dirty="0">
                <a:latin typeface="Arial MT"/>
                <a:cs typeface="Arial MT"/>
              </a:rPr>
              <a:t>much</a:t>
            </a:r>
            <a:r>
              <a:rPr sz="2350" spc="-100" dirty="0">
                <a:latin typeface="Arial MT"/>
                <a:cs typeface="Arial MT"/>
              </a:rPr>
              <a:t> </a:t>
            </a:r>
            <a:r>
              <a:rPr sz="2350" spc="-60" dirty="0">
                <a:latin typeface="Arial MT"/>
                <a:cs typeface="Arial MT"/>
              </a:rPr>
              <a:t>more </a:t>
            </a:r>
            <a:r>
              <a:rPr sz="2350" spc="-30" dirty="0">
                <a:latin typeface="Arial MT"/>
                <a:cs typeface="Arial MT"/>
              </a:rPr>
              <a:t>likely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is</a:t>
            </a:r>
            <a:r>
              <a:rPr sz="2350" spc="-130" dirty="0">
                <a:latin typeface="Arial MT"/>
                <a:cs typeface="Arial MT"/>
              </a:rPr>
              <a:t> </a:t>
            </a:r>
            <a:r>
              <a:rPr sz="2350" spc="-180" dirty="0">
                <a:latin typeface="Arial MT"/>
                <a:cs typeface="Arial MT"/>
              </a:rPr>
              <a:t>a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customer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to</a:t>
            </a:r>
            <a:r>
              <a:rPr sz="2350" spc="-15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buy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spc="-335" dirty="0">
                <a:latin typeface="Arial MT"/>
                <a:cs typeface="Arial MT"/>
              </a:rPr>
              <a:t>Y </a:t>
            </a:r>
            <a:r>
              <a:rPr sz="2350" spc="-65" dirty="0">
                <a:latin typeface="Arial MT"/>
                <a:cs typeface="Arial MT"/>
              </a:rPr>
              <a:t>because</a:t>
            </a:r>
            <a:r>
              <a:rPr sz="2350" spc="-11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they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bought</a:t>
            </a:r>
            <a:r>
              <a:rPr sz="2350" spc="1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X?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876616" y="8138583"/>
            <a:ext cx="4826000" cy="1168400"/>
          </a:xfrm>
          <a:prstGeom prst="rect">
            <a:avLst/>
          </a:prstGeom>
          <a:ln w="12700">
            <a:solidFill>
              <a:srgbClr val="877444"/>
            </a:solidFill>
          </a:ln>
        </p:spPr>
        <p:txBody>
          <a:bodyPr vert="horz" wrap="square" lIns="0" tIns="53975" rIns="0" bIns="0" rtlCol="0">
            <a:spAutoFit/>
          </a:bodyPr>
          <a:lstStyle/>
          <a:p>
            <a:pPr marL="174625" marR="117475" indent="64135" algn="ctr">
              <a:lnSpc>
                <a:spcPct val="89300"/>
              </a:lnSpc>
              <a:spcBef>
                <a:spcPts val="425"/>
              </a:spcBef>
            </a:pPr>
            <a:r>
              <a:rPr sz="2400" spc="80" dirty="0">
                <a:solidFill>
                  <a:srgbClr val="957936"/>
                </a:solidFill>
                <a:latin typeface="Arial MT"/>
                <a:cs typeface="Arial MT"/>
              </a:rPr>
              <a:t>lift</a:t>
            </a:r>
            <a:r>
              <a:rPr sz="2400" spc="-160" dirty="0">
                <a:solidFill>
                  <a:srgbClr val="957936"/>
                </a:solidFill>
                <a:latin typeface="Arial MT"/>
                <a:cs typeface="Arial MT"/>
              </a:rPr>
              <a:t> </a:t>
            </a:r>
            <a:r>
              <a:rPr sz="2400" spc="-204" dirty="0">
                <a:solidFill>
                  <a:srgbClr val="937C3B"/>
                </a:solidFill>
                <a:latin typeface="Arial MT"/>
                <a:cs typeface="Arial MT"/>
              </a:rPr>
              <a:t>&gt;</a:t>
            </a:r>
            <a:r>
              <a:rPr sz="2400" spc="-210" dirty="0">
                <a:solidFill>
                  <a:srgbClr val="937C3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90742D"/>
                </a:solidFill>
                <a:latin typeface="Arial MT"/>
                <a:cs typeface="Arial MT"/>
              </a:rPr>
              <a:t>1‘</a:t>
            </a:r>
            <a:r>
              <a:rPr sz="2400" spc="-45" dirty="0">
                <a:solidFill>
                  <a:srgbClr val="90742D"/>
                </a:solidFill>
                <a:latin typeface="Arial MT"/>
                <a:cs typeface="Arial MT"/>
              </a:rPr>
              <a:t> </a:t>
            </a:r>
            <a:r>
              <a:rPr sz="2400" spc="-225" dirty="0">
                <a:latin typeface="Arial MT"/>
                <a:cs typeface="Arial MT"/>
              </a:rPr>
              <a:t>(We</a:t>
            </a:r>
            <a:r>
              <a:rPr sz="2400" spc="5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only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focus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90" dirty="0">
                <a:latin typeface="Arial MT"/>
                <a:cs typeface="Arial MT"/>
              </a:rPr>
              <a:t>on</a:t>
            </a:r>
            <a:r>
              <a:rPr sz="2400" spc="-7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rules </a:t>
            </a:r>
            <a:r>
              <a:rPr sz="2500" spc="-170" dirty="0">
                <a:latin typeface="Arial MT"/>
                <a:cs typeface="Arial MT"/>
              </a:rPr>
              <a:t>where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65" dirty="0">
                <a:latin typeface="Arial MT"/>
                <a:cs typeface="Arial MT"/>
              </a:rPr>
              <a:t>the</a:t>
            </a:r>
            <a:r>
              <a:rPr sz="2500" spc="-110" dirty="0">
                <a:latin typeface="Arial MT"/>
                <a:cs typeface="Arial MT"/>
              </a:rPr>
              <a:t> items'</a:t>
            </a:r>
            <a:r>
              <a:rPr sz="2500" spc="-65" dirty="0">
                <a:latin typeface="Arial MT"/>
                <a:cs typeface="Arial MT"/>
              </a:rPr>
              <a:t> </a:t>
            </a:r>
            <a:r>
              <a:rPr sz="2500" spc="-130" dirty="0">
                <a:latin typeface="Arial MT"/>
                <a:cs typeface="Arial MT"/>
              </a:rPr>
              <a:t>co-</a:t>
            </a:r>
            <a:r>
              <a:rPr sz="2500" spc="-105" dirty="0">
                <a:latin typeface="Arial MT"/>
                <a:cs typeface="Arial MT"/>
              </a:rPr>
              <a:t>purchase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100" dirty="0">
                <a:latin typeface="Arial MT"/>
                <a:cs typeface="Arial MT"/>
              </a:rPr>
              <a:t>is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80" dirty="0">
                <a:latin typeface="Arial MT"/>
                <a:cs typeface="Arial MT"/>
              </a:rPr>
              <a:t>not </a:t>
            </a:r>
            <a:r>
              <a:rPr sz="2400" spc="-10" dirty="0">
                <a:latin typeface="Arial MT"/>
                <a:cs typeface="Arial MT"/>
              </a:rPr>
              <a:t>coincidental).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107384" y="9439980"/>
            <a:ext cx="123253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dirty="0">
                <a:latin typeface="Arial MT"/>
                <a:cs typeface="Arial MT"/>
              </a:rPr>
              <a:t>G</a:t>
            </a:r>
            <a:r>
              <a:rPr sz="1300" spc="484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NotebookLM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02300" y="1739900"/>
            <a:ext cx="6070600" cy="44958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0786" rIns="0" bIns="0" rtlCol="0">
            <a:spAutoFit/>
          </a:bodyPr>
          <a:lstStyle/>
          <a:p>
            <a:pPr marL="1196340">
              <a:lnSpc>
                <a:spcPct val="100000"/>
              </a:lnSpc>
              <a:spcBef>
                <a:spcPts val="100"/>
              </a:spcBef>
            </a:pPr>
            <a:r>
              <a:rPr sz="5000" spc="110" dirty="0">
                <a:solidFill>
                  <a:srgbClr val="01385B"/>
                </a:solidFill>
              </a:rPr>
              <a:t>From</a:t>
            </a:r>
            <a:r>
              <a:rPr sz="5000" spc="-114" dirty="0">
                <a:solidFill>
                  <a:srgbClr val="01385B"/>
                </a:solidFill>
              </a:rPr>
              <a:t> </a:t>
            </a:r>
            <a:r>
              <a:rPr sz="7500" baseline="3333" dirty="0">
                <a:solidFill>
                  <a:srgbClr val="003660"/>
                </a:solidFill>
              </a:rPr>
              <a:t>88,</a:t>
            </a:r>
            <a:r>
              <a:rPr sz="7500" baseline="-3333" dirty="0">
                <a:solidFill>
                  <a:srgbClr val="003660"/>
                </a:solidFill>
              </a:rPr>
              <a:t>575</a:t>
            </a:r>
            <a:r>
              <a:rPr sz="5000" dirty="0">
                <a:solidFill>
                  <a:srgbClr val="01385D"/>
                </a:solidFill>
              </a:rPr>
              <a:t>Itemsets</a:t>
            </a:r>
            <a:r>
              <a:rPr sz="5000" spc="100" dirty="0">
                <a:solidFill>
                  <a:srgbClr val="01385D"/>
                </a:solidFill>
              </a:rPr>
              <a:t> </a:t>
            </a:r>
            <a:r>
              <a:rPr sz="5000" dirty="0">
                <a:solidFill>
                  <a:srgbClr val="01385E"/>
                </a:solidFill>
              </a:rPr>
              <a:t>to</a:t>
            </a:r>
            <a:r>
              <a:rPr sz="5000" spc="125" dirty="0">
                <a:solidFill>
                  <a:srgbClr val="01385E"/>
                </a:solidFill>
              </a:rPr>
              <a:t> </a:t>
            </a:r>
            <a:r>
              <a:rPr sz="7500" spc="82" baseline="-6111" dirty="0">
                <a:solidFill>
                  <a:srgbClr val="073D62"/>
                </a:solidFill>
              </a:rPr>
              <a:t>5</a:t>
            </a:r>
            <a:r>
              <a:rPr sz="7500" spc="-532" baseline="-6111" dirty="0">
                <a:solidFill>
                  <a:srgbClr val="073D62"/>
                </a:solidFill>
              </a:rPr>
              <a:t> </a:t>
            </a:r>
            <a:r>
              <a:rPr sz="5000" dirty="0">
                <a:solidFill>
                  <a:srgbClr val="01385E"/>
                </a:solidFill>
              </a:rPr>
              <a:t>Key</a:t>
            </a:r>
            <a:r>
              <a:rPr sz="5000" spc="-5" dirty="0">
                <a:solidFill>
                  <a:srgbClr val="01385E"/>
                </a:solidFill>
              </a:rPr>
              <a:t> </a:t>
            </a:r>
            <a:r>
              <a:rPr sz="5000" dirty="0">
                <a:solidFill>
                  <a:srgbClr val="013860"/>
                </a:solidFill>
              </a:rPr>
              <a:t>Business</a:t>
            </a:r>
            <a:r>
              <a:rPr sz="5000" spc="35" dirty="0">
                <a:solidFill>
                  <a:srgbClr val="013860"/>
                </a:solidFill>
              </a:rPr>
              <a:t> </a:t>
            </a:r>
            <a:r>
              <a:rPr sz="5000" spc="-10" dirty="0">
                <a:solidFill>
                  <a:srgbClr val="01365E"/>
                </a:solidFill>
              </a:rPr>
              <a:t>Insights</a:t>
            </a:r>
            <a:endParaRPr sz="5000"/>
          </a:p>
        </p:txBody>
      </p:sp>
      <p:sp>
        <p:nvSpPr>
          <p:cNvPr id="4" name="object 4"/>
          <p:cNvSpPr txBox="1"/>
          <p:nvPr/>
        </p:nvSpPr>
        <p:spPr>
          <a:xfrm>
            <a:off x="6076048" y="2476147"/>
            <a:ext cx="5633720" cy="6604000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886585" marR="801370" indent="13970">
              <a:lnSpc>
                <a:spcPts val="2350"/>
              </a:lnSpc>
              <a:spcBef>
                <a:spcPts val="370"/>
              </a:spcBef>
            </a:pPr>
            <a:r>
              <a:rPr sz="2150" spc="-85" dirty="0">
                <a:latin typeface="Arial MT"/>
                <a:cs typeface="Arial MT"/>
              </a:rPr>
              <a:t>88,575</a:t>
            </a:r>
            <a:r>
              <a:rPr sz="2150" spc="-55" dirty="0">
                <a:latin typeface="Arial MT"/>
                <a:cs typeface="Arial MT"/>
              </a:rPr>
              <a:t> </a:t>
            </a:r>
            <a:r>
              <a:rPr sz="2150" spc="-95" dirty="0">
                <a:latin typeface="Arial MT"/>
                <a:cs typeface="Arial MT"/>
              </a:rPr>
              <a:t>Frequent</a:t>
            </a:r>
            <a:r>
              <a:rPr sz="2150" spc="10" dirty="0">
                <a:latin typeface="Arial MT"/>
                <a:cs typeface="Arial MT"/>
              </a:rPr>
              <a:t> </a:t>
            </a:r>
            <a:r>
              <a:rPr sz="2150" spc="-40" dirty="0">
                <a:latin typeface="Arial MT"/>
                <a:cs typeface="Arial MT"/>
              </a:rPr>
              <a:t>Itemsets </a:t>
            </a:r>
            <a:r>
              <a:rPr sz="2150" spc="-10" dirty="0">
                <a:latin typeface="Arial MT"/>
                <a:cs typeface="Arial MT"/>
              </a:rPr>
              <a:t>Identified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30"/>
              </a:spcBef>
            </a:pPr>
            <a:endParaRPr sz="2150">
              <a:latin typeface="Arial MT"/>
              <a:cs typeface="Arial MT"/>
            </a:endParaRPr>
          </a:p>
          <a:p>
            <a:pPr marL="1891030" marR="1693545" indent="-639445">
              <a:lnSpc>
                <a:spcPts val="2350"/>
              </a:lnSpc>
              <a:tabLst>
                <a:tab pos="1890395" algn="l"/>
              </a:tabLst>
            </a:pPr>
            <a:r>
              <a:rPr sz="2050" dirty="0">
                <a:solidFill>
                  <a:srgbClr val="083457"/>
                </a:solidFill>
                <a:latin typeface="Arial MT"/>
                <a:cs typeface="Arial MT"/>
              </a:rPr>
              <a:t>\</a:t>
            </a:r>
            <a:r>
              <a:rPr sz="2050" spc="5" dirty="0">
                <a:solidFill>
                  <a:srgbClr val="083457"/>
                </a:solidFill>
                <a:latin typeface="Arial MT"/>
                <a:cs typeface="Arial MT"/>
              </a:rPr>
              <a:t> </a:t>
            </a:r>
            <a:r>
              <a:rPr sz="2050" spc="-50" dirty="0">
                <a:solidFill>
                  <a:srgbClr val="446480"/>
                </a:solidFill>
                <a:latin typeface="Arial MT"/>
                <a:cs typeface="Arial MT"/>
              </a:rPr>
              <a:t>t</a:t>
            </a:r>
            <a:r>
              <a:rPr sz="2050" dirty="0">
                <a:solidFill>
                  <a:srgbClr val="446480"/>
                </a:solidFill>
                <a:latin typeface="Arial MT"/>
                <a:cs typeface="Arial MT"/>
              </a:rPr>
              <a:t>	</a:t>
            </a:r>
            <a:r>
              <a:rPr sz="2050" dirty="0">
                <a:latin typeface="Arial MT"/>
                <a:cs typeface="Arial MT"/>
              </a:rPr>
              <a:t>Filtered</a:t>
            </a:r>
            <a:r>
              <a:rPr sz="2050" spc="35" dirty="0">
                <a:latin typeface="Arial MT"/>
                <a:cs typeface="Arial MT"/>
              </a:rPr>
              <a:t> </a:t>
            </a:r>
            <a:r>
              <a:rPr sz="2050" dirty="0">
                <a:latin typeface="Arial MT"/>
                <a:cs typeface="Arial MT"/>
              </a:rPr>
              <a:t>to</a:t>
            </a:r>
            <a:r>
              <a:rPr sz="2050" spc="-5" dirty="0">
                <a:latin typeface="Arial MT"/>
                <a:cs typeface="Arial MT"/>
              </a:rPr>
              <a:t> </a:t>
            </a:r>
            <a:r>
              <a:rPr sz="2050" spc="-10" dirty="0">
                <a:latin typeface="Arial MT"/>
                <a:cs typeface="Arial MT"/>
              </a:rPr>
              <a:t>2,145 </a:t>
            </a:r>
            <a:r>
              <a:rPr sz="2050" dirty="0">
                <a:latin typeface="Arial MT"/>
                <a:cs typeface="Arial MT"/>
              </a:rPr>
              <a:t>High-</a:t>
            </a:r>
            <a:r>
              <a:rPr sz="2050" spc="-10" dirty="0">
                <a:latin typeface="Arial MT"/>
                <a:cs typeface="Arial MT"/>
              </a:rPr>
              <a:t>Confidence,</a:t>
            </a:r>
            <a:endParaRPr sz="2050">
              <a:latin typeface="Arial MT"/>
              <a:cs typeface="Arial MT"/>
            </a:endParaRPr>
          </a:p>
          <a:p>
            <a:pPr marL="1158240">
              <a:lnSpc>
                <a:spcPts val="2310"/>
              </a:lnSpc>
              <a:tabLst>
                <a:tab pos="1889760" algn="l"/>
              </a:tabLst>
            </a:pPr>
            <a:r>
              <a:rPr sz="2150" dirty="0">
                <a:solidFill>
                  <a:srgbClr val="053354"/>
                </a:solidFill>
                <a:latin typeface="Arial MT"/>
                <a:cs typeface="Arial MT"/>
              </a:rPr>
              <a:t>y</a:t>
            </a:r>
            <a:r>
              <a:rPr sz="2150" spc="140" dirty="0">
                <a:solidFill>
                  <a:srgbClr val="053354"/>
                </a:solidFill>
                <a:latin typeface="Arial MT"/>
                <a:cs typeface="Arial MT"/>
              </a:rPr>
              <a:t> </a:t>
            </a:r>
            <a:r>
              <a:rPr sz="2150" spc="-50" dirty="0">
                <a:solidFill>
                  <a:srgbClr val="05233B"/>
                </a:solidFill>
                <a:latin typeface="Arial MT"/>
                <a:cs typeface="Arial MT"/>
              </a:rPr>
              <a:t>&gt;</a:t>
            </a:r>
            <a:r>
              <a:rPr sz="2150" dirty="0">
                <a:solidFill>
                  <a:srgbClr val="05233B"/>
                </a:solidFill>
                <a:latin typeface="Arial MT"/>
                <a:cs typeface="Arial MT"/>
              </a:rPr>
              <a:t>	</a:t>
            </a:r>
            <a:r>
              <a:rPr sz="2150" spc="-35" dirty="0">
                <a:latin typeface="Arial MT"/>
                <a:cs typeface="Arial MT"/>
              </a:rPr>
              <a:t>High-</a:t>
            </a:r>
            <a:r>
              <a:rPr sz="2150" dirty="0">
                <a:latin typeface="Arial MT"/>
                <a:cs typeface="Arial MT"/>
              </a:rPr>
              <a:t>Lift</a:t>
            </a:r>
            <a:r>
              <a:rPr sz="2150" spc="25" dirty="0">
                <a:latin typeface="Arial MT"/>
                <a:cs typeface="Arial MT"/>
              </a:rPr>
              <a:t> </a:t>
            </a:r>
            <a:r>
              <a:rPr sz="2150" spc="-10" dirty="0">
                <a:latin typeface="Arial MT"/>
                <a:cs typeface="Arial MT"/>
              </a:rPr>
              <a:t>Rules</a:t>
            </a:r>
            <a:endParaRPr sz="21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85"/>
              </a:spcBef>
            </a:pPr>
            <a:endParaRPr sz="2150">
              <a:latin typeface="Arial MT"/>
              <a:cs typeface="Arial MT"/>
            </a:endParaRPr>
          </a:p>
          <a:p>
            <a:pPr marL="1953895" marR="2266315" algn="ctr">
              <a:lnSpc>
                <a:spcPct val="89000"/>
              </a:lnSpc>
            </a:pPr>
            <a:r>
              <a:rPr sz="2200" spc="-90" dirty="0">
                <a:latin typeface="Arial MT"/>
                <a:cs typeface="Arial MT"/>
              </a:rPr>
              <a:t>Distilled</a:t>
            </a:r>
            <a:r>
              <a:rPr sz="2200" spc="1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into </a:t>
            </a:r>
            <a:r>
              <a:rPr sz="2200" spc="-95" dirty="0">
                <a:latin typeface="Arial MT"/>
                <a:cs typeface="Arial MT"/>
              </a:rPr>
              <a:t>5</a:t>
            </a:r>
            <a:r>
              <a:rPr sz="2200" spc="-16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Strategic Insights</a:t>
            </a:r>
            <a:endParaRPr sz="2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180"/>
              </a:spcBef>
            </a:pPr>
            <a:endParaRPr sz="2200">
              <a:latin typeface="Arial MT"/>
              <a:cs typeface="Arial MT"/>
            </a:endParaRPr>
          </a:p>
          <a:p>
            <a:pPr marL="1181100">
              <a:lnSpc>
                <a:spcPct val="100000"/>
              </a:lnSpc>
            </a:pPr>
            <a:r>
              <a:rPr sz="2850" spc="-95" dirty="0">
                <a:solidFill>
                  <a:srgbClr val="05365B"/>
                </a:solidFill>
                <a:latin typeface="Cambria"/>
                <a:cs typeface="Cambria"/>
              </a:rPr>
              <a:t>$</a:t>
            </a:r>
            <a:r>
              <a:rPr sz="2850" spc="-185" dirty="0">
                <a:solidFill>
                  <a:srgbClr val="05365B"/>
                </a:solidFill>
                <a:latin typeface="Cambria"/>
                <a:cs typeface="Cambria"/>
              </a:rPr>
              <a:t> </a:t>
            </a:r>
            <a:r>
              <a:rPr sz="2850" spc="-30" dirty="0">
                <a:solidFill>
                  <a:srgbClr val="073452"/>
                </a:solidFill>
                <a:latin typeface="Cambria"/>
                <a:cs typeface="Cambria"/>
              </a:rPr>
              <a:t>Strategic</a:t>
            </a:r>
            <a:r>
              <a:rPr sz="2850" spc="-45" dirty="0">
                <a:solidFill>
                  <a:srgbClr val="073452"/>
                </a:solidFill>
                <a:latin typeface="Cambria"/>
                <a:cs typeface="Cambria"/>
              </a:rPr>
              <a:t> </a:t>
            </a:r>
            <a:r>
              <a:rPr sz="2850" spc="-10" dirty="0">
                <a:solidFill>
                  <a:srgbClr val="032A52"/>
                </a:solidFill>
                <a:latin typeface="Cambria"/>
                <a:cs typeface="Cambria"/>
              </a:rPr>
              <a:t>Insights</a:t>
            </a:r>
            <a:endParaRPr sz="2850">
              <a:latin typeface="Cambria"/>
              <a:cs typeface="Cambria"/>
            </a:endParaRPr>
          </a:p>
          <a:p>
            <a:pPr marL="431800" indent="-419100">
              <a:lnSpc>
                <a:spcPct val="100000"/>
              </a:lnSpc>
              <a:spcBef>
                <a:spcPts val="830"/>
              </a:spcBef>
              <a:buAutoNum type="arabicPeriod"/>
              <a:tabLst>
                <a:tab pos="431800" algn="l"/>
              </a:tabLst>
            </a:pPr>
            <a:r>
              <a:rPr sz="2350" spc="-215" dirty="0">
                <a:latin typeface="Arial MT"/>
                <a:cs typeface="Arial MT"/>
              </a:rPr>
              <a:t>The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175" dirty="0">
                <a:latin typeface="Arial MT"/>
                <a:cs typeface="Arial MT"/>
              </a:rPr>
              <a:t>Central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240" dirty="0">
                <a:latin typeface="Arial MT"/>
                <a:cs typeface="Arial MT"/>
              </a:rPr>
              <a:t>Role</a:t>
            </a:r>
            <a:r>
              <a:rPr sz="2350" spc="-55" dirty="0">
                <a:latin typeface="Arial MT"/>
                <a:cs typeface="Arial MT"/>
              </a:rPr>
              <a:t> </a:t>
            </a:r>
            <a:r>
              <a:rPr sz="2350" spc="-95" dirty="0">
                <a:latin typeface="Arial MT"/>
                <a:cs typeface="Arial MT"/>
              </a:rPr>
              <a:t>of</a:t>
            </a:r>
            <a:r>
              <a:rPr sz="2350" spc="-10" dirty="0">
                <a:latin typeface="Arial MT"/>
                <a:cs typeface="Arial MT"/>
              </a:rPr>
              <a:t> </a:t>
            </a:r>
            <a:r>
              <a:rPr sz="2350" spc="-190" dirty="0">
                <a:latin typeface="Arial MT"/>
                <a:cs typeface="Arial MT"/>
              </a:rPr>
              <a:t>Staple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Products</a:t>
            </a:r>
            <a:endParaRPr sz="2350">
              <a:latin typeface="Arial MT"/>
              <a:cs typeface="Arial MT"/>
            </a:endParaRPr>
          </a:p>
          <a:p>
            <a:pPr marL="429895" indent="-405765">
              <a:lnSpc>
                <a:spcPct val="100000"/>
              </a:lnSpc>
              <a:spcBef>
                <a:spcPts val="480"/>
              </a:spcBef>
              <a:buAutoNum type="arabicPeriod"/>
              <a:tabLst>
                <a:tab pos="429895" algn="l"/>
              </a:tabLst>
            </a:pPr>
            <a:r>
              <a:rPr sz="2200" spc="-90" dirty="0">
                <a:latin typeface="Arial MT"/>
                <a:cs typeface="Arial MT"/>
              </a:rPr>
              <a:t>Powerful</a:t>
            </a:r>
            <a:r>
              <a:rPr sz="2200" spc="-65" dirty="0">
                <a:latin typeface="Arial MT"/>
                <a:cs typeface="Arial MT"/>
              </a:rPr>
              <a:t> </a:t>
            </a:r>
            <a:r>
              <a:rPr sz="2200" spc="-105" dirty="0">
                <a:latin typeface="Arial MT"/>
                <a:cs typeface="Arial MT"/>
              </a:rPr>
              <a:t>Complementary</a:t>
            </a:r>
            <a:r>
              <a:rPr sz="2200" spc="120" dirty="0">
                <a:latin typeface="Arial MT"/>
                <a:cs typeface="Arial MT"/>
              </a:rPr>
              <a:t> </a:t>
            </a:r>
            <a:r>
              <a:rPr sz="2200" spc="-145" dirty="0">
                <a:latin typeface="Arial MT"/>
                <a:cs typeface="Arial MT"/>
              </a:rPr>
              <a:t>Purchase</a:t>
            </a:r>
            <a:r>
              <a:rPr sz="2200" spc="-10" dirty="0">
                <a:latin typeface="Arial MT"/>
                <a:cs typeface="Arial MT"/>
              </a:rPr>
              <a:t> Patterns</a:t>
            </a:r>
            <a:endParaRPr sz="2200">
              <a:latin typeface="Arial MT"/>
              <a:cs typeface="Arial MT"/>
            </a:endParaRPr>
          </a:p>
          <a:p>
            <a:pPr marL="428625" indent="-40830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28625" algn="l"/>
              </a:tabLst>
            </a:pPr>
            <a:r>
              <a:rPr sz="2200" spc="-95" dirty="0">
                <a:latin typeface="Arial MT"/>
                <a:cs typeface="Arial MT"/>
              </a:rPr>
              <a:t>Hidden</a:t>
            </a:r>
            <a:r>
              <a:rPr sz="2200" spc="30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Cross-Category</a:t>
            </a:r>
            <a:r>
              <a:rPr sz="2200" spc="-140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Opportunities</a:t>
            </a:r>
            <a:endParaRPr sz="2200">
              <a:latin typeface="Arial MT"/>
              <a:cs typeface="Arial MT"/>
            </a:endParaRPr>
          </a:p>
          <a:p>
            <a:pPr marL="444500" indent="-415925">
              <a:lnSpc>
                <a:spcPct val="100000"/>
              </a:lnSpc>
              <a:spcBef>
                <a:spcPts val="459"/>
              </a:spcBef>
              <a:buAutoNum type="arabicPeriod"/>
              <a:tabLst>
                <a:tab pos="444500" algn="l"/>
              </a:tabLst>
            </a:pPr>
            <a:r>
              <a:rPr sz="2200" spc="-160" dirty="0">
                <a:latin typeface="Arial MT"/>
                <a:cs typeface="Arial MT"/>
              </a:rPr>
              <a:t>The</a:t>
            </a:r>
            <a:r>
              <a:rPr sz="2200" spc="-30" dirty="0">
                <a:latin typeface="Arial MT"/>
                <a:cs typeface="Arial MT"/>
              </a:rPr>
              <a:t> </a:t>
            </a:r>
            <a:r>
              <a:rPr sz="2200" spc="-75" dirty="0">
                <a:latin typeface="Arial MT"/>
                <a:cs typeface="Arial MT"/>
              </a:rPr>
              <a:t>Strategic</a:t>
            </a:r>
            <a:r>
              <a:rPr sz="2200" spc="-80" dirty="0">
                <a:latin typeface="Arial MT"/>
                <a:cs typeface="Arial MT"/>
              </a:rPr>
              <a:t> </a:t>
            </a:r>
            <a:r>
              <a:rPr sz="2200" spc="-155" dirty="0">
                <a:latin typeface="Arial MT"/>
                <a:cs typeface="Arial MT"/>
              </a:rPr>
              <a:t>Value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of</a:t>
            </a:r>
            <a:r>
              <a:rPr sz="2200" spc="-105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Directional</a:t>
            </a:r>
            <a:r>
              <a:rPr sz="2200" spc="45" dirty="0">
                <a:latin typeface="Arial MT"/>
                <a:cs typeface="Arial MT"/>
              </a:rPr>
              <a:t> </a:t>
            </a:r>
            <a:r>
              <a:rPr sz="2200" spc="-10" dirty="0">
                <a:latin typeface="Arial MT"/>
                <a:cs typeface="Arial MT"/>
              </a:rPr>
              <a:t>Rules</a:t>
            </a:r>
            <a:endParaRPr sz="2200">
              <a:latin typeface="Arial MT"/>
              <a:cs typeface="Arial MT"/>
            </a:endParaRPr>
          </a:p>
          <a:p>
            <a:pPr marL="438784" indent="-418465">
              <a:lnSpc>
                <a:spcPct val="100000"/>
              </a:lnSpc>
              <a:spcBef>
                <a:spcPts val="560"/>
              </a:spcBef>
              <a:buAutoNum type="arabicPeriod"/>
              <a:tabLst>
                <a:tab pos="438784" algn="l"/>
              </a:tabLst>
            </a:pPr>
            <a:r>
              <a:rPr sz="2200" spc="-210" dirty="0">
                <a:latin typeface="Arial MT"/>
                <a:cs typeface="Arial MT"/>
              </a:rPr>
              <a:t>A</a:t>
            </a:r>
            <a:r>
              <a:rPr sz="2200" spc="-60" dirty="0">
                <a:latin typeface="Arial MT"/>
                <a:cs typeface="Arial MT"/>
              </a:rPr>
              <a:t> </a:t>
            </a:r>
            <a:r>
              <a:rPr sz="2200" spc="-120" dirty="0">
                <a:latin typeface="Arial MT"/>
                <a:cs typeface="Arial MT"/>
              </a:rPr>
              <a:t>Framework</a:t>
            </a:r>
            <a:r>
              <a:rPr sz="2200" dirty="0">
                <a:latin typeface="Arial MT"/>
                <a:cs typeface="Arial MT"/>
              </a:rPr>
              <a:t> </a:t>
            </a:r>
            <a:r>
              <a:rPr sz="2200" spc="-20" dirty="0">
                <a:latin typeface="Arial MT"/>
                <a:cs typeface="Arial MT"/>
              </a:rPr>
              <a:t>for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100" dirty="0">
                <a:latin typeface="Arial MT"/>
                <a:cs typeface="Arial MT"/>
              </a:rPr>
              <a:t>Actionable</a:t>
            </a:r>
            <a:r>
              <a:rPr sz="2200" spc="-5" dirty="0">
                <a:latin typeface="Arial MT"/>
                <a:cs typeface="Arial MT"/>
              </a:rPr>
              <a:t> </a:t>
            </a:r>
            <a:r>
              <a:rPr sz="2200" spc="-85" dirty="0">
                <a:latin typeface="Arial MT"/>
                <a:cs typeface="Arial MT"/>
              </a:rPr>
              <a:t>Decision-</a:t>
            </a:r>
            <a:r>
              <a:rPr sz="2200" spc="-10" dirty="0">
                <a:latin typeface="Arial MT"/>
                <a:cs typeface="Arial MT"/>
              </a:rPr>
              <a:t>Making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4100" y="7327900"/>
            <a:ext cx="558800" cy="5715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27100" y="596900"/>
            <a:ext cx="850900" cy="863600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05416" y="8373533"/>
            <a:ext cx="0" cy="584200"/>
          </a:xfrm>
          <a:custGeom>
            <a:avLst/>
            <a:gdLst/>
            <a:ahLst/>
            <a:cxnLst/>
            <a:rect l="l" t="t" r="r" b="b"/>
            <a:pathLst>
              <a:path h="584200">
                <a:moveTo>
                  <a:pt x="0" y="584200"/>
                </a:moveTo>
                <a:lnTo>
                  <a:pt x="0" y="0"/>
                </a:lnTo>
              </a:path>
            </a:pathLst>
          </a:custGeom>
          <a:ln w="12700">
            <a:solidFill>
              <a:srgbClr val="2F3F4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999066" y="8373533"/>
            <a:ext cx="622300" cy="584200"/>
            <a:chOff x="999066" y="8373533"/>
            <a:chExt cx="622300" cy="584200"/>
          </a:xfrm>
        </p:grpSpPr>
        <p:sp>
          <p:nvSpPr>
            <p:cNvPr id="6" name="object 6"/>
            <p:cNvSpPr/>
            <p:nvPr/>
          </p:nvSpPr>
          <p:spPr>
            <a:xfrm>
              <a:off x="1615017" y="8373533"/>
              <a:ext cx="0" cy="584200"/>
            </a:xfrm>
            <a:custGeom>
              <a:avLst/>
              <a:gdLst/>
              <a:ahLst/>
              <a:cxnLst/>
              <a:rect l="l" t="t" r="r" b="b"/>
              <a:pathLst>
                <a:path h="584200">
                  <a:moveTo>
                    <a:pt x="0" y="5842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2F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99066" y="8379883"/>
              <a:ext cx="622300" cy="0"/>
            </a:xfrm>
            <a:custGeom>
              <a:avLst/>
              <a:gdLst/>
              <a:ahLst/>
              <a:cxnLst/>
              <a:rect l="l" t="t" r="r" b="b"/>
              <a:pathLst>
                <a:path w="622300">
                  <a:moveTo>
                    <a:pt x="0" y="0"/>
                  </a:moveTo>
                  <a:lnTo>
                    <a:pt x="622300" y="0"/>
                  </a:lnTo>
                </a:path>
              </a:pathLst>
            </a:custGeom>
            <a:ln w="12700">
              <a:solidFill>
                <a:srgbClr val="2F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9066" y="8951383"/>
              <a:ext cx="622300" cy="0"/>
            </a:xfrm>
            <a:custGeom>
              <a:avLst/>
              <a:gdLst/>
              <a:ahLst/>
              <a:cxnLst/>
              <a:rect l="l" t="t" r="r" b="b"/>
              <a:pathLst>
                <a:path w="622300">
                  <a:moveTo>
                    <a:pt x="0" y="0"/>
                  </a:moveTo>
                  <a:lnTo>
                    <a:pt x="622300" y="0"/>
                  </a:lnTo>
                </a:path>
              </a:pathLst>
            </a:custGeom>
            <a:ln w="12700">
              <a:solidFill>
                <a:srgbClr val="2F3F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946985" y="552449"/>
            <a:ext cx="11544300" cy="149225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3112135" marR="5080" indent="-3100070">
              <a:lnSpc>
                <a:spcPts val="5550"/>
              </a:lnSpc>
              <a:spcBef>
                <a:spcPts val="650"/>
              </a:spcBef>
            </a:pPr>
            <a:r>
              <a:rPr sz="5000" spc="-90" dirty="0">
                <a:solidFill>
                  <a:srgbClr val="1A1A1A"/>
                </a:solidFill>
              </a:rPr>
              <a:t>Insight</a:t>
            </a:r>
            <a:r>
              <a:rPr sz="5000" spc="-185" dirty="0">
                <a:solidFill>
                  <a:srgbClr val="1A1A1A"/>
                </a:solidFill>
              </a:rPr>
              <a:t> </a:t>
            </a:r>
            <a:r>
              <a:rPr sz="5000" spc="-310" dirty="0">
                <a:solidFill>
                  <a:srgbClr val="181818"/>
                </a:solidFill>
              </a:rPr>
              <a:t>1:</a:t>
            </a:r>
            <a:r>
              <a:rPr sz="5000" spc="-114" dirty="0">
                <a:solidFill>
                  <a:srgbClr val="181818"/>
                </a:solidFill>
              </a:rPr>
              <a:t> </a:t>
            </a:r>
            <a:r>
              <a:rPr sz="5000" spc="-75" dirty="0">
                <a:solidFill>
                  <a:srgbClr val="232323"/>
                </a:solidFill>
              </a:rPr>
              <a:t>Staple</a:t>
            </a:r>
            <a:r>
              <a:rPr sz="5000" spc="-200" dirty="0">
                <a:solidFill>
                  <a:srgbClr val="232323"/>
                </a:solidFill>
              </a:rPr>
              <a:t> </a:t>
            </a:r>
            <a:r>
              <a:rPr sz="5000" spc="-55" dirty="0">
                <a:solidFill>
                  <a:srgbClr val="181818"/>
                </a:solidFill>
              </a:rPr>
              <a:t>Products</a:t>
            </a:r>
            <a:r>
              <a:rPr sz="5000" spc="-220" dirty="0">
                <a:solidFill>
                  <a:srgbClr val="181818"/>
                </a:solidFill>
              </a:rPr>
              <a:t> </a:t>
            </a:r>
            <a:r>
              <a:rPr sz="5000" spc="-140" dirty="0">
                <a:solidFill>
                  <a:srgbClr val="2A2A2A"/>
                </a:solidFill>
              </a:rPr>
              <a:t>are</a:t>
            </a:r>
            <a:r>
              <a:rPr sz="5000" spc="-135" dirty="0">
                <a:solidFill>
                  <a:srgbClr val="2A2A2A"/>
                </a:solidFill>
              </a:rPr>
              <a:t> </a:t>
            </a:r>
            <a:r>
              <a:rPr sz="5000" dirty="0">
                <a:solidFill>
                  <a:srgbClr val="1C1C1C"/>
                </a:solidFill>
              </a:rPr>
              <a:t>the</a:t>
            </a:r>
            <a:r>
              <a:rPr sz="5000" spc="-200" dirty="0">
                <a:solidFill>
                  <a:srgbClr val="1C1C1C"/>
                </a:solidFill>
              </a:rPr>
              <a:t> </a:t>
            </a:r>
            <a:r>
              <a:rPr sz="5000" spc="-75" dirty="0">
                <a:solidFill>
                  <a:srgbClr val="242424"/>
                </a:solidFill>
              </a:rPr>
              <a:t>Anchors</a:t>
            </a:r>
            <a:r>
              <a:rPr sz="5000" spc="-120" dirty="0">
                <a:solidFill>
                  <a:srgbClr val="242424"/>
                </a:solidFill>
              </a:rPr>
              <a:t> </a:t>
            </a:r>
            <a:r>
              <a:rPr sz="5000" spc="-25" dirty="0"/>
              <a:t>of </a:t>
            </a:r>
            <a:r>
              <a:rPr sz="5000" spc="-10" dirty="0">
                <a:solidFill>
                  <a:srgbClr val="212121"/>
                </a:solidFill>
              </a:rPr>
              <a:t>the</a:t>
            </a:r>
            <a:r>
              <a:rPr sz="5000" spc="-265" dirty="0">
                <a:solidFill>
                  <a:srgbClr val="212121"/>
                </a:solidFill>
              </a:rPr>
              <a:t> </a:t>
            </a:r>
            <a:r>
              <a:rPr sz="5000" spc="-70" dirty="0">
                <a:solidFill>
                  <a:srgbClr val="1A1A1A"/>
                </a:solidFill>
              </a:rPr>
              <a:t>Shopping</a:t>
            </a:r>
            <a:r>
              <a:rPr sz="5000" spc="-185" dirty="0">
                <a:solidFill>
                  <a:srgbClr val="1A1A1A"/>
                </a:solidFill>
              </a:rPr>
              <a:t> </a:t>
            </a:r>
            <a:r>
              <a:rPr sz="5000" spc="-10" dirty="0">
                <a:solidFill>
                  <a:srgbClr val="212121"/>
                </a:solidFill>
              </a:rPr>
              <a:t>Basket</a:t>
            </a:r>
            <a:endParaRPr sz="500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963925" y="2124154"/>
            <a:ext cx="14474825" cy="68910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79375">
              <a:lnSpc>
                <a:spcPct val="100000"/>
              </a:lnSpc>
              <a:spcBef>
                <a:spcPts val="875"/>
              </a:spcBef>
            </a:pPr>
            <a:r>
              <a:rPr sz="3550" spc="-120" dirty="0">
                <a:solidFill>
                  <a:srgbClr val="052842"/>
                </a:solidFill>
                <a:latin typeface="Arial MT"/>
                <a:cs typeface="Arial MT"/>
              </a:rPr>
              <a:t>The</a:t>
            </a:r>
            <a:r>
              <a:rPr sz="3550" spc="-114" dirty="0">
                <a:solidFill>
                  <a:srgbClr val="052842"/>
                </a:solidFill>
                <a:latin typeface="Arial MT"/>
                <a:cs typeface="Arial MT"/>
              </a:rPr>
              <a:t> </a:t>
            </a:r>
            <a:r>
              <a:rPr sz="3550" spc="-10" dirty="0">
                <a:solidFill>
                  <a:srgbClr val="0E314B"/>
                </a:solidFill>
                <a:latin typeface="Arial MT"/>
                <a:cs typeface="Arial MT"/>
              </a:rPr>
              <a:t>Finding</a:t>
            </a:r>
            <a:endParaRPr sz="3550">
              <a:latin typeface="Arial MT"/>
              <a:cs typeface="Arial MT"/>
            </a:endParaRPr>
          </a:p>
          <a:p>
            <a:pPr marL="63500" marR="1863089" indent="12065" algn="just">
              <a:lnSpc>
                <a:spcPct val="97000"/>
              </a:lnSpc>
              <a:spcBef>
                <a:spcPts val="735"/>
              </a:spcBef>
            </a:pPr>
            <a:r>
              <a:rPr sz="2750" dirty="0">
                <a:latin typeface="Arial MT"/>
                <a:cs typeface="Arial MT"/>
              </a:rPr>
              <a:t>Products</a:t>
            </a:r>
            <a:r>
              <a:rPr sz="2750" spc="-19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like</a:t>
            </a:r>
            <a:r>
              <a:rPr sz="2750" spc="-190" dirty="0">
                <a:latin typeface="Arial MT"/>
                <a:cs typeface="Arial MT"/>
              </a:rPr>
              <a:t> </a:t>
            </a:r>
            <a:r>
              <a:rPr sz="2750" spc="-70" dirty="0">
                <a:latin typeface="Arial MT"/>
                <a:cs typeface="Arial MT"/>
              </a:rPr>
              <a:t>Atta,</a:t>
            </a:r>
            <a:r>
              <a:rPr sz="2750" spc="-120" dirty="0">
                <a:latin typeface="Arial MT"/>
                <a:cs typeface="Arial MT"/>
              </a:rPr>
              <a:t> </a:t>
            </a:r>
            <a:r>
              <a:rPr sz="2750" spc="-135" dirty="0">
                <a:latin typeface="Arial MT"/>
                <a:cs typeface="Arial MT"/>
              </a:rPr>
              <a:t>Rice,</a:t>
            </a:r>
            <a:r>
              <a:rPr sz="2750" spc="-55" dirty="0">
                <a:latin typeface="Arial MT"/>
                <a:cs typeface="Arial MT"/>
              </a:rPr>
              <a:t> </a:t>
            </a:r>
            <a:r>
              <a:rPr sz="2750" spc="-35" dirty="0">
                <a:latin typeface="Arial MT"/>
                <a:cs typeface="Arial MT"/>
              </a:rPr>
              <a:t>Cooking</a:t>
            </a:r>
            <a:r>
              <a:rPr sz="2750" spc="-155" dirty="0">
                <a:latin typeface="Arial MT"/>
                <a:cs typeface="Arial MT"/>
              </a:rPr>
              <a:t> </a:t>
            </a:r>
            <a:r>
              <a:rPr sz="2750" spc="-150" dirty="0">
                <a:latin typeface="Arial MT"/>
                <a:cs typeface="Arial MT"/>
              </a:rPr>
              <a:t>Oil,</a:t>
            </a:r>
            <a:r>
              <a:rPr sz="2750" spc="-40" dirty="0">
                <a:latin typeface="Arial MT"/>
                <a:cs typeface="Arial MT"/>
              </a:rPr>
              <a:t> </a:t>
            </a:r>
            <a:r>
              <a:rPr sz="2750" spc="-35" dirty="0">
                <a:latin typeface="Arial MT"/>
                <a:cs typeface="Arial MT"/>
              </a:rPr>
              <a:t>Potato,</a:t>
            </a:r>
            <a:r>
              <a:rPr sz="2750" spc="-155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and</a:t>
            </a:r>
            <a:r>
              <a:rPr sz="2750" spc="-140" dirty="0">
                <a:latin typeface="Arial MT"/>
                <a:cs typeface="Arial MT"/>
              </a:rPr>
              <a:t> </a:t>
            </a:r>
            <a:r>
              <a:rPr sz="2750" spc="-60" dirty="0">
                <a:latin typeface="Arial MT"/>
                <a:cs typeface="Arial MT"/>
              </a:rPr>
              <a:t>Soap</a:t>
            </a:r>
            <a:r>
              <a:rPr sz="2750" spc="-95" dirty="0">
                <a:latin typeface="Arial MT"/>
                <a:cs typeface="Arial MT"/>
              </a:rPr>
              <a:t> </a:t>
            </a:r>
            <a:r>
              <a:rPr sz="2750" spc="-90" dirty="0">
                <a:latin typeface="Arial MT"/>
                <a:cs typeface="Arial MT"/>
              </a:rPr>
              <a:t>have</a:t>
            </a:r>
            <a:r>
              <a:rPr sz="2750" spc="-100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extremely</a:t>
            </a:r>
            <a:r>
              <a:rPr sz="2750" spc="3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high</a:t>
            </a:r>
            <a:r>
              <a:rPr sz="2750" spc="-85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support, </a:t>
            </a:r>
            <a:r>
              <a:rPr sz="2750" spc="-45" dirty="0">
                <a:latin typeface="Arial MT"/>
                <a:cs typeface="Arial MT"/>
              </a:rPr>
              <a:t>appearing</a:t>
            </a:r>
            <a:r>
              <a:rPr sz="2750" spc="-1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in</a:t>
            </a:r>
            <a:r>
              <a:rPr sz="2750" spc="-19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the</a:t>
            </a:r>
            <a:r>
              <a:rPr sz="2750" spc="-19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majority</a:t>
            </a:r>
            <a:r>
              <a:rPr sz="2750" spc="-5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of</a:t>
            </a:r>
            <a:r>
              <a:rPr sz="2750" spc="-15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all</a:t>
            </a:r>
            <a:r>
              <a:rPr sz="2750" spc="-190" dirty="0">
                <a:latin typeface="Arial MT"/>
                <a:cs typeface="Arial MT"/>
              </a:rPr>
              <a:t> </a:t>
            </a:r>
            <a:r>
              <a:rPr sz="2750" dirty="0">
                <a:latin typeface="Arial MT"/>
                <a:cs typeface="Arial MT"/>
              </a:rPr>
              <a:t>transactions.</a:t>
            </a:r>
            <a:r>
              <a:rPr sz="2750" spc="75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Atta,</a:t>
            </a:r>
            <a:r>
              <a:rPr sz="2750" spc="-140" dirty="0">
                <a:latin typeface="Arial MT"/>
                <a:cs typeface="Arial MT"/>
              </a:rPr>
              <a:t> </a:t>
            </a:r>
            <a:r>
              <a:rPr sz="2750" spc="-35" dirty="0">
                <a:latin typeface="Arial MT"/>
                <a:cs typeface="Arial MT"/>
              </a:rPr>
              <a:t>Potato,</a:t>
            </a:r>
            <a:r>
              <a:rPr sz="2750" spc="-155" dirty="0">
                <a:latin typeface="Arial MT"/>
                <a:cs typeface="Arial MT"/>
              </a:rPr>
              <a:t> </a:t>
            </a:r>
            <a:r>
              <a:rPr sz="2750" spc="-50" dirty="0">
                <a:latin typeface="Arial MT"/>
                <a:cs typeface="Arial MT"/>
              </a:rPr>
              <a:t>and</a:t>
            </a:r>
            <a:r>
              <a:rPr sz="2750" spc="-145" dirty="0">
                <a:latin typeface="Arial MT"/>
                <a:cs typeface="Arial MT"/>
              </a:rPr>
              <a:t> </a:t>
            </a:r>
            <a:r>
              <a:rPr sz="2750" spc="-30" dirty="0">
                <a:latin typeface="Arial MT"/>
                <a:cs typeface="Arial MT"/>
              </a:rPr>
              <a:t>Soap</a:t>
            </a:r>
            <a:r>
              <a:rPr sz="2750" spc="-35" dirty="0">
                <a:latin typeface="Arial MT"/>
                <a:cs typeface="Arial MT"/>
              </a:rPr>
              <a:t> </a:t>
            </a:r>
            <a:r>
              <a:rPr sz="2750" spc="-75" dirty="0">
                <a:latin typeface="Arial MT"/>
                <a:cs typeface="Arial MT"/>
              </a:rPr>
              <a:t>were</a:t>
            </a:r>
            <a:r>
              <a:rPr sz="2750" spc="-114" dirty="0">
                <a:latin typeface="Arial MT"/>
                <a:cs typeface="Arial MT"/>
              </a:rPr>
              <a:t> </a:t>
            </a:r>
            <a:r>
              <a:rPr sz="2750" spc="-20" dirty="0">
                <a:latin typeface="Arial MT"/>
                <a:cs typeface="Arial MT"/>
              </a:rPr>
              <a:t>present</a:t>
            </a:r>
            <a:r>
              <a:rPr sz="2750" spc="45" dirty="0">
                <a:latin typeface="Arial MT"/>
                <a:cs typeface="Arial MT"/>
              </a:rPr>
              <a:t> </a:t>
            </a:r>
            <a:r>
              <a:rPr sz="2750" spc="-25" dirty="0">
                <a:latin typeface="Arial MT"/>
                <a:cs typeface="Arial MT"/>
              </a:rPr>
              <a:t>in </a:t>
            </a:r>
            <a:r>
              <a:rPr sz="2850" spc="-160" dirty="0">
                <a:latin typeface="Arial MT"/>
                <a:cs typeface="Arial MT"/>
              </a:rPr>
              <a:t>100</a:t>
            </a:r>
            <a:r>
              <a:rPr sz="1950" spc="-240" baseline="47008" dirty="0">
                <a:latin typeface="Arial MT"/>
                <a:cs typeface="Arial MT"/>
              </a:rPr>
              <a:t>O</a:t>
            </a:r>
            <a:r>
              <a:rPr sz="2850" spc="-160" dirty="0">
                <a:latin typeface="Arial MT"/>
                <a:cs typeface="Arial MT"/>
              </a:rPr>
              <a:t>a</a:t>
            </a:r>
            <a:r>
              <a:rPr sz="2850" spc="-13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of</a:t>
            </a:r>
            <a:r>
              <a:rPr sz="2850" spc="-135" dirty="0">
                <a:latin typeface="Arial MT"/>
                <a:cs typeface="Arial MT"/>
              </a:rPr>
              <a:t> </a:t>
            </a:r>
            <a:r>
              <a:rPr sz="2850" spc="-30" dirty="0">
                <a:latin typeface="Arial MT"/>
                <a:cs typeface="Arial MT"/>
              </a:rPr>
              <a:t>the</a:t>
            </a:r>
            <a:r>
              <a:rPr sz="2850" spc="-120" dirty="0">
                <a:latin typeface="Arial MT"/>
                <a:cs typeface="Arial MT"/>
              </a:rPr>
              <a:t> </a:t>
            </a:r>
            <a:r>
              <a:rPr sz="2850" spc="-114" dirty="0">
                <a:latin typeface="Arial MT"/>
                <a:cs typeface="Arial MT"/>
              </a:rPr>
              <a:t>sample</a:t>
            </a:r>
            <a:r>
              <a:rPr sz="2850" spc="-8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transactions.</a:t>
            </a:r>
            <a:endParaRPr sz="28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750">
              <a:latin typeface="Arial MT"/>
              <a:cs typeface="Arial MT"/>
            </a:endParaRPr>
          </a:p>
          <a:p>
            <a:pPr marL="79375">
              <a:lnSpc>
                <a:spcPct val="100000"/>
              </a:lnSpc>
            </a:pPr>
            <a:r>
              <a:rPr sz="3550" spc="-135" dirty="0">
                <a:solidFill>
                  <a:srgbClr val="0E364F"/>
                </a:solidFill>
                <a:latin typeface="Arial MT"/>
                <a:cs typeface="Arial MT"/>
              </a:rPr>
              <a:t>The</a:t>
            </a:r>
            <a:r>
              <a:rPr sz="3550" spc="-110" dirty="0">
                <a:solidFill>
                  <a:srgbClr val="0E364F"/>
                </a:solidFill>
                <a:latin typeface="Arial MT"/>
                <a:cs typeface="Arial MT"/>
              </a:rPr>
              <a:t> </a:t>
            </a:r>
            <a:r>
              <a:rPr sz="3550" spc="-10" dirty="0">
                <a:solidFill>
                  <a:srgbClr val="082F46"/>
                </a:solidFill>
                <a:latin typeface="Arial MT"/>
                <a:cs typeface="Arial MT"/>
              </a:rPr>
              <a:t>Insight</a:t>
            </a:r>
            <a:endParaRPr sz="3550">
              <a:latin typeface="Arial MT"/>
              <a:cs typeface="Arial MT"/>
            </a:endParaRPr>
          </a:p>
          <a:p>
            <a:pPr marL="81280">
              <a:lnSpc>
                <a:spcPts val="3395"/>
              </a:lnSpc>
              <a:spcBef>
                <a:spcPts val="440"/>
              </a:spcBef>
            </a:pPr>
            <a:r>
              <a:rPr sz="2950" spc="-210" dirty="0">
                <a:latin typeface="Arial MT"/>
                <a:cs typeface="Arial MT"/>
              </a:rPr>
              <a:t>These</a:t>
            </a:r>
            <a:r>
              <a:rPr sz="2950" spc="-80" dirty="0">
                <a:latin typeface="Arial MT"/>
                <a:cs typeface="Arial MT"/>
              </a:rPr>
              <a:t> items</a:t>
            </a:r>
            <a:r>
              <a:rPr sz="2950" spc="-110" dirty="0">
                <a:latin typeface="Arial MT"/>
                <a:cs typeface="Arial MT"/>
              </a:rPr>
              <a:t> </a:t>
            </a:r>
            <a:r>
              <a:rPr sz="2950" spc="-95" dirty="0">
                <a:latin typeface="Arial MT"/>
                <a:cs typeface="Arial MT"/>
              </a:rPr>
              <a:t>form</a:t>
            </a:r>
            <a:r>
              <a:rPr sz="2950" spc="-160" dirty="0">
                <a:latin typeface="Arial MT"/>
                <a:cs typeface="Arial MT"/>
              </a:rPr>
              <a:t> </a:t>
            </a:r>
            <a:r>
              <a:rPr sz="2950" spc="-80" dirty="0">
                <a:latin typeface="Arial MT"/>
                <a:cs typeface="Arial MT"/>
              </a:rPr>
              <a:t>the</a:t>
            </a:r>
            <a:r>
              <a:rPr sz="2950" spc="-185" dirty="0">
                <a:latin typeface="Arial MT"/>
                <a:cs typeface="Arial MT"/>
              </a:rPr>
              <a:t> </a:t>
            </a:r>
            <a:r>
              <a:rPr sz="2950" spc="-140" dirty="0">
                <a:latin typeface="Arial MT"/>
                <a:cs typeface="Arial MT"/>
              </a:rPr>
              <a:t>core</a:t>
            </a:r>
            <a:r>
              <a:rPr sz="2950" spc="-130" dirty="0">
                <a:latin typeface="Arial MT"/>
                <a:cs typeface="Arial MT"/>
              </a:rPr>
              <a:t> </a:t>
            </a:r>
            <a:r>
              <a:rPr sz="2950" dirty="0">
                <a:latin typeface="Arial MT"/>
                <a:cs typeface="Arial MT"/>
              </a:rPr>
              <a:t>of</a:t>
            </a:r>
            <a:r>
              <a:rPr sz="2950" spc="-25" dirty="0">
                <a:latin typeface="Arial MT"/>
                <a:cs typeface="Arial MT"/>
              </a:rPr>
              <a:t> </a:t>
            </a:r>
            <a:r>
              <a:rPr sz="2950" spc="-120" dirty="0">
                <a:latin typeface="Arial MT"/>
                <a:cs typeface="Arial MT"/>
              </a:rPr>
              <a:t>the</a:t>
            </a:r>
            <a:r>
              <a:rPr sz="2950" spc="-245" dirty="0">
                <a:latin typeface="Arial MT"/>
                <a:cs typeface="Arial MT"/>
              </a:rPr>
              <a:t> </a:t>
            </a:r>
            <a:r>
              <a:rPr sz="2950" spc="-140" dirty="0">
                <a:latin typeface="Arial MT"/>
                <a:cs typeface="Arial MT"/>
              </a:rPr>
              <a:t>household</a:t>
            </a:r>
            <a:r>
              <a:rPr sz="2950" spc="105" dirty="0">
                <a:latin typeface="Arial MT"/>
                <a:cs typeface="Arial MT"/>
              </a:rPr>
              <a:t> </a:t>
            </a:r>
            <a:r>
              <a:rPr sz="2950" spc="-135" dirty="0">
                <a:latin typeface="Arial MT"/>
                <a:cs typeface="Arial MT"/>
              </a:rPr>
              <a:t>shopping</a:t>
            </a:r>
            <a:r>
              <a:rPr sz="2950" dirty="0">
                <a:latin typeface="Arial MT"/>
                <a:cs typeface="Arial MT"/>
              </a:rPr>
              <a:t> </a:t>
            </a:r>
            <a:r>
              <a:rPr sz="2950" spc="-50" dirty="0">
                <a:latin typeface="Arial MT"/>
                <a:cs typeface="Arial MT"/>
              </a:rPr>
              <a:t>trip.</a:t>
            </a:r>
            <a:r>
              <a:rPr sz="2950" spc="-260" dirty="0">
                <a:latin typeface="Arial MT"/>
                <a:cs typeface="Arial MT"/>
              </a:rPr>
              <a:t> </a:t>
            </a:r>
            <a:r>
              <a:rPr sz="2950" spc="-229" dirty="0">
                <a:latin typeface="Arial MT"/>
                <a:cs typeface="Arial MT"/>
              </a:rPr>
              <a:t>They</a:t>
            </a:r>
            <a:r>
              <a:rPr sz="2950" spc="-5" dirty="0">
                <a:latin typeface="Arial MT"/>
                <a:cs typeface="Arial MT"/>
              </a:rPr>
              <a:t> </a:t>
            </a:r>
            <a:r>
              <a:rPr sz="2950" spc="-195" dirty="0">
                <a:latin typeface="Arial MT"/>
                <a:cs typeface="Arial MT"/>
              </a:rPr>
              <a:t>are</a:t>
            </a:r>
            <a:r>
              <a:rPr sz="2950" spc="-120" dirty="0">
                <a:latin typeface="Arial MT"/>
                <a:cs typeface="Arial MT"/>
              </a:rPr>
              <a:t> </a:t>
            </a:r>
            <a:r>
              <a:rPr sz="2950" spc="-130" dirty="0">
                <a:latin typeface="Arial MT"/>
                <a:cs typeface="Arial MT"/>
              </a:rPr>
              <a:t>habitual,</a:t>
            </a:r>
            <a:r>
              <a:rPr sz="2950" spc="-60" dirty="0">
                <a:latin typeface="Arial MT"/>
                <a:cs typeface="Arial MT"/>
              </a:rPr>
              <a:t> </a:t>
            </a:r>
            <a:r>
              <a:rPr sz="2950" spc="-125" dirty="0">
                <a:latin typeface="Arial MT"/>
                <a:cs typeface="Arial MT"/>
              </a:rPr>
              <a:t>non-</a:t>
            </a:r>
            <a:r>
              <a:rPr sz="2950" spc="-20" dirty="0">
                <a:latin typeface="Arial MT"/>
                <a:cs typeface="Arial MT"/>
              </a:rPr>
              <a:t>discretionary</a:t>
            </a:r>
            <a:endParaRPr sz="2950">
              <a:latin typeface="Arial MT"/>
              <a:cs typeface="Arial MT"/>
            </a:endParaRPr>
          </a:p>
          <a:p>
            <a:pPr marL="78105">
              <a:lnSpc>
                <a:spcPts val="3335"/>
              </a:lnSpc>
            </a:pPr>
            <a:r>
              <a:rPr sz="2900" spc="-120" dirty="0">
                <a:latin typeface="Arial MT"/>
                <a:cs typeface="Arial MT"/>
              </a:rPr>
              <a:t>purchases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50" dirty="0">
                <a:latin typeface="Arial MT"/>
                <a:cs typeface="Arial MT"/>
              </a:rPr>
              <a:t>that</a:t>
            </a:r>
            <a:r>
              <a:rPr sz="2900" spc="-150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drive</a:t>
            </a:r>
            <a:r>
              <a:rPr sz="2900" spc="-80" dirty="0">
                <a:latin typeface="Arial MT"/>
                <a:cs typeface="Arial MT"/>
              </a:rPr>
              <a:t> </a:t>
            </a:r>
            <a:r>
              <a:rPr sz="2900" spc="-95" dirty="0">
                <a:latin typeface="Arial MT"/>
                <a:cs typeface="Arial MT"/>
              </a:rPr>
              <a:t>customers</a:t>
            </a:r>
            <a:r>
              <a:rPr sz="2900" spc="-105" dirty="0">
                <a:latin typeface="Arial MT"/>
                <a:cs typeface="Arial MT"/>
              </a:rPr>
              <a:t> </a:t>
            </a:r>
            <a:r>
              <a:rPr sz="2900" spc="-20" dirty="0">
                <a:latin typeface="Arial MT"/>
                <a:cs typeface="Arial MT"/>
              </a:rPr>
              <a:t>to</a:t>
            </a:r>
            <a:r>
              <a:rPr sz="2900" spc="-215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the</a:t>
            </a:r>
            <a:r>
              <a:rPr sz="2900" spc="-130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store.</a:t>
            </a:r>
            <a:r>
              <a:rPr sz="2900" spc="-185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Their</a:t>
            </a:r>
            <a:r>
              <a:rPr sz="2900" spc="-15" dirty="0">
                <a:latin typeface="Arial MT"/>
                <a:cs typeface="Arial MT"/>
              </a:rPr>
              <a:t> </a:t>
            </a:r>
            <a:r>
              <a:rPr sz="2900" spc="-150" dirty="0">
                <a:latin typeface="Arial MT"/>
                <a:cs typeface="Arial MT"/>
              </a:rPr>
              <a:t>presence</a:t>
            </a:r>
            <a:r>
              <a:rPr sz="2900" spc="-5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20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a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basket</a:t>
            </a:r>
            <a:r>
              <a:rPr sz="2900" spc="10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is</a:t>
            </a:r>
            <a:r>
              <a:rPr sz="2900" spc="-145" dirty="0">
                <a:latin typeface="Arial MT"/>
                <a:cs typeface="Arial MT"/>
              </a:rPr>
              <a:t> </a:t>
            </a:r>
            <a:r>
              <a:rPr sz="2900" spc="-260" dirty="0">
                <a:latin typeface="Arial MT"/>
                <a:cs typeface="Arial MT"/>
              </a:rPr>
              <a:t>a</a:t>
            </a:r>
            <a:r>
              <a:rPr sz="2900" spc="-160" dirty="0">
                <a:latin typeface="Arial MT"/>
                <a:cs typeface="Arial MT"/>
              </a:rPr>
              <a:t> near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certainty.</a:t>
            </a:r>
            <a:endParaRPr sz="29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735"/>
              </a:spcBef>
            </a:pPr>
            <a:endParaRPr sz="2900">
              <a:latin typeface="Arial MT"/>
              <a:cs typeface="Arial MT"/>
            </a:endParaRPr>
          </a:p>
          <a:p>
            <a:pPr marL="69850">
              <a:lnSpc>
                <a:spcPct val="100000"/>
              </a:lnSpc>
            </a:pPr>
            <a:r>
              <a:rPr sz="3550" spc="-45" dirty="0">
                <a:solidFill>
                  <a:srgbClr val="08283D"/>
                </a:solidFill>
                <a:latin typeface="Arial MT"/>
                <a:cs typeface="Arial MT"/>
              </a:rPr>
              <a:t>Business</a:t>
            </a:r>
            <a:r>
              <a:rPr sz="3550" spc="-180" dirty="0">
                <a:solidFill>
                  <a:srgbClr val="08283D"/>
                </a:solidFill>
                <a:latin typeface="Arial MT"/>
                <a:cs typeface="Arial MT"/>
              </a:rPr>
              <a:t> </a:t>
            </a:r>
            <a:r>
              <a:rPr sz="3550" spc="-10" dirty="0">
                <a:solidFill>
                  <a:srgbClr val="083456"/>
                </a:solidFill>
                <a:latin typeface="Arial MT"/>
                <a:cs typeface="Arial MT"/>
              </a:rPr>
              <a:t>Action</a:t>
            </a:r>
            <a:endParaRPr sz="3550">
              <a:latin typeface="Arial MT"/>
              <a:cs typeface="Arial MT"/>
            </a:endParaRPr>
          </a:p>
          <a:p>
            <a:pPr marL="916305" marR="30480" indent="-4445">
              <a:lnSpc>
                <a:spcPts val="3200"/>
              </a:lnSpc>
              <a:spcBef>
                <a:spcPts val="1430"/>
              </a:spcBef>
            </a:pPr>
            <a:r>
              <a:rPr sz="2900" spc="-65" dirty="0">
                <a:latin typeface="Arial MT"/>
                <a:cs typeface="Arial MT"/>
              </a:rPr>
              <a:t>Pricing</a:t>
            </a:r>
            <a:r>
              <a:rPr sz="2900" spc="-135" dirty="0">
                <a:latin typeface="Arial MT"/>
                <a:cs typeface="Arial MT"/>
              </a:rPr>
              <a:t> </a:t>
            </a:r>
            <a:r>
              <a:rPr sz="2900" spc="-220" dirty="0">
                <a:latin typeface="Arial MT"/>
                <a:cs typeface="Arial MT"/>
              </a:rPr>
              <a:t>&amp;</a:t>
            </a:r>
            <a:r>
              <a:rPr sz="2900" spc="-110" dirty="0">
                <a:latin typeface="Arial MT"/>
                <a:cs typeface="Arial MT"/>
              </a:rPr>
              <a:t> </a:t>
            </a:r>
            <a:r>
              <a:rPr sz="2900" spc="-75" dirty="0">
                <a:latin typeface="Arial MT"/>
                <a:cs typeface="Arial MT"/>
              </a:rPr>
              <a:t>Availability:</a:t>
            </a:r>
            <a:r>
              <a:rPr sz="2900" spc="-125" dirty="0">
                <a:latin typeface="Arial MT"/>
                <a:cs typeface="Arial MT"/>
              </a:rPr>
              <a:t> </a:t>
            </a:r>
            <a:r>
              <a:rPr sz="2900" spc="-195" dirty="0">
                <a:latin typeface="Arial MT"/>
                <a:cs typeface="Arial MT"/>
              </a:rPr>
              <a:t>Ensure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these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anchor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spc="-60" dirty="0">
                <a:latin typeface="Arial MT"/>
                <a:cs typeface="Arial MT"/>
              </a:rPr>
              <a:t>products</a:t>
            </a:r>
            <a:r>
              <a:rPr sz="2900" spc="5" dirty="0">
                <a:latin typeface="Arial MT"/>
                <a:cs typeface="Arial MT"/>
              </a:rPr>
              <a:t> </a:t>
            </a:r>
            <a:r>
              <a:rPr sz="2900" spc="-180" dirty="0">
                <a:latin typeface="Arial MT"/>
                <a:cs typeface="Arial MT"/>
              </a:rPr>
              <a:t>are</a:t>
            </a:r>
            <a:r>
              <a:rPr sz="2900" spc="-114" dirty="0">
                <a:latin typeface="Arial MT"/>
                <a:cs typeface="Arial MT"/>
              </a:rPr>
              <a:t> </a:t>
            </a:r>
            <a:r>
              <a:rPr sz="2900" spc="-145" dirty="0">
                <a:latin typeface="Arial MT"/>
                <a:cs typeface="Arial MT"/>
              </a:rPr>
              <a:t>always</a:t>
            </a:r>
            <a:r>
              <a:rPr sz="2900" spc="-5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in</a:t>
            </a:r>
            <a:r>
              <a:rPr sz="2900" spc="-190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stock</a:t>
            </a:r>
            <a:r>
              <a:rPr sz="2900" spc="-5" dirty="0">
                <a:latin typeface="Arial MT"/>
                <a:cs typeface="Arial MT"/>
              </a:rPr>
              <a:t> </a:t>
            </a:r>
            <a:r>
              <a:rPr sz="2900" spc="-170" dirty="0">
                <a:latin typeface="Arial MT"/>
                <a:cs typeface="Arial MT"/>
              </a:rPr>
              <a:t>and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40" dirty="0">
                <a:latin typeface="Arial MT"/>
                <a:cs typeface="Arial MT"/>
              </a:rPr>
              <a:t>competitively </a:t>
            </a:r>
            <a:r>
              <a:rPr sz="2900" spc="-90" dirty="0">
                <a:latin typeface="Arial MT"/>
                <a:cs typeface="Arial MT"/>
              </a:rPr>
              <a:t>priced.</a:t>
            </a:r>
            <a:r>
              <a:rPr sz="2900" spc="-110" dirty="0">
                <a:latin typeface="Arial MT"/>
                <a:cs typeface="Arial MT"/>
              </a:rPr>
              <a:t> </a:t>
            </a:r>
            <a:r>
              <a:rPr sz="2900" spc="-130" dirty="0">
                <a:latin typeface="Arial MT"/>
                <a:cs typeface="Arial MT"/>
              </a:rPr>
              <a:t>Stock-</a:t>
            </a:r>
            <a:r>
              <a:rPr sz="2900" spc="-25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outs</a:t>
            </a:r>
            <a:r>
              <a:rPr sz="2900" spc="-95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risk</a:t>
            </a:r>
            <a:r>
              <a:rPr sz="2900" spc="-145" dirty="0">
                <a:latin typeface="Arial MT"/>
                <a:cs typeface="Arial MT"/>
              </a:rPr>
              <a:t> </a:t>
            </a:r>
            <a:r>
              <a:rPr sz="2900" spc="-90" dirty="0">
                <a:latin typeface="Arial MT"/>
                <a:cs typeface="Arial MT"/>
              </a:rPr>
              <a:t>losing</a:t>
            </a:r>
            <a:r>
              <a:rPr sz="2900" spc="-100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the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105" dirty="0">
                <a:latin typeface="Arial MT"/>
                <a:cs typeface="Arial MT"/>
              </a:rPr>
              <a:t>entire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basket,</a:t>
            </a:r>
            <a:r>
              <a:rPr sz="2900" spc="-155" dirty="0">
                <a:latin typeface="Arial MT"/>
                <a:cs typeface="Arial MT"/>
              </a:rPr>
              <a:t> </a:t>
            </a:r>
            <a:r>
              <a:rPr sz="2900" spc="-30" dirty="0">
                <a:latin typeface="Arial MT"/>
                <a:cs typeface="Arial MT"/>
              </a:rPr>
              <a:t>not</a:t>
            </a:r>
            <a:r>
              <a:rPr sz="2900" spc="-35" dirty="0">
                <a:latin typeface="Arial MT"/>
                <a:cs typeface="Arial MT"/>
              </a:rPr>
              <a:t> </a:t>
            </a:r>
            <a:r>
              <a:rPr sz="2900" spc="-55" dirty="0">
                <a:latin typeface="Arial MT"/>
                <a:cs typeface="Arial MT"/>
              </a:rPr>
              <a:t>just</a:t>
            </a:r>
            <a:r>
              <a:rPr sz="2900" spc="-13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the</a:t>
            </a:r>
            <a:r>
              <a:rPr sz="2900" spc="-114" dirty="0">
                <a:latin typeface="Arial MT"/>
                <a:cs typeface="Arial MT"/>
              </a:rPr>
              <a:t> single</a:t>
            </a:r>
            <a:r>
              <a:rPr sz="2900" spc="-85" dirty="0">
                <a:latin typeface="Arial MT"/>
                <a:cs typeface="Arial MT"/>
              </a:rPr>
              <a:t> </a:t>
            </a:r>
            <a:r>
              <a:rPr sz="2900" spc="-10" dirty="0">
                <a:latin typeface="Arial MT"/>
                <a:cs typeface="Arial MT"/>
              </a:rPr>
              <a:t>item.</a:t>
            </a:r>
            <a:endParaRPr sz="2900">
              <a:latin typeface="Arial MT"/>
              <a:cs typeface="Arial MT"/>
            </a:endParaRPr>
          </a:p>
          <a:p>
            <a:pPr marL="73025" marR="435609" indent="850900">
              <a:lnSpc>
                <a:spcPts val="2950"/>
              </a:lnSpc>
              <a:spcBef>
                <a:spcPts val="1900"/>
              </a:spcBef>
              <a:tabLst>
                <a:tab pos="916305" algn="l"/>
              </a:tabLst>
            </a:pPr>
            <a:r>
              <a:rPr sz="2900" spc="-145" dirty="0">
                <a:latin typeface="Arial MT"/>
                <a:cs typeface="Arial MT"/>
              </a:rPr>
              <a:t>Store</a:t>
            </a:r>
            <a:r>
              <a:rPr sz="2900" spc="-65" dirty="0">
                <a:latin typeface="Arial MT"/>
                <a:cs typeface="Arial MT"/>
              </a:rPr>
              <a:t> </a:t>
            </a:r>
            <a:r>
              <a:rPr sz="2900" spc="-135" dirty="0">
                <a:latin typeface="Arial MT"/>
                <a:cs typeface="Arial MT"/>
              </a:rPr>
              <a:t>Layout:</a:t>
            </a:r>
            <a:r>
              <a:rPr sz="2900" spc="-114" dirty="0">
                <a:latin typeface="Arial MT"/>
                <a:cs typeface="Arial MT"/>
              </a:rPr>
              <a:t> </a:t>
            </a:r>
            <a:r>
              <a:rPr sz="2900" spc="-235" dirty="0">
                <a:latin typeface="Arial MT"/>
                <a:cs typeface="Arial MT"/>
              </a:rPr>
              <a:t>Use</a:t>
            </a:r>
            <a:r>
              <a:rPr sz="2900" spc="-40" dirty="0">
                <a:latin typeface="Arial MT"/>
                <a:cs typeface="Arial MT"/>
              </a:rPr>
              <a:t> </a:t>
            </a:r>
            <a:r>
              <a:rPr sz="2900" spc="-125" dirty="0">
                <a:latin typeface="Arial MT"/>
                <a:cs typeface="Arial MT"/>
              </a:rPr>
              <a:t>these</a:t>
            </a:r>
            <a:r>
              <a:rPr sz="2900" spc="-75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high-</a:t>
            </a:r>
            <a:r>
              <a:rPr sz="2900" spc="-30" dirty="0">
                <a:latin typeface="Arial MT"/>
                <a:cs typeface="Arial MT"/>
              </a:rPr>
              <a:t>traffic</a:t>
            </a:r>
            <a:r>
              <a:rPr sz="2900" spc="-170" dirty="0">
                <a:latin typeface="Arial MT"/>
                <a:cs typeface="Arial MT"/>
              </a:rPr>
              <a:t> </a:t>
            </a:r>
            <a:r>
              <a:rPr sz="2900" spc="-65" dirty="0">
                <a:latin typeface="Arial MT"/>
                <a:cs typeface="Arial MT"/>
              </a:rPr>
              <a:t>items</a:t>
            </a:r>
            <a:r>
              <a:rPr sz="2900" spc="-135" dirty="0">
                <a:latin typeface="Arial MT"/>
                <a:cs typeface="Arial MT"/>
              </a:rPr>
              <a:t> </a:t>
            </a:r>
            <a:r>
              <a:rPr sz="2900" dirty="0">
                <a:latin typeface="Arial MT"/>
                <a:cs typeface="Arial MT"/>
              </a:rPr>
              <a:t>to</a:t>
            </a:r>
            <a:r>
              <a:rPr sz="2900" spc="-200" dirty="0">
                <a:latin typeface="Arial MT"/>
                <a:cs typeface="Arial MT"/>
              </a:rPr>
              <a:t> </a:t>
            </a:r>
            <a:r>
              <a:rPr sz="2900" spc="-120" dirty="0">
                <a:latin typeface="Arial MT"/>
                <a:cs typeface="Arial MT"/>
              </a:rPr>
              <a:t>guide</a:t>
            </a:r>
            <a:r>
              <a:rPr sz="2900" spc="-9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customers</a:t>
            </a:r>
            <a:r>
              <a:rPr sz="2900" spc="-70" dirty="0">
                <a:latin typeface="Arial MT"/>
                <a:cs typeface="Arial MT"/>
              </a:rPr>
              <a:t> </a:t>
            </a:r>
            <a:r>
              <a:rPr sz="2900" spc="-85" dirty="0">
                <a:latin typeface="Arial MT"/>
                <a:cs typeface="Arial MT"/>
              </a:rPr>
              <a:t>past</a:t>
            </a:r>
            <a:r>
              <a:rPr sz="2900" spc="-60" dirty="0">
                <a:latin typeface="Arial MT"/>
                <a:cs typeface="Arial MT"/>
              </a:rPr>
              <a:t> </a:t>
            </a:r>
            <a:r>
              <a:rPr sz="2900" spc="-100" dirty="0">
                <a:latin typeface="Arial MT"/>
                <a:cs typeface="Arial MT"/>
              </a:rPr>
              <a:t>complementary</a:t>
            </a:r>
            <a:r>
              <a:rPr sz="2900" spc="170" dirty="0">
                <a:latin typeface="Arial MT"/>
                <a:cs typeface="Arial MT"/>
              </a:rPr>
              <a:t> </a:t>
            </a:r>
            <a:r>
              <a:rPr sz="2900" spc="-25" dirty="0">
                <a:latin typeface="Arial MT"/>
                <a:cs typeface="Arial MT"/>
              </a:rPr>
              <a:t>and </a:t>
            </a:r>
            <a:r>
              <a:rPr sz="2900" spc="-90" dirty="0">
                <a:solidFill>
                  <a:srgbClr val="151515"/>
                </a:solidFill>
                <a:latin typeface="Arial MT"/>
                <a:cs typeface="Arial MT"/>
              </a:rPr>
              <a:t>"é</a:t>
            </a:r>
            <a:r>
              <a:rPr sz="2900" spc="-225" dirty="0">
                <a:solidFill>
                  <a:srgbClr val="151515"/>
                </a:solidFill>
                <a:latin typeface="Arial MT"/>
                <a:cs typeface="Arial MT"/>
              </a:rPr>
              <a:t> </a:t>
            </a:r>
            <a:r>
              <a:rPr sz="2900" spc="-459" dirty="0">
                <a:solidFill>
                  <a:srgbClr val="1F1F1F"/>
                </a:solidFill>
                <a:latin typeface="Arial MT"/>
                <a:cs typeface="Arial MT"/>
              </a:rPr>
              <a:t>T</a:t>
            </a:r>
            <a:r>
              <a:rPr sz="2900" dirty="0">
                <a:solidFill>
                  <a:srgbClr val="1F1F1F"/>
                </a:solidFill>
                <a:latin typeface="Arial MT"/>
                <a:cs typeface="Arial MT"/>
              </a:rPr>
              <a:t>	</a:t>
            </a:r>
            <a:r>
              <a:rPr sz="2900" spc="-130" dirty="0">
                <a:latin typeface="Arial MT"/>
                <a:cs typeface="Arial MT"/>
              </a:rPr>
              <a:t>higher-</a:t>
            </a:r>
            <a:r>
              <a:rPr sz="2900" spc="-105" dirty="0">
                <a:latin typeface="Arial MT"/>
                <a:cs typeface="Arial MT"/>
              </a:rPr>
              <a:t>margin</a:t>
            </a:r>
            <a:r>
              <a:rPr sz="2900" spc="-10" dirty="0">
                <a:latin typeface="Arial MT"/>
                <a:cs typeface="Arial MT"/>
              </a:rPr>
              <a:t> products.</a:t>
            </a:r>
            <a:endParaRPr sz="2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36800" y="3530600"/>
            <a:ext cx="2451100" cy="1663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07000" y="3467100"/>
            <a:ext cx="7442200" cy="14097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093700" y="3695700"/>
            <a:ext cx="1295400" cy="13843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516100" y="3441700"/>
            <a:ext cx="1079500" cy="16383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77900" y="1041400"/>
            <a:ext cx="685800" cy="6858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841679" y="1027641"/>
            <a:ext cx="14541500" cy="62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950" spc="70" dirty="0">
                <a:solidFill>
                  <a:srgbClr val="000000"/>
                </a:solidFill>
                <a:latin typeface="Times New Roman"/>
                <a:cs typeface="Times New Roman"/>
              </a:rPr>
              <a:t>Insight</a:t>
            </a:r>
            <a:r>
              <a:rPr sz="3950" spc="409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000000"/>
                </a:solidFill>
                <a:latin typeface="Times New Roman"/>
                <a:cs typeface="Times New Roman"/>
              </a:rPr>
              <a:t>2: </a:t>
            </a:r>
            <a:r>
              <a:rPr sz="3950" spc="110" dirty="0">
                <a:solidFill>
                  <a:srgbClr val="000000"/>
                </a:solidFill>
                <a:latin typeface="Times New Roman"/>
                <a:cs typeface="Times New Roman"/>
              </a:rPr>
              <a:t>High-</a:t>
            </a:r>
            <a:r>
              <a:rPr sz="3950" spc="105" dirty="0">
                <a:solidFill>
                  <a:srgbClr val="000000"/>
                </a:solidFill>
                <a:latin typeface="Times New Roman"/>
                <a:cs typeface="Times New Roman"/>
              </a:rPr>
              <a:t>Lik</a:t>
            </a:r>
            <a:r>
              <a:rPr sz="3950" spc="4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spc="60" dirty="0">
                <a:solidFill>
                  <a:srgbClr val="000000"/>
                </a:solidFill>
                <a:latin typeface="Times New Roman"/>
                <a:cs typeface="Times New Roman"/>
              </a:rPr>
              <a:t>Pairings</a:t>
            </a:r>
            <a:r>
              <a:rPr sz="3950" spc="34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dirty="0">
                <a:solidFill>
                  <a:srgbClr val="000000"/>
                </a:solidFill>
                <a:latin typeface="Times New Roman"/>
                <a:cs typeface="Times New Roman"/>
              </a:rPr>
              <a:t>Reveal</a:t>
            </a:r>
            <a:r>
              <a:rPr sz="3950" spc="36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spc="120" dirty="0">
                <a:solidFill>
                  <a:srgbClr val="000000"/>
                </a:solidFill>
                <a:latin typeface="Times New Roman"/>
                <a:cs typeface="Times New Roman"/>
              </a:rPr>
              <a:t>Strong</a:t>
            </a:r>
            <a:r>
              <a:rPr sz="3950" spc="32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spc="70" dirty="0">
                <a:solidFill>
                  <a:srgbClr val="000000"/>
                </a:solidFill>
                <a:latin typeface="Times New Roman"/>
                <a:cs typeface="Times New Roman"/>
              </a:rPr>
              <a:t>Bundling</a:t>
            </a:r>
            <a:r>
              <a:rPr sz="3950" spc="33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950" spc="150" dirty="0">
                <a:solidFill>
                  <a:srgbClr val="000000"/>
                </a:solidFill>
                <a:latin typeface="Times New Roman"/>
                <a:cs typeface="Times New Roman"/>
              </a:rPr>
              <a:t>Opportunities</a:t>
            </a:r>
            <a:endParaRPr sz="395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833232" y="1982913"/>
            <a:ext cx="14566900" cy="904875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750" dirty="0">
                <a:solidFill>
                  <a:srgbClr val="0F2A49"/>
                </a:solidFill>
                <a:latin typeface="Arial MT"/>
                <a:cs typeface="Arial MT"/>
              </a:rPr>
              <a:t>The</a:t>
            </a:r>
            <a:r>
              <a:rPr sz="2750" spc="-180" dirty="0">
                <a:solidFill>
                  <a:srgbClr val="0F2A49"/>
                </a:solidFill>
                <a:latin typeface="Arial MT"/>
                <a:cs typeface="Arial MT"/>
              </a:rPr>
              <a:t> </a:t>
            </a:r>
            <a:r>
              <a:rPr sz="2750" spc="-10" dirty="0">
                <a:solidFill>
                  <a:srgbClr val="082642"/>
                </a:solidFill>
                <a:latin typeface="Arial MT"/>
                <a:cs typeface="Arial MT"/>
              </a:rPr>
              <a:t>Finding</a:t>
            </a:r>
            <a:endParaRPr sz="275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spcBef>
                <a:spcPts val="350"/>
              </a:spcBef>
            </a:pPr>
            <a:r>
              <a:rPr sz="2400" dirty="0">
                <a:latin typeface="Arial MT"/>
                <a:cs typeface="Arial MT"/>
              </a:rPr>
              <a:t>The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analysis</a:t>
            </a:r>
            <a:r>
              <a:rPr sz="2400" spc="7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uncovered</a:t>
            </a:r>
            <a:r>
              <a:rPr sz="2400" spc="12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several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product</a:t>
            </a:r>
            <a:r>
              <a:rPr sz="2400" spc="15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groups</a:t>
            </a:r>
            <a:r>
              <a:rPr sz="2400" spc="-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purchased</a:t>
            </a:r>
            <a:r>
              <a:rPr sz="2400" spc="7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together</a:t>
            </a:r>
            <a:r>
              <a:rPr sz="2400" spc="1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far more</a:t>
            </a:r>
            <a:r>
              <a:rPr sz="2400" spc="-15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often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than</a:t>
            </a:r>
            <a:r>
              <a:rPr sz="2400" spc="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by</a:t>
            </a:r>
            <a:r>
              <a:rPr sz="2400" spc="6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random</a:t>
            </a:r>
            <a:r>
              <a:rPr sz="2400" spc="-3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chance.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10859" y="4910666"/>
            <a:ext cx="14535785" cy="4468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100330" algn="ctr">
              <a:lnSpc>
                <a:spcPts val="3479"/>
              </a:lnSpc>
              <a:spcBef>
                <a:spcPts val="130"/>
              </a:spcBef>
            </a:pPr>
            <a:r>
              <a:rPr sz="3300" spc="-150" dirty="0">
                <a:solidFill>
                  <a:srgbClr val="333333"/>
                </a:solidFill>
                <a:latin typeface="Arial MT"/>
                <a:cs typeface="Arial MT"/>
              </a:rPr>
              <a:t>CONFIDENCE:</a:t>
            </a:r>
            <a:r>
              <a:rPr sz="3300" spc="-40" dirty="0">
                <a:solidFill>
                  <a:srgbClr val="333333"/>
                </a:solidFill>
                <a:latin typeface="Arial MT"/>
                <a:cs typeface="Arial MT"/>
              </a:rPr>
              <a:t> </a:t>
            </a:r>
            <a:r>
              <a:rPr sz="3300" spc="-20" dirty="0">
                <a:solidFill>
                  <a:srgbClr val="2F2F2F"/>
                </a:solidFill>
                <a:latin typeface="Arial MT"/>
                <a:cs typeface="Arial MT"/>
              </a:rPr>
              <a:t>100%</a:t>
            </a:r>
            <a:endParaRPr sz="3300">
              <a:latin typeface="Arial MT"/>
              <a:cs typeface="Arial MT"/>
            </a:endParaRPr>
          </a:p>
          <a:p>
            <a:pPr marL="1376045">
              <a:lnSpc>
                <a:spcPts val="2820"/>
              </a:lnSpc>
              <a:tabLst>
                <a:tab pos="12018010" algn="l"/>
              </a:tabLst>
            </a:pPr>
            <a:r>
              <a:rPr sz="2750" spc="-10" dirty="0">
                <a:latin typeface="Arial MT"/>
                <a:cs typeface="Arial MT"/>
              </a:rPr>
              <a:t>(Paneer}</a:t>
            </a:r>
            <a:r>
              <a:rPr sz="2750" dirty="0">
                <a:latin typeface="Arial MT"/>
                <a:cs typeface="Arial MT"/>
              </a:rPr>
              <a:t>	</a:t>
            </a:r>
            <a:r>
              <a:rPr sz="2750" spc="-35" dirty="0">
                <a:latin typeface="Arial MT"/>
                <a:cs typeface="Arial MT"/>
              </a:rPr>
              <a:t>(Tea,</a:t>
            </a:r>
            <a:r>
              <a:rPr sz="2750" spc="-150" dirty="0">
                <a:latin typeface="Arial MT"/>
                <a:cs typeface="Arial MT"/>
              </a:rPr>
              <a:t> </a:t>
            </a:r>
            <a:r>
              <a:rPr sz="2750" spc="-10" dirty="0">
                <a:latin typeface="Arial MT"/>
                <a:cs typeface="Arial MT"/>
              </a:rPr>
              <a:t>Milk}</a:t>
            </a:r>
            <a:endParaRPr sz="2750">
              <a:latin typeface="Arial MT"/>
              <a:cs typeface="Arial MT"/>
            </a:endParaRPr>
          </a:p>
          <a:p>
            <a:pPr marL="26034">
              <a:lnSpc>
                <a:spcPct val="100000"/>
              </a:lnSpc>
              <a:spcBef>
                <a:spcPts val="3000"/>
              </a:spcBef>
            </a:pPr>
            <a:r>
              <a:rPr sz="2550" spc="-50" dirty="0">
                <a:latin typeface="Arial MT"/>
                <a:cs typeface="Arial MT"/>
              </a:rPr>
              <a:t>Another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spc="-195" dirty="0">
                <a:latin typeface="Arial MT"/>
                <a:cs typeface="Arial MT"/>
              </a:rPr>
              <a:t>Key</a:t>
            </a:r>
            <a:r>
              <a:rPr sz="2550" spc="15" dirty="0">
                <a:latin typeface="Arial MT"/>
                <a:cs typeface="Arial MT"/>
              </a:rPr>
              <a:t> </a:t>
            </a:r>
            <a:r>
              <a:rPr sz="2550" spc="-125" dirty="0">
                <a:latin typeface="Arial MT"/>
                <a:cs typeface="Arial MT"/>
              </a:rPr>
              <a:t>Example:</a:t>
            </a:r>
            <a:r>
              <a:rPr sz="255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{Cooking</a:t>
            </a:r>
            <a:r>
              <a:rPr sz="2550" spc="-25" dirty="0">
                <a:latin typeface="Arial MT"/>
                <a:cs typeface="Arial MT"/>
              </a:rPr>
              <a:t> </a:t>
            </a:r>
            <a:r>
              <a:rPr sz="2550" spc="-100" dirty="0">
                <a:latin typeface="Arial MT"/>
                <a:cs typeface="Arial MT"/>
              </a:rPr>
              <a:t>Oil,</a:t>
            </a:r>
            <a:r>
              <a:rPr sz="2550" spc="-75" dirty="0">
                <a:latin typeface="Arial MT"/>
                <a:cs typeface="Arial MT"/>
              </a:rPr>
              <a:t> </a:t>
            </a:r>
            <a:r>
              <a:rPr sz="2550" spc="-105" dirty="0">
                <a:latin typeface="Arial MT"/>
                <a:cs typeface="Arial MT"/>
              </a:rPr>
              <a:t>Eggs)</a:t>
            </a:r>
            <a:r>
              <a:rPr sz="2550" spc="-2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-</a:t>
            </a:r>
            <a:r>
              <a:rPr sz="2550" spc="85" dirty="0">
                <a:latin typeface="Arial MT"/>
                <a:cs typeface="Arial MT"/>
              </a:rPr>
              <a:t>&gt;</a:t>
            </a:r>
            <a:r>
              <a:rPr sz="2550" spc="-170" dirty="0">
                <a:latin typeface="Arial MT"/>
                <a:cs typeface="Arial MT"/>
              </a:rPr>
              <a:t> </a:t>
            </a:r>
            <a:r>
              <a:rPr sz="2550" spc="-75" dirty="0">
                <a:latin typeface="Arial MT"/>
                <a:cs typeface="Arial MT"/>
              </a:rPr>
              <a:t>{Sugar)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spc="-105" dirty="0">
                <a:latin typeface="Arial MT"/>
                <a:cs typeface="Arial MT"/>
              </a:rPr>
              <a:t>has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spc="-165" dirty="0">
                <a:latin typeface="Arial MT"/>
                <a:cs typeface="Arial MT"/>
              </a:rPr>
              <a:t>a</a:t>
            </a:r>
            <a:r>
              <a:rPr sz="2550" spc="-7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Lift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of</a:t>
            </a:r>
            <a:r>
              <a:rPr sz="2550" spc="2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3.0.</a:t>
            </a:r>
            <a:endParaRPr sz="2550">
              <a:latin typeface="Arial MT"/>
              <a:cs typeface="Arial MT"/>
            </a:endParaRPr>
          </a:p>
          <a:p>
            <a:pPr marL="17145">
              <a:lnSpc>
                <a:spcPct val="100000"/>
              </a:lnSpc>
              <a:spcBef>
                <a:spcPts val="1939"/>
              </a:spcBef>
            </a:pPr>
            <a:r>
              <a:rPr sz="2750" dirty="0">
                <a:solidFill>
                  <a:srgbClr val="0C2D44"/>
                </a:solidFill>
                <a:latin typeface="Arial MT"/>
                <a:cs typeface="Arial MT"/>
              </a:rPr>
              <a:t>The</a:t>
            </a:r>
            <a:r>
              <a:rPr sz="2750" spc="-110" dirty="0">
                <a:solidFill>
                  <a:srgbClr val="0C2D44"/>
                </a:solidFill>
                <a:latin typeface="Arial MT"/>
                <a:cs typeface="Arial MT"/>
              </a:rPr>
              <a:t> </a:t>
            </a:r>
            <a:r>
              <a:rPr sz="2750" spc="40" dirty="0">
                <a:solidFill>
                  <a:srgbClr val="0E2841"/>
                </a:solidFill>
                <a:latin typeface="Arial MT"/>
                <a:cs typeface="Arial MT"/>
              </a:rPr>
              <a:t>Insight</a:t>
            </a:r>
            <a:endParaRPr sz="2750">
              <a:latin typeface="Arial MT"/>
              <a:cs typeface="Arial MT"/>
            </a:endParaRPr>
          </a:p>
          <a:p>
            <a:pPr marL="30480">
              <a:lnSpc>
                <a:spcPts val="2910"/>
              </a:lnSpc>
              <a:spcBef>
                <a:spcPts val="150"/>
              </a:spcBef>
            </a:pPr>
            <a:r>
              <a:rPr sz="2600" spc="-140" dirty="0">
                <a:latin typeface="Arial MT"/>
                <a:cs typeface="Arial MT"/>
              </a:rPr>
              <a:t>These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80" dirty="0">
                <a:latin typeface="Arial MT"/>
                <a:cs typeface="Arial MT"/>
              </a:rPr>
              <a:t>rules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highlight</a:t>
            </a:r>
            <a:r>
              <a:rPr sz="2600" spc="-3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strong</a:t>
            </a:r>
            <a:r>
              <a:rPr sz="2600" spc="-80" dirty="0">
                <a:latin typeface="Arial MT"/>
                <a:cs typeface="Arial MT"/>
              </a:rPr>
              <a:t> </a:t>
            </a:r>
            <a:r>
              <a:rPr sz="2600" spc="-75" dirty="0">
                <a:latin typeface="Arial MT"/>
                <a:cs typeface="Arial MT"/>
              </a:rPr>
              <a:t>complementary</a:t>
            </a:r>
            <a:r>
              <a:rPr sz="2600" spc="150" dirty="0">
                <a:latin typeface="Arial MT"/>
                <a:cs typeface="Arial MT"/>
              </a:rPr>
              <a:t> </a:t>
            </a:r>
            <a:r>
              <a:rPr sz="2600" spc="-70" dirty="0">
                <a:latin typeface="Arial MT"/>
                <a:cs typeface="Arial MT"/>
              </a:rPr>
              <a:t>relationships,</a:t>
            </a:r>
            <a:r>
              <a:rPr sz="2600" spc="-110" dirty="0">
                <a:latin typeface="Arial MT"/>
                <a:cs typeface="Arial MT"/>
              </a:rPr>
              <a:t> </a:t>
            </a:r>
            <a:r>
              <a:rPr sz="2600" spc="-70" dirty="0">
                <a:latin typeface="Arial MT"/>
                <a:cs typeface="Arial MT"/>
              </a:rPr>
              <a:t>likely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tied</a:t>
            </a:r>
            <a:r>
              <a:rPr sz="2600" spc="-18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specific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spc="-110" dirty="0">
                <a:latin typeface="Arial MT"/>
                <a:cs typeface="Arial MT"/>
              </a:rPr>
              <a:t>meal</a:t>
            </a:r>
            <a:r>
              <a:rPr sz="2600" spc="-55" dirty="0">
                <a:latin typeface="Arial MT"/>
                <a:cs typeface="Arial MT"/>
              </a:rPr>
              <a:t> </a:t>
            </a:r>
            <a:r>
              <a:rPr sz="2600" spc="-85" dirty="0">
                <a:latin typeface="Arial MT"/>
                <a:cs typeface="Arial MT"/>
              </a:rPr>
              <a:t>occasions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-95" dirty="0">
                <a:latin typeface="Arial MT"/>
                <a:cs typeface="Arial MT"/>
              </a:rPr>
              <a:t>(e.g.,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chai</a:t>
            </a:r>
            <a:endParaRPr sz="2600">
              <a:latin typeface="Arial MT"/>
              <a:cs typeface="Arial MT"/>
            </a:endParaRPr>
          </a:p>
          <a:p>
            <a:pPr marL="19685">
              <a:lnSpc>
                <a:spcPts val="3030"/>
              </a:lnSpc>
            </a:pPr>
            <a:r>
              <a:rPr sz="2700" spc="-80" dirty="0">
                <a:latin typeface="Arial MT"/>
                <a:cs typeface="Arial MT"/>
              </a:rPr>
              <a:t>time</a:t>
            </a:r>
            <a:r>
              <a:rPr sz="2700" spc="-70" dirty="0">
                <a:latin typeface="Arial MT"/>
                <a:cs typeface="Arial MT"/>
              </a:rPr>
              <a:t> </a:t>
            </a:r>
            <a:r>
              <a:rPr sz="2700" spc="-165" dirty="0">
                <a:latin typeface="Arial MT"/>
                <a:cs typeface="Arial MT"/>
              </a:rPr>
              <a:t>snacks,</a:t>
            </a:r>
            <a:r>
              <a:rPr sz="2700" spc="10" dirty="0">
                <a:latin typeface="Arial MT"/>
                <a:cs typeface="Arial MT"/>
              </a:rPr>
              <a:t> </a:t>
            </a:r>
            <a:r>
              <a:rPr sz="2700" spc="-155" dirty="0">
                <a:latin typeface="Arial MT"/>
                <a:cs typeface="Arial MT"/>
              </a:rPr>
              <a:t>baking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spc="-45" dirty="0">
                <a:latin typeface="Arial MT"/>
                <a:cs typeface="Arial MT"/>
              </a:rPr>
              <a:t>preparation).</a:t>
            </a:r>
            <a:endParaRPr sz="27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2750" dirty="0">
                <a:solidFill>
                  <a:srgbClr val="052A4F"/>
                </a:solidFill>
                <a:latin typeface="Arial MT"/>
                <a:cs typeface="Arial MT"/>
              </a:rPr>
              <a:t>Business</a:t>
            </a:r>
            <a:r>
              <a:rPr sz="2750" spc="280" dirty="0">
                <a:solidFill>
                  <a:srgbClr val="052A4F"/>
                </a:solidFill>
                <a:latin typeface="Arial MT"/>
                <a:cs typeface="Arial MT"/>
              </a:rPr>
              <a:t> </a:t>
            </a:r>
            <a:r>
              <a:rPr sz="2750" spc="45" dirty="0">
                <a:solidFill>
                  <a:srgbClr val="0A2F54"/>
                </a:solidFill>
                <a:latin typeface="Arial MT"/>
                <a:cs typeface="Arial MT"/>
              </a:rPr>
              <a:t>Action</a:t>
            </a:r>
            <a:endParaRPr sz="2750">
              <a:latin typeface="Arial MT"/>
              <a:cs typeface="Arial MT"/>
            </a:endParaRPr>
          </a:p>
          <a:p>
            <a:pPr marL="382905" indent="-247015">
              <a:lnSpc>
                <a:spcPts val="2900"/>
              </a:lnSpc>
              <a:spcBef>
                <a:spcPts val="250"/>
              </a:spcBef>
              <a:buChar char="•"/>
              <a:tabLst>
                <a:tab pos="382905" algn="l"/>
              </a:tabLst>
            </a:pPr>
            <a:r>
              <a:rPr sz="2500" dirty="0">
                <a:latin typeface="Arial MT"/>
                <a:cs typeface="Arial MT"/>
              </a:rPr>
              <a:t>Promotions:</a:t>
            </a:r>
            <a:r>
              <a:rPr sz="2500" spc="-9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Create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-60" dirty="0">
                <a:latin typeface="Arial MT"/>
                <a:cs typeface="Arial MT"/>
              </a:rPr>
              <a:t>'Chai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Time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50" dirty="0">
                <a:latin typeface="Arial MT"/>
                <a:cs typeface="Arial MT"/>
              </a:rPr>
              <a:t>Snack'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bundle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offer</a:t>
            </a:r>
            <a:r>
              <a:rPr sz="2500" spc="-4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with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spc="-65" dirty="0">
                <a:latin typeface="Arial MT"/>
                <a:cs typeface="Arial MT"/>
              </a:rPr>
              <a:t>Paneer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and</a:t>
            </a:r>
            <a:r>
              <a:rPr sz="2500" spc="-90" dirty="0">
                <a:latin typeface="Arial MT"/>
                <a:cs typeface="Arial MT"/>
              </a:rPr>
              <a:t> </a:t>
            </a:r>
            <a:r>
              <a:rPr sz="2500" spc="-45" dirty="0">
                <a:latin typeface="Arial MT"/>
                <a:cs typeface="Arial MT"/>
              </a:rPr>
              <a:t>premium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tea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brands.</a:t>
            </a:r>
            <a:endParaRPr sz="2500">
              <a:latin typeface="Arial MT"/>
              <a:cs typeface="Arial MT"/>
            </a:endParaRPr>
          </a:p>
          <a:p>
            <a:pPr marL="382270" indent="-246379">
              <a:lnSpc>
                <a:spcPts val="2900"/>
              </a:lnSpc>
              <a:buChar char="•"/>
              <a:tabLst>
                <a:tab pos="382270" algn="l"/>
              </a:tabLst>
            </a:pPr>
            <a:r>
              <a:rPr sz="2500" dirty="0">
                <a:latin typeface="Arial MT"/>
                <a:cs typeface="Arial MT"/>
              </a:rPr>
              <a:t>Placement: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Position</a:t>
            </a:r>
            <a:r>
              <a:rPr sz="2500" spc="-40" dirty="0">
                <a:latin typeface="Arial MT"/>
                <a:cs typeface="Arial MT"/>
              </a:rPr>
              <a:t> </a:t>
            </a:r>
            <a:r>
              <a:rPr sz="2500" spc="-250" dirty="0">
                <a:latin typeface="Arial MT"/>
                <a:cs typeface="Arial MT"/>
              </a:rPr>
              <a:t>a</a:t>
            </a:r>
            <a:r>
              <a:rPr sz="2500" spc="60" dirty="0">
                <a:latin typeface="Arial MT"/>
                <a:cs typeface="Arial MT"/>
              </a:rPr>
              <a:t> </a:t>
            </a:r>
            <a:r>
              <a:rPr sz="2500" spc="-80" dirty="0">
                <a:latin typeface="Arial MT"/>
                <a:cs typeface="Arial MT"/>
              </a:rPr>
              <a:t>Paneer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display</a:t>
            </a:r>
            <a:r>
              <a:rPr sz="2500" spc="25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near</a:t>
            </a:r>
            <a:r>
              <a:rPr sz="2500" spc="8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the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dairy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35" dirty="0">
                <a:latin typeface="Arial MT"/>
                <a:cs typeface="Arial MT"/>
              </a:rPr>
              <a:t>and</a:t>
            </a:r>
            <a:r>
              <a:rPr sz="2500" spc="-114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tea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-60" dirty="0">
                <a:latin typeface="Arial MT"/>
                <a:cs typeface="Arial MT"/>
              </a:rPr>
              <a:t>aisles</a:t>
            </a:r>
            <a:r>
              <a:rPr sz="2500" spc="-10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to</a:t>
            </a:r>
            <a:r>
              <a:rPr sz="2500" spc="-11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trigger</a:t>
            </a:r>
            <a:r>
              <a:rPr sz="2500" spc="-105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impulse</a:t>
            </a:r>
            <a:r>
              <a:rPr sz="2500" spc="1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purchases.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74270" y="3407127"/>
            <a:ext cx="2729865" cy="7454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4700" spc="-95" dirty="0">
                <a:solidFill>
                  <a:srgbClr val="383838"/>
                </a:solidFill>
                <a:latin typeface="Arial MT"/>
                <a:cs typeface="Arial MT"/>
              </a:rPr>
              <a:t>LIFT:</a:t>
            </a:r>
            <a:r>
              <a:rPr sz="4700" spc="-210" dirty="0">
                <a:solidFill>
                  <a:srgbClr val="383838"/>
                </a:solidFill>
                <a:latin typeface="Arial MT"/>
                <a:cs typeface="Arial MT"/>
              </a:rPr>
              <a:t> </a:t>
            </a:r>
            <a:r>
              <a:rPr sz="4700" spc="85" dirty="0">
                <a:solidFill>
                  <a:srgbClr val="3A3A3A"/>
                </a:solidFill>
                <a:latin typeface="Arial MT"/>
                <a:cs typeface="Arial MT"/>
              </a:rPr>
              <a:t>3.37</a:t>
            </a:r>
            <a:endParaRPr sz="47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93546" y="3378905"/>
            <a:ext cx="310515" cy="3219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50" spc="-25" dirty="0">
                <a:solidFill>
                  <a:srgbClr val="181818"/>
                </a:solidFill>
                <a:latin typeface="Consolas"/>
                <a:cs typeface="Consolas"/>
              </a:rPr>
              <a:t>me</a:t>
            </a:r>
            <a:endParaRPr sz="1950">
              <a:latin typeface="Consolas"/>
              <a:cs typeface="Consola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103018" y="3889375"/>
            <a:ext cx="1816735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dirty="0">
                <a:latin typeface="Arial MT"/>
                <a:cs typeface="Arial MT"/>
              </a:rPr>
              <a:t>buy</a:t>
            </a:r>
            <a:r>
              <a:rPr sz="1850" spc="-25" dirty="0">
                <a:latin typeface="Arial MT"/>
                <a:cs typeface="Arial MT"/>
              </a:rPr>
              <a:t> </a:t>
            </a:r>
            <a:r>
              <a:rPr sz="1850" spc="-114" dirty="0">
                <a:latin typeface="Arial MT"/>
                <a:cs typeface="Arial MT"/>
              </a:rPr>
              <a:t>Tea</a:t>
            </a:r>
            <a:r>
              <a:rPr sz="1850" spc="-15" dirty="0">
                <a:latin typeface="Arial MT"/>
                <a:cs typeface="Arial MT"/>
              </a:rPr>
              <a:t> </a:t>
            </a:r>
            <a:r>
              <a:rPr sz="1850" dirty="0">
                <a:latin typeface="Arial MT"/>
                <a:cs typeface="Arial MT"/>
              </a:rPr>
              <a:t>and</a:t>
            </a:r>
            <a:r>
              <a:rPr sz="1850" spc="-80" dirty="0">
                <a:latin typeface="Arial MT"/>
                <a:cs typeface="Arial MT"/>
              </a:rPr>
              <a:t> </a:t>
            </a:r>
            <a:r>
              <a:rPr sz="1850" spc="-10" dirty="0">
                <a:latin typeface="Arial MT"/>
                <a:cs typeface="Arial MT"/>
              </a:rPr>
              <a:t>Milk)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97478" y="3347243"/>
            <a:ext cx="367665" cy="593725"/>
          </a:xfrm>
          <a:prstGeom prst="rect">
            <a:avLst/>
          </a:prstGeom>
        </p:spPr>
        <p:txBody>
          <a:bodyPr vert="horz" wrap="square" lIns="0" tIns="558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0"/>
              </a:spcBef>
            </a:pPr>
            <a:r>
              <a:rPr sz="1850" spc="-25" dirty="0">
                <a:latin typeface="Arial MT"/>
                <a:cs typeface="Arial MT"/>
              </a:rPr>
              <a:t>eer</a:t>
            </a:r>
            <a:endParaRPr sz="1850">
              <a:latin typeface="Arial MT"/>
              <a:cs typeface="Arial MT"/>
            </a:endParaRPr>
          </a:p>
          <a:p>
            <a:pPr marL="114935">
              <a:lnSpc>
                <a:spcPct val="100000"/>
              </a:lnSpc>
              <a:spcBef>
                <a:spcPts val="280"/>
              </a:spcBef>
            </a:pPr>
            <a:r>
              <a:rPr sz="1350" spc="-25" dirty="0">
                <a:latin typeface="Arial MT"/>
                <a:cs typeface="Arial MT"/>
              </a:rPr>
              <a:t>SO</a:t>
            </a:r>
            <a:endParaRPr sz="1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3400" y="3860800"/>
            <a:ext cx="6985000" cy="1143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712700" y="3835400"/>
            <a:ext cx="1104900" cy="1193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8000" y="762000"/>
            <a:ext cx="609600" cy="609600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4406900" y="3835400"/>
            <a:ext cx="939800" cy="1193800"/>
            <a:chOff x="4406900" y="3835400"/>
            <a:chExt cx="939800" cy="1193800"/>
          </a:xfrm>
        </p:grpSpPr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86300" y="3835400"/>
              <a:ext cx="660400" cy="11938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06900" y="3835400"/>
              <a:ext cx="889000" cy="406400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18064" y="742949"/>
            <a:ext cx="15219044" cy="596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750" dirty="0">
                <a:solidFill>
                  <a:srgbClr val="000000"/>
                </a:solidFill>
              </a:rPr>
              <a:t>Insight</a:t>
            </a:r>
            <a:r>
              <a:rPr sz="3750" spc="-70" dirty="0">
                <a:solidFill>
                  <a:srgbClr val="000000"/>
                </a:solidFill>
              </a:rPr>
              <a:t> </a:t>
            </a:r>
            <a:r>
              <a:rPr sz="3750" dirty="0">
                <a:solidFill>
                  <a:srgbClr val="0A0A0A"/>
                </a:solidFill>
              </a:rPr>
              <a:t>3:</a:t>
            </a:r>
            <a:r>
              <a:rPr sz="3750" spc="-90" dirty="0">
                <a:solidFill>
                  <a:srgbClr val="0A0A0A"/>
                </a:solidFill>
              </a:rPr>
              <a:t> </a:t>
            </a:r>
            <a:r>
              <a:rPr sz="3750" spc="-45" dirty="0">
                <a:solidFill>
                  <a:srgbClr val="000000"/>
                </a:solidFill>
              </a:rPr>
              <a:t>Shoppers</a:t>
            </a:r>
            <a:r>
              <a:rPr sz="3750" spc="-15" dirty="0">
                <a:solidFill>
                  <a:srgbClr val="000000"/>
                </a:solidFill>
              </a:rPr>
              <a:t> </a:t>
            </a:r>
            <a:r>
              <a:rPr sz="3750" spc="-25" dirty="0">
                <a:solidFill>
                  <a:srgbClr val="000000"/>
                </a:solidFill>
              </a:rPr>
              <a:t>Bridge</a:t>
            </a:r>
            <a:r>
              <a:rPr sz="3750" spc="10" dirty="0">
                <a:solidFill>
                  <a:srgbClr val="000000"/>
                </a:solidFill>
              </a:rPr>
              <a:t> </a:t>
            </a:r>
            <a:r>
              <a:rPr sz="3750" dirty="0">
                <a:solidFill>
                  <a:srgbClr val="000000"/>
                </a:solidFill>
              </a:rPr>
              <a:t>Categories,</a:t>
            </a:r>
            <a:r>
              <a:rPr sz="3750" spc="100" dirty="0">
                <a:solidFill>
                  <a:srgbClr val="000000"/>
                </a:solidFill>
              </a:rPr>
              <a:t> </a:t>
            </a:r>
            <a:r>
              <a:rPr sz="3750" dirty="0">
                <a:solidFill>
                  <a:srgbClr val="000000"/>
                </a:solidFill>
              </a:rPr>
              <a:t>Linking</a:t>
            </a:r>
            <a:r>
              <a:rPr sz="3750" spc="-5" dirty="0">
                <a:solidFill>
                  <a:srgbClr val="000000"/>
                </a:solidFill>
              </a:rPr>
              <a:t> </a:t>
            </a:r>
            <a:r>
              <a:rPr sz="3750" dirty="0">
                <a:solidFill>
                  <a:srgbClr val="000000"/>
                </a:solidFill>
              </a:rPr>
              <a:t>Groceries</a:t>
            </a:r>
            <a:r>
              <a:rPr sz="3750" spc="10" dirty="0">
                <a:solidFill>
                  <a:srgbClr val="000000"/>
                </a:solidFill>
              </a:rPr>
              <a:t> </a:t>
            </a:r>
            <a:r>
              <a:rPr sz="3750" dirty="0">
                <a:solidFill>
                  <a:srgbClr val="000000"/>
                </a:solidFill>
              </a:rPr>
              <a:t>and</a:t>
            </a:r>
            <a:r>
              <a:rPr sz="3750" spc="-90" dirty="0">
                <a:solidFill>
                  <a:srgbClr val="000000"/>
                </a:solidFill>
              </a:rPr>
              <a:t> </a:t>
            </a:r>
            <a:r>
              <a:rPr sz="3750" spc="-20" dirty="0">
                <a:solidFill>
                  <a:srgbClr val="000000"/>
                </a:solidFill>
              </a:rPr>
              <a:t>Personal</a:t>
            </a:r>
            <a:r>
              <a:rPr sz="3750" dirty="0">
                <a:solidFill>
                  <a:srgbClr val="000000"/>
                </a:solidFill>
              </a:rPr>
              <a:t> </a:t>
            </a:r>
            <a:r>
              <a:rPr sz="3750" spc="-20" dirty="0">
                <a:solidFill>
                  <a:srgbClr val="000000"/>
                </a:solidFill>
              </a:rPr>
              <a:t>Care</a:t>
            </a:r>
            <a:endParaRPr sz="3750"/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7141" y="1596464"/>
            <a:ext cx="14118590" cy="129159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20320">
              <a:lnSpc>
                <a:spcPct val="100000"/>
              </a:lnSpc>
              <a:spcBef>
                <a:spcPts val="680"/>
              </a:spcBef>
            </a:pPr>
            <a:r>
              <a:rPr sz="2900" spc="-10" dirty="0">
                <a:solidFill>
                  <a:srgbClr val="0E2F49"/>
                </a:solidFill>
                <a:latin typeface="Arial MT"/>
                <a:cs typeface="Arial MT"/>
              </a:rPr>
              <a:t>The</a:t>
            </a:r>
            <a:r>
              <a:rPr sz="2900" spc="-185" dirty="0">
                <a:solidFill>
                  <a:srgbClr val="0E2F49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0E2B44"/>
                </a:solidFill>
                <a:latin typeface="Arial MT"/>
                <a:cs typeface="Arial MT"/>
              </a:rPr>
              <a:t>Finding</a:t>
            </a:r>
            <a:endParaRPr sz="2900">
              <a:latin typeface="Arial MT"/>
              <a:cs typeface="Arial MT"/>
            </a:endParaRPr>
          </a:p>
          <a:p>
            <a:pPr marL="12700">
              <a:lnSpc>
                <a:spcPts val="2685"/>
              </a:lnSpc>
              <a:spcBef>
                <a:spcPts val="470"/>
              </a:spcBef>
            </a:pPr>
            <a:r>
              <a:rPr sz="2350" spc="-204" dirty="0">
                <a:latin typeface="Arial MT"/>
                <a:cs typeface="Arial MT"/>
              </a:rPr>
              <a:t>We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identified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spc="-40" dirty="0">
                <a:latin typeface="Arial MT"/>
                <a:cs typeface="Arial MT"/>
              </a:rPr>
              <a:t>meaningful</a:t>
            </a:r>
            <a:r>
              <a:rPr sz="2350" spc="15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associations</a:t>
            </a:r>
            <a:r>
              <a:rPr sz="2350" spc="8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between</a:t>
            </a:r>
            <a:r>
              <a:rPr sz="2350" spc="25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seemingly</a:t>
            </a:r>
            <a:r>
              <a:rPr sz="2350" spc="3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unrelated</a:t>
            </a:r>
            <a:r>
              <a:rPr sz="2350" spc="-12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product</a:t>
            </a:r>
            <a:r>
              <a:rPr sz="2350" spc="-1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categories.</a:t>
            </a:r>
            <a:r>
              <a:rPr sz="2350" spc="20" dirty="0">
                <a:latin typeface="Arial MT"/>
                <a:cs typeface="Arial MT"/>
              </a:rPr>
              <a:t> </a:t>
            </a:r>
            <a:r>
              <a:rPr sz="2350" spc="-210" dirty="0">
                <a:latin typeface="Arial MT"/>
                <a:cs typeface="Arial MT"/>
              </a:rPr>
              <a:t>A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key</a:t>
            </a:r>
            <a:r>
              <a:rPr sz="2350" spc="-90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example</a:t>
            </a:r>
            <a:r>
              <a:rPr sz="2350" spc="-4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is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the</a:t>
            </a:r>
            <a:endParaRPr sz="2350">
              <a:latin typeface="Arial MT"/>
              <a:cs typeface="Arial MT"/>
            </a:endParaRPr>
          </a:p>
          <a:p>
            <a:pPr marL="17780">
              <a:lnSpc>
                <a:spcPts val="2745"/>
              </a:lnSpc>
            </a:pPr>
            <a:r>
              <a:rPr sz="2400" spc="-50" dirty="0">
                <a:latin typeface="Arial MT"/>
                <a:cs typeface="Arial MT"/>
              </a:rPr>
              <a:t>association</a:t>
            </a:r>
            <a:r>
              <a:rPr sz="2400" spc="-120" dirty="0">
                <a:latin typeface="Arial MT"/>
                <a:cs typeface="Arial MT"/>
              </a:rPr>
              <a:t> </a:t>
            </a:r>
            <a:r>
              <a:rPr sz="2400" spc="-60" dirty="0">
                <a:latin typeface="Arial MT"/>
                <a:cs typeface="Arial MT"/>
              </a:rPr>
              <a:t>between</a:t>
            </a:r>
            <a:r>
              <a:rPr sz="2400" spc="-105" dirty="0">
                <a:latin typeface="Arial MT"/>
                <a:cs typeface="Arial MT"/>
              </a:rPr>
              <a:t> </a:t>
            </a:r>
            <a:r>
              <a:rPr sz="2400" spc="-70" dirty="0">
                <a:latin typeface="Arial MT"/>
                <a:cs typeface="Arial MT"/>
              </a:rPr>
              <a:t>(Shampoo)</a:t>
            </a:r>
            <a:r>
              <a:rPr sz="2400" spc="65" dirty="0">
                <a:latin typeface="Arial MT"/>
                <a:cs typeface="Arial MT"/>
              </a:rPr>
              <a:t> </a:t>
            </a:r>
            <a:r>
              <a:rPr sz="2400" spc="-145" dirty="0">
                <a:latin typeface="Arial MT"/>
                <a:cs typeface="Arial MT"/>
              </a:rPr>
              <a:t>and</a:t>
            </a:r>
            <a:r>
              <a:rPr sz="2400" spc="-80" dirty="0">
                <a:latin typeface="Arial MT"/>
                <a:cs typeface="Arial MT"/>
              </a:rPr>
              <a:t> </a:t>
            </a:r>
            <a:r>
              <a:rPr sz="2400" spc="-45" dirty="0">
                <a:latin typeface="Arial MT"/>
                <a:cs typeface="Arial MT"/>
              </a:rPr>
              <a:t>(Toothpaste,</a:t>
            </a:r>
            <a:r>
              <a:rPr sz="2400" spc="-55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Rices.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7826" y="3311525"/>
            <a:ext cx="1489710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 dirty="0">
                <a:solidFill>
                  <a:srgbClr val="626262"/>
                </a:solidFill>
                <a:latin typeface="Arial MT"/>
                <a:cs typeface="Arial MT"/>
              </a:rPr>
              <a:t>Personal</a:t>
            </a:r>
            <a:r>
              <a:rPr sz="1850" spc="-45" dirty="0">
                <a:solidFill>
                  <a:srgbClr val="626262"/>
                </a:solidFill>
                <a:latin typeface="Arial MT"/>
                <a:cs typeface="Arial MT"/>
              </a:rPr>
              <a:t> </a:t>
            </a:r>
            <a:r>
              <a:rPr sz="1850" spc="-30" dirty="0">
                <a:solidFill>
                  <a:srgbClr val="676767"/>
                </a:solidFill>
                <a:latin typeface="Arial MT"/>
                <a:cs typeface="Arial MT"/>
              </a:rPr>
              <a:t>Care</a:t>
            </a:r>
            <a:endParaRPr sz="18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17541" y="5452958"/>
            <a:ext cx="14904085" cy="319913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660"/>
              </a:spcBef>
            </a:pPr>
            <a:r>
              <a:rPr sz="2850" dirty="0">
                <a:solidFill>
                  <a:srgbClr val="082A44"/>
                </a:solidFill>
                <a:latin typeface="Arial MT"/>
                <a:cs typeface="Arial MT"/>
              </a:rPr>
              <a:t>The</a:t>
            </a:r>
            <a:r>
              <a:rPr sz="2850" spc="-160" dirty="0">
                <a:solidFill>
                  <a:srgbClr val="082A44"/>
                </a:solidFill>
                <a:latin typeface="Arial MT"/>
                <a:cs typeface="Arial MT"/>
              </a:rPr>
              <a:t> </a:t>
            </a:r>
            <a:r>
              <a:rPr sz="2850" spc="55" dirty="0">
                <a:solidFill>
                  <a:srgbClr val="0A2B44"/>
                </a:solidFill>
                <a:latin typeface="Arial MT"/>
                <a:cs typeface="Arial MT"/>
              </a:rPr>
              <a:t>Insight</a:t>
            </a:r>
            <a:endParaRPr sz="2850">
              <a:latin typeface="Arial MT"/>
              <a:cs typeface="Arial MT"/>
            </a:endParaRPr>
          </a:p>
          <a:p>
            <a:pPr marL="16510" marR="5080" indent="-3810">
              <a:lnSpc>
                <a:spcPts val="2600"/>
              </a:lnSpc>
              <a:spcBef>
                <a:spcPts val="750"/>
              </a:spcBef>
            </a:pPr>
            <a:r>
              <a:rPr sz="2350" spc="-40" dirty="0">
                <a:latin typeface="Arial MT"/>
                <a:cs typeface="Arial MT"/>
              </a:rPr>
              <a:t>Customers</a:t>
            </a:r>
            <a:r>
              <a:rPr sz="2350" spc="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frequently</a:t>
            </a:r>
            <a:r>
              <a:rPr sz="2350" spc="-25" dirty="0">
                <a:latin typeface="Arial MT"/>
                <a:cs typeface="Arial MT"/>
              </a:rPr>
              <a:t> combine</a:t>
            </a:r>
            <a:r>
              <a:rPr sz="2350" spc="-4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essential </a:t>
            </a:r>
            <a:r>
              <a:rPr sz="2350" dirty="0">
                <a:latin typeface="Arial MT"/>
                <a:cs typeface="Arial MT"/>
              </a:rPr>
              <a:t>grocery</a:t>
            </a:r>
            <a:r>
              <a:rPr sz="2350" spc="60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shopping</a:t>
            </a:r>
            <a:r>
              <a:rPr sz="2350" spc="5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with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personal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care</a:t>
            </a:r>
            <a:r>
              <a:rPr sz="2350" spc="-1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top-ups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a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single</a:t>
            </a:r>
            <a:r>
              <a:rPr sz="2350" spc="-10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trip.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45" dirty="0">
                <a:latin typeface="Arial MT"/>
                <a:cs typeface="Arial MT"/>
              </a:rPr>
              <a:t>The</a:t>
            </a:r>
            <a:r>
              <a:rPr sz="2350" spc="-8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shopping </a:t>
            </a:r>
            <a:r>
              <a:rPr sz="2350" spc="-25" dirty="0">
                <a:latin typeface="Arial MT"/>
                <a:cs typeface="Arial MT"/>
              </a:rPr>
              <a:t>journey</a:t>
            </a:r>
            <a:r>
              <a:rPr sz="2350" spc="-1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is</a:t>
            </a:r>
            <a:r>
              <a:rPr sz="2350" spc="-16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not</a:t>
            </a:r>
            <a:r>
              <a:rPr sz="2350" spc="-20" dirty="0">
                <a:latin typeface="Arial MT"/>
                <a:cs typeface="Arial MT"/>
              </a:rPr>
              <a:t> siloed</a:t>
            </a:r>
            <a:r>
              <a:rPr sz="2350" spc="-8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by</a:t>
            </a:r>
            <a:r>
              <a:rPr sz="2350" spc="-114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department.</a:t>
            </a:r>
            <a:endParaRPr sz="23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2580"/>
              </a:spcBef>
            </a:pPr>
            <a:r>
              <a:rPr sz="2900" dirty="0">
                <a:solidFill>
                  <a:srgbClr val="082842"/>
                </a:solidFill>
                <a:latin typeface="Arial MT"/>
                <a:cs typeface="Arial MT"/>
              </a:rPr>
              <a:t>Business</a:t>
            </a:r>
            <a:r>
              <a:rPr sz="2900" spc="75" dirty="0">
                <a:solidFill>
                  <a:srgbClr val="082842"/>
                </a:solidFill>
                <a:latin typeface="Arial MT"/>
                <a:cs typeface="Arial MT"/>
              </a:rPr>
              <a:t> </a:t>
            </a:r>
            <a:r>
              <a:rPr sz="2900" spc="-10" dirty="0">
                <a:solidFill>
                  <a:srgbClr val="032846"/>
                </a:solidFill>
                <a:latin typeface="Arial MT"/>
                <a:cs typeface="Arial MT"/>
              </a:rPr>
              <a:t>Action</a:t>
            </a:r>
            <a:endParaRPr sz="2900">
              <a:latin typeface="Arial MT"/>
              <a:cs typeface="Arial MT"/>
            </a:endParaRPr>
          </a:p>
          <a:p>
            <a:pPr marL="331470" indent="-318770">
              <a:lnSpc>
                <a:spcPct val="100000"/>
              </a:lnSpc>
              <a:spcBef>
                <a:spcPts val="520"/>
              </a:spcBef>
              <a:buChar char="•"/>
              <a:tabLst>
                <a:tab pos="331470" algn="l"/>
              </a:tabLst>
            </a:pPr>
            <a:r>
              <a:rPr sz="2300" dirty="0">
                <a:latin typeface="Arial MT"/>
                <a:cs typeface="Arial MT"/>
              </a:rPr>
              <a:t>Cross-Category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Promotions:</a:t>
            </a:r>
            <a:r>
              <a:rPr sz="2300" spc="-114" dirty="0">
                <a:latin typeface="Arial MT"/>
                <a:cs typeface="Arial MT"/>
              </a:rPr>
              <a:t> </a:t>
            </a:r>
            <a:r>
              <a:rPr sz="2300" spc="-80" dirty="0">
                <a:latin typeface="Arial MT"/>
                <a:cs typeface="Arial MT"/>
              </a:rPr>
              <a:t>Run</a:t>
            </a:r>
            <a:r>
              <a:rPr sz="2300" spc="45" dirty="0">
                <a:latin typeface="Arial MT"/>
                <a:cs typeface="Arial MT"/>
              </a:rPr>
              <a:t> </a:t>
            </a:r>
            <a:r>
              <a:rPr sz="2300" spc="-160" dirty="0">
                <a:latin typeface="Arial MT"/>
                <a:cs typeface="Arial MT"/>
              </a:rPr>
              <a:t>a</a:t>
            </a:r>
            <a:r>
              <a:rPr sz="2300" spc="-4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promotion</a:t>
            </a:r>
            <a:r>
              <a:rPr sz="2300" spc="15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such</a:t>
            </a:r>
            <a:r>
              <a:rPr sz="2300" spc="-65" dirty="0">
                <a:latin typeface="Arial MT"/>
                <a:cs typeface="Arial MT"/>
              </a:rPr>
              <a:t> </a:t>
            </a:r>
            <a:r>
              <a:rPr sz="2300" spc="-70" dirty="0">
                <a:latin typeface="Arial MT"/>
                <a:cs typeface="Arial MT"/>
              </a:rPr>
              <a:t>as</a:t>
            </a:r>
            <a:r>
              <a:rPr sz="2300" spc="-12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‘Buy</a:t>
            </a:r>
            <a:r>
              <a:rPr sz="2300" spc="40" dirty="0">
                <a:latin typeface="Arial MT"/>
                <a:cs typeface="Arial MT"/>
              </a:rPr>
              <a:t> </a:t>
            </a:r>
            <a:r>
              <a:rPr sz="2300" spc="-85" dirty="0">
                <a:latin typeface="Arial MT"/>
                <a:cs typeface="Arial MT"/>
              </a:rPr>
              <a:t>Skg</a:t>
            </a:r>
            <a:r>
              <a:rPr sz="2300" spc="-6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</a:t>
            </a:r>
            <a:r>
              <a:rPr sz="2300" spc="20" dirty="0">
                <a:latin typeface="Arial MT"/>
                <a:cs typeface="Arial MT"/>
              </a:rPr>
              <a:t> </a:t>
            </a:r>
            <a:r>
              <a:rPr sz="2300" spc="-50" dirty="0">
                <a:latin typeface="Arial MT"/>
                <a:cs typeface="Arial MT"/>
              </a:rPr>
              <a:t>Rice</a:t>
            </a:r>
            <a:r>
              <a:rPr sz="2300" spc="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and</a:t>
            </a:r>
            <a:r>
              <a:rPr sz="2300" spc="-80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get</a:t>
            </a:r>
            <a:r>
              <a:rPr sz="2300" spc="-160" dirty="0">
                <a:latin typeface="Arial MT"/>
                <a:cs typeface="Arial MT"/>
              </a:rPr>
              <a:t> </a:t>
            </a:r>
            <a:r>
              <a:rPr sz="2300" spc="-130" dirty="0">
                <a:latin typeface="Arial MT"/>
                <a:cs typeface="Arial MT"/>
              </a:rPr>
              <a:t>15%</a:t>
            </a:r>
            <a:r>
              <a:rPr sz="2300" spc="-1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off</a:t>
            </a:r>
            <a:r>
              <a:rPr sz="2300" spc="35" dirty="0">
                <a:latin typeface="Arial MT"/>
                <a:cs typeface="Arial MT"/>
              </a:rPr>
              <a:t> </a:t>
            </a:r>
            <a:r>
              <a:rPr sz="2300" dirty="0">
                <a:latin typeface="Arial MT"/>
                <a:cs typeface="Arial MT"/>
              </a:rPr>
              <a:t>select</a:t>
            </a:r>
            <a:r>
              <a:rPr sz="2300" spc="85" dirty="0">
                <a:latin typeface="Arial MT"/>
                <a:cs typeface="Arial MT"/>
              </a:rPr>
              <a:t> </a:t>
            </a:r>
            <a:r>
              <a:rPr sz="2300" spc="-10" dirty="0">
                <a:latin typeface="Arial MT"/>
                <a:cs typeface="Arial MT"/>
              </a:rPr>
              <a:t>Shampoos.’</a:t>
            </a:r>
            <a:endParaRPr sz="2300">
              <a:latin typeface="Arial MT"/>
              <a:cs typeface="Arial MT"/>
            </a:endParaRPr>
          </a:p>
          <a:p>
            <a:pPr marL="336550" marR="182245" indent="-324485">
              <a:lnSpc>
                <a:spcPts val="2600"/>
              </a:lnSpc>
              <a:spcBef>
                <a:spcPts val="560"/>
              </a:spcBef>
              <a:buChar char="•"/>
              <a:tabLst>
                <a:tab pos="340360" algn="l"/>
              </a:tabLst>
            </a:pPr>
            <a:r>
              <a:rPr sz="2350" spc="-10" dirty="0">
                <a:latin typeface="Arial MT"/>
                <a:cs typeface="Arial MT"/>
              </a:rPr>
              <a:t>Layout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Adjacencies: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65" dirty="0">
                <a:latin typeface="Arial MT"/>
                <a:cs typeface="Arial MT"/>
              </a:rPr>
              <a:t>Test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placing</a:t>
            </a:r>
            <a:r>
              <a:rPr sz="2350" spc="-14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promotional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end-</a:t>
            </a:r>
            <a:r>
              <a:rPr sz="2350" dirty="0">
                <a:latin typeface="Arial MT"/>
                <a:cs typeface="Arial MT"/>
              </a:rPr>
              <a:t>caps</a:t>
            </a:r>
            <a:r>
              <a:rPr sz="2350" spc="-7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for</a:t>
            </a:r>
            <a:r>
              <a:rPr sz="2350" spc="-100" dirty="0">
                <a:latin typeface="Arial MT"/>
                <a:cs typeface="Arial MT"/>
              </a:rPr>
              <a:t> </a:t>
            </a:r>
            <a:r>
              <a:rPr sz="2350" spc="-35" dirty="0">
                <a:latin typeface="Arial MT"/>
                <a:cs typeface="Arial MT"/>
              </a:rPr>
              <a:t>personal</a:t>
            </a:r>
            <a:r>
              <a:rPr sz="2350" spc="-65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care</a:t>
            </a:r>
            <a:r>
              <a:rPr sz="2350" spc="-13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items</a:t>
            </a:r>
            <a:r>
              <a:rPr sz="2350" spc="-35" dirty="0">
                <a:latin typeface="Arial MT"/>
                <a:cs typeface="Arial MT"/>
              </a:rPr>
              <a:t> </a:t>
            </a:r>
            <a:r>
              <a:rPr sz="2350" spc="-40" dirty="0">
                <a:latin typeface="Arial MT"/>
                <a:cs typeface="Arial MT"/>
              </a:rPr>
              <a:t>(like</a:t>
            </a:r>
            <a:r>
              <a:rPr sz="2350" spc="-12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Toothpaste</a:t>
            </a:r>
            <a:r>
              <a:rPr sz="2350" dirty="0">
                <a:latin typeface="Arial MT"/>
                <a:cs typeface="Arial MT"/>
              </a:rPr>
              <a:t> or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80" dirty="0">
                <a:latin typeface="Arial MT"/>
                <a:cs typeface="Arial MT"/>
              </a:rPr>
              <a:t>Soap)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within 	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high-traffic</a:t>
            </a:r>
            <a:r>
              <a:rPr sz="2350" spc="6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staple</a:t>
            </a:r>
            <a:r>
              <a:rPr sz="2350" spc="-3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grocery</a:t>
            </a:r>
            <a:r>
              <a:rPr sz="2350" spc="-2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aisles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spc="-55" dirty="0">
                <a:latin typeface="Arial MT"/>
                <a:cs typeface="Arial MT"/>
              </a:rPr>
              <a:t>(like</a:t>
            </a:r>
            <a:r>
              <a:rPr sz="2350" spc="-110" dirty="0">
                <a:latin typeface="Arial MT"/>
                <a:cs typeface="Arial MT"/>
              </a:rPr>
              <a:t> </a:t>
            </a:r>
            <a:r>
              <a:rPr sz="2350" spc="-75" dirty="0">
                <a:latin typeface="Arial MT"/>
                <a:cs typeface="Arial MT"/>
              </a:rPr>
              <a:t>Rice</a:t>
            </a:r>
            <a:r>
              <a:rPr sz="2350" spc="-20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or</a:t>
            </a:r>
            <a:r>
              <a:rPr sz="2350" spc="-8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Atta).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513098" y="4207580"/>
            <a:ext cx="16764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50" dirty="0">
                <a:solidFill>
                  <a:srgbClr val="232323"/>
                </a:solidFill>
                <a:latin typeface="Arial MT"/>
                <a:cs typeface="Arial MT"/>
              </a:rPr>
              <a:t>O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768501" y="4288719"/>
            <a:ext cx="309245" cy="5867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650" spc="150" dirty="0">
                <a:solidFill>
                  <a:srgbClr val="212121"/>
                </a:solidFill>
                <a:latin typeface="Arial MT"/>
                <a:cs typeface="Arial MT"/>
              </a:rPr>
              <a:t>0</a:t>
            </a:r>
            <a:endParaRPr sz="3650">
              <a:latin typeface="Arial MT"/>
              <a:cs typeface="Arial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933895" y="4468636"/>
            <a:ext cx="485775" cy="332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000" spc="-90" dirty="0">
                <a:solidFill>
                  <a:srgbClr val="1D1D1D"/>
                </a:solidFill>
                <a:latin typeface="Arial MT"/>
                <a:cs typeface="Arial MT"/>
              </a:rPr>
              <a:t>Rice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113838" y="3311525"/>
            <a:ext cx="1014094" cy="3111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50" spc="-10" dirty="0">
                <a:solidFill>
                  <a:srgbClr val="666666"/>
                </a:solidFill>
                <a:latin typeface="Arial MT"/>
                <a:cs typeface="Arial MT"/>
              </a:rPr>
              <a:t>Croceries</a:t>
            </a:r>
            <a:endParaRPr sz="1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22700" y="3543300"/>
            <a:ext cx="1206500" cy="12446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511800" y="3530600"/>
            <a:ext cx="6451600" cy="9779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306300" y="3352800"/>
            <a:ext cx="1193800" cy="14351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90600" y="774700"/>
            <a:ext cx="685800" cy="698500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911317" y="744713"/>
            <a:ext cx="10238740" cy="671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4200" dirty="0">
                <a:solidFill>
                  <a:srgbClr val="000000"/>
                </a:solidFill>
              </a:rPr>
              <a:t>Insight</a:t>
            </a:r>
            <a:r>
              <a:rPr sz="4200" spc="135" dirty="0">
                <a:solidFill>
                  <a:srgbClr val="000000"/>
                </a:solidFill>
              </a:rPr>
              <a:t> </a:t>
            </a:r>
            <a:r>
              <a:rPr sz="4200" dirty="0">
                <a:solidFill>
                  <a:srgbClr val="000000"/>
                </a:solidFill>
              </a:rPr>
              <a:t>4:</a:t>
            </a:r>
            <a:r>
              <a:rPr sz="4200" spc="-70" dirty="0">
                <a:solidFill>
                  <a:srgbClr val="000000"/>
                </a:solidFill>
              </a:rPr>
              <a:t> </a:t>
            </a:r>
            <a:r>
              <a:rPr sz="4200" dirty="0">
                <a:solidFill>
                  <a:srgbClr val="000000"/>
                </a:solidFill>
              </a:rPr>
              <a:t>The</a:t>
            </a:r>
            <a:r>
              <a:rPr sz="4200" spc="125" dirty="0">
                <a:solidFill>
                  <a:srgbClr val="000000"/>
                </a:solidFill>
              </a:rPr>
              <a:t> </a:t>
            </a:r>
            <a:r>
              <a:rPr sz="4200" dirty="0">
                <a:solidFill>
                  <a:srgbClr val="000000"/>
                </a:solidFill>
              </a:rPr>
              <a:t>Direction</a:t>
            </a:r>
            <a:r>
              <a:rPr sz="4200" spc="254" dirty="0">
                <a:solidFill>
                  <a:srgbClr val="000000"/>
                </a:solidFill>
              </a:rPr>
              <a:t> </a:t>
            </a:r>
            <a:r>
              <a:rPr sz="4200" dirty="0">
                <a:solidFill>
                  <a:srgbClr val="000000"/>
                </a:solidFill>
              </a:rPr>
              <a:t>of</a:t>
            </a:r>
            <a:r>
              <a:rPr sz="4200" spc="85" dirty="0">
                <a:solidFill>
                  <a:srgbClr val="000000"/>
                </a:solidFill>
              </a:rPr>
              <a:t> </a:t>
            </a:r>
            <a:r>
              <a:rPr sz="4200" dirty="0">
                <a:solidFill>
                  <a:srgbClr val="000000"/>
                </a:solidFill>
              </a:rPr>
              <a:t>Purchase</a:t>
            </a:r>
            <a:r>
              <a:rPr sz="4200" spc="185" dirty="0">
                <a:solidFill>
                  <a:srgbClr val="000000"/>
                </a:solidFill>
              </a:rPr>
              <a:t> </a:t>
            </a:r>
            <a:r>
              <a:rPr sz="4200" spc="-10" dirty="0">
                <a:solidFill>
                  <a:srgbClr val="000000"/>
                </a:solidFill>
              </a:rPr>
              <a:t>Matters</a:t>
            </a:r>
            <a:endParaRPr sz="4200"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66762" y="1807633"/>
            <a:ext cx="15046325" cy="279844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4604">
              <a:lnSpc>
                <a:spcPts val="3465"/>
              </a:lnSpc>
              <a:spcBef>
                <a:spcPts val="114"/>
              </a:spcBef>
            </a:pPr>
            <a:r>
              <a:rPr sz="2900" spc="60" dirty="0">
                <a:solidFill>
                  <a:srgbClr val="184475"/>
                </a:solidFill>
                <a:latin typeface="Arial MT"/>
                <a:cs typeface="Arial MT"/>
              </a:rPr>
              <a:t>The</a:t>
            </a:r>
            <a:r>
              <a:rPr sz="2900" spc="-95" dirty="0">
                <a:solidFill>
                  <a:srgbClr val="184475"/>
                </a:solidFill>
                <a:latin typeface="Arial MT"/>
                <a:cs typeface="Arial MT"/>
              </a:rPr>
              <a:t> </a:t>
            </a:r>
            <a:r>
              <a:rPr sz="2900" spc="90" dirty="0">
                <a:solidFill>
                  <a:srgbClr val="0A4287"/>
                </a:solidFill>
                <a:latin typeface="Arial MT"/>
                <a:cs typeface="Arial MT"/>
              </a:rPr>
              <a:t>Finding</a:t>
            </a:r>
            <a:endParaRPr sz="2900">
              <a:latin typeface="Arial MT"/>
              <a:cs typeface="Arial MT"/>
            </a:endParaRPr>
          </a:p>
          <a:p>
            <a:pPr marL="12700" marR="5080" indent="11430">
              <a:lnSpc>
                <a:spcPts val="3100"/>
              </a:lnSpc>
              <a:spcBef>
                <a:spcPts val="355"/>
              </a:spcBef>
              <a:tabLst>
                <a:tab pos="13918565" algn="l"/>
              </a:tabLst>
            </a:pPr>
            <a:r>
              <a:rPr sz="2850" spc="-220" dirty="0">
                <a:latin typeface="Arial MT"/>
                <a:cs typeface="Arial MT"/>
              </a:rPr>
              <a:t>Association</a:t>
            </a:r>
            <a:r>
              <a:rPr sz="2850" spc="65" dirty="0">
                <a:latin typeface="Arial MT"/>
                <a:cs typeface="Arial MT"/>
              </a:rPr>
              <a:t> </a:t>
            </a:r>
            <a:r>
              <a:rPr sz="2850" spc="-220" dirty="0">
                <a:latin typeface="Arial MT"/>
                <a:cs typeface="Arial MT"/>
              </a:rPr>
              <a:t>rules</a:t>
            </a:r>
            <a:r>
              <a:rPr sz="2850" spc="45" dirty="0">
                <a:latin typeface="Arial MT"/>
                <a:cs typeface="Arial MT"/>
              </a:rPr>
              <a:t> </a:t>
            </a:r>
            <a:r>
              <a:rPr sz="2850" spc="-254" dirty="0">
                <a:latin typeface="Arial MT"/>
                <a:cs typeface="Arial MT"/>
              </a:rPr>
              <a:t>are</a:t>
            </a:r>
            <a:r>
              <a:rPr sz="2850" spc="-100" dirty="0">
                <a:latin typeface="Arial MT"/>
                <a:cs typeface="Arial MT"/>
              </a:rPr>
              <a:t> </a:t>
            </a:r>
            <a:r>
              <a:rPr sz="2850" spc="-190" dirty="0">
                <a:latin typeface="Arial MT"/>
                <a:cs typeface="Arial MT"/>
              </a:rPr>
              <a:t>often</a:t>
            </a:r>
            <a:r>
              <a:rPr sz="2850" spc="-10" dirty="0">
                <a:latin typeface="Arial MT"/>
                <a:cs typeface="Arial MT"/>
              </a:rPr>
              <a:t> </a:t>
            </a:r>
            <a:r>
              <a:rPr sz="2850" spc="-215" dirty="0">
                <a:latin typeface="Arial MT"/>
                <a:cs typeface="Arial MT"/>
              </a:rPr>
              <a:t>asymmetrical.</a:t>
            </a:r>
            <a:r>
              <a:rPr sz="2850" spc="155" dirty="0">
                <a:latin typeface="Arial MT"/>
                <a:cs typeface="Arial MT"/>
              </a:rPr>
              <a:t> </a:t>
            </a:r>
            <a:r>
              <a:rPr sz="2850" spc="-315" dirty="0">
                <a:latin typeface="Arial MT"/>
                <a:cs typeface="Arial MT"/>
              </a:rPr>
              <a:t>For</a:t>
            </a:r>
            <a:r>
              <a:rPr sz="2850" spc="60" dirty="0">
                <a:latin typeface="Arial MT"/>
                <a:cs typeface="Arial MT"/>
              </a:rPr>
              <a:t> </a:t>
            </a:r>
            <a:r>
              <a:rPr sz="2850" spc="-265" dirty="0">
                <a:latin typeface="Arial MT"/>
                <a:cs typeface="Arial MT"/>
              </a:rPr>
              <a:t>example,</a:t>
            </a:r>
            <a:r>
              <a:rPr sz="2850" spc="70" dirty="0">
                <a:latin typeface="Arial MT"/>
                <a:cs typeface="Arial MT"/>
              </a:rPr>
              <a:t> </a:t>
            </a:r>
            <a:r>
              <a:rPr sz="2850" spc="-185" dirty="0">
                <a:latin typeface="Arial MT"/>
                <a:cs typeface="Arial MT"/>
              </a:rPr>
              <a:t>the</a:t>
            </a:r>
            <a:r>
              <a:rPr sz="2850" spc="-114" dirty="0">
                <a:latin typeface="Arial MT"/>
                <a:cs typeface="Arial MT"/>
              </a:rPr>
              <a:t> </a:t>
            </a:r>
            <a:r>
              <a:rPr sz="2850" spc="-254" dirty="0">
                <a:latin typeface="Arial MT"/>
                <a:cs typeface="Arial MT"/>
              </a:rPr>
              <a:t>purchase</a:t>
            </a:r>
            <a:r>
              <a:rPr sz="2850" spc="145" dirty="0">
                <a:latin typeface="Arial MT"/>
                <a:cs typeface="Arial MT"/>
              </a:rPr>
              <a:t> </a:t>
            </a:r>
            <a:r>
              <a:rPr sz="2850" spc="-210" dirty="0">
                <a:latin typeface="Arial MT"/>
                <a:cs typeface="Arial MT"/>
              </a:rPr>
              <a:t>of</a:t>
            </a:r>
            <a:r>
              <a:rPr sz="2850" spc="30" dirty="0">
                <a:latin typeface="Arial MT"/>
                <a:cs typeface="Arial MT"/>
              </a:rPr>
              <a:t> </a:t>
            </a:r>
            <a:r>
              <a:rPr sz="2850" spc="-350" dirty="0">
                <a:latin typeface="Arial MT"/>
                <a:cs typeface="Arial MT"/>
              </a:rPr>
              <a:t>a</a:t>
            </a:r>
            <a:r>
              <a:rPr sz="2850" spc="-30" dirty="0">
                <a:latin typeface="Arial MT"/>
                <a:cs typeface="Arial MT"/>
              </a:rPr>
              <a:t> </a:t>
            </a:r>
            <a:r>
              <a:rPr sz="2850" spc="-175" dirty="0">
                <a:latin typeface="Arial MT"/>
                <a:cs typeface="Arial MT"/>
              </a:rPr>
              <a:t>specific</a:t>
            </a:r>
            <a:r>
              <a:rPr sz="2850" spc="120" dirty="0">
                <a:latin typeface="Arial MT"/>
                <a:cs typeface="Arial MT"/>
              </a:rPr>
              <a:t> </a:t>
            </a:r>
            <a:r>
              <a:rPr sz="2850" spc="-210" dirty="0">
                <a:latin typeface="Arial MT"/>
                <a:cs typeface="Arial MT"/>
              </a:rPr>
              <a:t>item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(antecedent)</a:t>
            </a:r>
            <a:r>
              <a:rPr sz="2850" dirty="0">
                <a:latin typeface="Arial MT"/>
                <a:cs typeface="Arial MT"/>
              </a:rPr>
              <a:t>	</a:t>
            </a:r>
            <a:r>
              <a:rPr sz="2850" spc="-165" dirty="0">
                <a:latin typeface="Arial MT"/>
                <a:cs typeface="Arial MT"/>
              </a:rPr>
              <a:t>strongly </a:t>
            </a:r>
            <a:r>
              <a:rPr sz="2850" spc="-140" dirty="0">
                <a:latin typeface="Arial MT"/>
                <a:cs typeface="Arial MT"/>
              </a:rPr>
              <a:t>predicts</a:t>
            </a:r>
            <a:r>
              <a:rPr sz="2850" spc="-20" dirty="0">
                <a:latin typeface="Arial MT"/>
                <a:cs typeface="Arial MT"/>
              </a:rPr>
              <a:t> </a:t>
            </a:r>
            <a:r>
              <a:rPr sz="2850" spc="-155" dirty="0">
                <a:latin typeface="Arial MT"/>
                <a:cs typeface="Arial MT"/>
              </a:rPr>
              <a:t>the</a:t>
            </a:r>
            <a:r>
              <a:rPr sz="2850" spc="-195" dirty="0">
                <a:latin typeface="Arial MT"/>
                <a:cs typeface="Arial MT"/>
              </a:rPr>
              <a:t> </a:t>
            </a:r>
            <a:r>
              <a:rPr sz="2850" spc="-215" dirty="0">
                <a:latin typeface="Arial MT"/>
                <a:cs typeface="Arial MT"/>
              </a:rPr>
              <a:t>purchase</a:t>
            </a:r>
            <a:r>
              <a:rPr sz="2850" spc="10" dirty="0">
                <a:latin typeface="Arial MT"/>
                <a:cs typeface="Arial MT"/>
              </a:rPr>
              <a:t> </a:t>
            </a:r>
            <a:r>
              <a:rPr sz="2850" spc="-185" dirty="0">
                <a:latin typeface="Arial MT"/>
                <a:cs typeface="Arial MT"/>
              </a:rPr>
              <a:t>of</a:t>
            </a:r>
            <a:r>
              <a:rPr sz="2850" spc="-45" dirty="0">
                <a:latin typeface="Arial MT"/>
                <a:cs typeface="Arial MT"/>
              </a:rPr>
              <a:t> </a:t>
            </a:r>
            <a:r>
              <a:rPr sz="2850" spc="-175" dirty="0">
                <a:latin typeface="Arial MT"/>
                <a:cs typeface="Arial MT"/>
              </a:rPr>
              <a:t>another</a:t>
            </a:r>
            <a:r>
              <a:rPr sz="2850" spc="125" dirty="0">
                <a:latin typeface="Arial MT"/>
                <a:cs typeface="Arial MT"/>
              </a:rPr>
              <a:t> </a:t>
            </a:r>
            <a:r>
              <a:rPr sz="2850" spc="-175" dirty="0">
                <a:latin typeface="Arial MT"/>
                <a:cs typeface="Arial MT"/>
              </a:rPr>
              <a:t>(consequent),</a:t>
            </a:r>
            <a:r>
              <a:rPr sz="2850" spc="75" dirty="0">
                <a:latin typeface="Arial MT"/>
                <a:cs typeface="Arial MT"/>
              </a:rPr>
              <a:t> </a:t>
            </a:r>
            <a:r>
              <a:rPr sz="2850" spc="-185" dirty="0">
                <a:latin typeface="Arial MT"/>
                <a:cs typeface="Arial MT"/>
              </a:rPr>
              <a:t>but</a:t>
            </a:r>
            <a:r>
              <a:rPr sz="2850" spc="30" dirty="0">
                <a:latin typeface="Arial MT"/>
                <a:cs typeface="Arial MT"/>
              </a:rPr>
              <a:t> </a:t>
            </a:r>
            <a:r>
              <a:rPr sz="2850" spc="-185" dirty="0">
                <a:latin typeface="Arial MT"/>
                <a:cs typeface="Arial MT"/>
              </a:rPr>
              <a:t>the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spc="-240" dirty="0">
                <a:latin typeface="Arial MT"/>
                <a:cs typeface="Arial MT"/>
              </a:rPr>
              <a:t>reverse</a:t>
            </a:r>
            <a:r>
              <a:rPr sz="2850" spc="30" dirty="0">
                <a:latin typeface="Arial MT"/>
                <a:cs typeface="Arial MT"/>
              </a:rPr>
              <a:t> </a:t>
            </a:r>
            <a:r>
              <a:rPr sz="2850" spc="-360" dirty="0">
                <a:latin typeface="Arial MT"/>
                <a:cs typeface="Arial MT"/>
              </a:rPr>
              <a:t>may</a:t>
            </a:r>
            <a:r>
              <a:rPr sz="2850" spc="50" dirty="0">
                <a:latin typeface="Arial MT"/>
                <a:cs typeface="Arial MT"/>
              </a:rPr>
              <a:t> </a:t>
            </a:r>
            <a:r>
              <a:rPr sz="2850" spc="-210" dirty="0">
                <a:latin typeface="Arial MT"/>
                <a:cs typeface="Arial MT"/>
              </a:rPr>
              <a:t>not</a:t>
            </a:r>
            <a:r>
              <a:rPr sz="2850" spc="5" dirty="0">
                <a:latin typeface="Arial MT"/>
                <a:cs typeface="Arial MT"/>
              </a:rPr>
              <a:t> </a:t>
            </a:r>
            <a:r>
              <a:rPr sz="2850" spc="-260" dirty="0">
                <a:latin typeface="Arial MT"/>
                <a:cs typeface="Arial MT"/>
              </a:rPr>
              <a:t>be</a:t>
            </a:r>
            <a:r>
              <a:rPr sz="2850" spc="-5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true.</a:t>
            </a:r>
            <a:endParaRPr sz="2850">
              <a:latin typeface="Arial MT"/>
              <a:cs typeface="Arial MT"/>
            </a:endParaRPr>
          </a:p>
          <a:p>
            <a:pPr marL="474980" algn="ctr">
              <a:lnSpc>
                <a:spcPct val="100000"/>
              </a:lnSpc>
              <a:spcBef>
                <a:spcPts val="2730"/>
              </a:spcBef>
            </a:pPr>
            <a:r>
              <a:rPr sz="2550" spc="90" dirty="0">
                <a:latin typeface="Arial MT"/>
                <a:cs typeface="Arial MT"/>
              </a:rPr>
              <a:t>”Confidence:</a:t>
            </a:r>
            <a:r>
              <a:rPr sz="2550" spc="-15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100°4”*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50">
              <a:latin typeface="Arial MT"/>
              <a:cs typeface="Arial MT"/>
            </a:endParaRPr>
          </a:p>
          <a:p>
            <a:pPr marR="2839085" algn="r">
              <a:lnSpc>
                <a:spcPct val="100000"/>
              </a:lnSpc>
              <a:spcBef>
                <a:spcPts val="5"/>
              </a:spcBef>
            </a:pPr>
            <a:r>
              <a:rPr sz="2550" spc="-20" dirty="0">
                <a:solidFill>
                  <a:srgbClr val="184275"/>
                </a:solidFill>
                <a:latin typeface="Arial MT"/>
                <a:cs typeface="Arial MT"/>
              </a:rPr>
              <a:t>Rice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1528" y="5462849"/>
            <a:ext cx="15566390" cy="358775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9685">
              <a:lnSpc>
                <a:spcPct val="100000"/>
              </a:lnSpc>
              <a:spcBef>
                <a:spcPts val="484"/>
              </a:spcBef>
            </a:pPr>
            <a:r>
              <a:rPr sz="3050" dirty="0">
                <a:solidFill>
                  <a:srgbClr val="113D72"/>
                </a:solidFill>
                <a:latin typeface="Arial MT"/>
                <a:cs typeface="Arial MT"/>
              </a:rPr>
              <a:t>The</a:t>
            </a:r>
            <a:r>
              <a:rPr sz="3050" spc="-240" dirty="0">
                <a:solidFill>
                  <a:srgbClr val="113D72"/>
                </a:solidFill>
                <a:latin typeface="Arial MT"/>
                <a:cs typeface="Arial MT"/>
              </a:rPr>
              <a:t> </a:t>
            </a:r>
            <a:r>
              <a:rPr sz="3050" spc="45" dirty="0">
                <a:solidFill>
                  <a:srgbClr val="13427C"/>
                </a:solidFill>
                <a:latin typeface="Arial MT"/>
                <a:cs typeface="Arial MT"/>
              </a:rPr>
              <a:t>Insight</a:t>
            </a:r>
            <a:endParaRPr sz="3050">
              <a:latin typeface="Arial MT"/>
              <a:cs typeface="Arial MT"/>
            </a:endParaRPr>
          </a:p>
          <a:p>
            <a:pPr marL="20955">
              <a:lnSpc>
                <a:spcPts val="3055"/>
              </a:lnSpc>
              <a:spcBef>
                <a:spcPts val="340"/>
              </a:spcBef>
            </a:pPr>
            <a:r>
              <a:rPr sz="2550" spc="-45" dirty="0">
                <a:latin typeface="Arial MT"/>
                <a:cs typeface="Arial MT"/>
              </a:rPr>
              <a:t>This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directional</a:t>
            </a:r>
            <a:r>
              <a:rPr sz="2550" spc="-45" dirty="0">
                <a:latin typeface="Arial MT"/>
                <a:cs typeface="Arial MT"/>
              </a:rPr>
              <a:t> </a:t>
            </a:r>
            <a:r>
              <a:rPr sz="2550" spc="-30" dirty="0">
                <a:latin typeface="Arial MT"/>
                <a:cs typeface="Arial MT"/>
              </a:rPr>
              <a:t>nature</a:t>
            </a:r>
            <a:r>
              <a:rPr sz="2550" spc="-5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is</a:t>
            </a:r>
            <a:r>
              <a:rPr sz="2550" spc="-17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critical.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It</a:t>
            </a:r>
            <a:r>
              <a:rPr sz="2550" spc="-114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allows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spc="-30" dirty="0">
                <a:latin typeface="Arial MT"/>
                <a:cs typeface="Arial MT"/>
              </a:rPr>
              <a:t>us</a:t>
            </a:r>
            <a:r>
              <a:rPr sz="2550" spc="-10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to</a:t>
            </a:r>
            <a:r>
              <a:rPr sz="2550" spc="-13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identify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'trigger'</a:t>
            </a:r>
            <a:r>
              <a:rPr sz="2550" spc="40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products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that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can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be</a:t>
            </a:r>
            <a:r>
              <a:rPr sz="2550" spc="-125" dirty="0">
                <a:latin typeface="Arial MT"/>
                <a:cs typeface="Arial MT"/>
              </a:rPr>
              <a:t> </a:t>
            </a:r>
            <a:r>
              <a:rPr sz="2550" spc="-55" dirty="0">
                <a:latin typeface="Arial MT"/>
                <a:cs typeface="Arial MT"/>
              </a:rPr>
              <a:t>used</a:t>
            </a:r>
            <a:r>
              <a:rPr sz="2550" spc="-12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to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suggest</a:t>
            </a:r>
            <a:r>
              <a:rPr sz="2550" spc="1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or</a:t>
            </a:r>
            <a:endParaRPr sz="2550">
              <a:latin typeface="Arial MT"/>
              <a:cs typeface="Arial MT"/>
            </a:endParaRPr>
          </a:p>
          <a:p>
            <a:pPr marL="20320">
              <a:lnSpc>
                <a:spcPts val="2995"/>
              </a:lnSpc>
            </a:pPr>
            <a:r>
              <a:rPr sz="2500" spc="-10" dirty="0">
                <a:latin typeface="Arial MT"/>
                <a:cs typeface="Arial MT"/>
              </a:rPr>
              <a:t>promote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'destination'</a:t>
            </a:r>
            <a:r>
              <a:rPr sz="2500" spc="35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products.</a:t>
            </a:r>
            <a:endParaRPr sz="25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1400"/>
              </a:spcBef>
            </a:pPr>
            <a:r>
              <a:rPr sz="3100" dirty="0">
                <a:solidFill>
                  <a:srgbClr val="114179"/>
                </a:solidFill>
                <a:latin typeface="Arial MT"/>
                <a:cs typeface="Arial MT"/>
              </a:rPr>
              <a:t>Business</a:t>
            </a:r>
            <a:r>
              <a:rPr sz="3100" spc="-114" dirty="0">
                <a:solidFill>
                  <a:srgbClr val="114179"/>
                </a:solidFill>
                <a:latin typeface="Arial MT"/>
                <a:cs typeface="Arial MT"/>
              </a:rPr>
              <a:t> </a:t>
            </a:r>
            <a:r>
              <a:rPr sz="3100" spc="-10" dirty="0">
                <a:solidFill>
                  <a:srgbClr val="0A4493"/>
                </a:solidFill>
                <a:latin typeface="Arial MT"/>
                <a:cs typeface="Arial MT"/>
              </a:rPr>
              <a:t>Action</a:t>
            </a:r>
            <a:endParaRPr sz="3100">
              <a:latin typeface="Arial MT"/>
              <a:cs typeface="Arial MT"/>
            </a:endParaRPr>
          </a:p>
          <a:p>
            <a:pPr marL="485140" marR="5080" indent="-259079">
              <a:lnSpc>
                <a:spcPts val="3050"/>
              </a:lnSpc>
              <a:spcBef>
                <a:spcPts val="390"/>
              </a:spcBef>
              <a:buChar char="•"/>
              <a:tabLst>
                <a:tab pos="488950" algn="l"/>
              </a:tabLst>
            </a:pPr>
            <a:r>
              <a:rPr sz="2600" spc="-55" dirty="0">
                <a:latin typeface="Arial MT"/>
                <a:cs typeface="Arial MT"/>
              </a:rPr>
              <a:t>Recommendation</a:t>
            </a:r>
            <a:r>
              <a:rPr sz="2600" spc="-375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Engines:</a:t>
            </a:r>
            <a:r>
              <a:rPr sz="2600" spc="-135" dirty="0">
                <a:latin typeface="Arial MT"/>
                <a:cs typeface="Arial MT"/>
              </a:rPr>
              <a:t> </a:t>
            </a:r>
            <a:r>
              <a:rPr sz="2600" spc="-140" dirty="0">
                <a:latin typeface="Arial MT"/>
                <a:cs typeface="Arial MT"/>
              </a:rPr>
              <a:t>Use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55" dirty="0">
                <a:latin typeface="Arial MT"/>
                <a:cs typeface="Arial MT"/>
              </a:rPr>
              <a:t>directional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70" dirty="0">
                <a:latin typeface="Arial MT"/>
                <a:cs typeface="Arial MT"/>
              </a:rPr>
              <a:t>rules</a:t>
            </a:r>
            <a:r>
              <a:rPr sz="2600" spc="-1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to</a:t>
            </a:r>
            <a:r>
              <a:rPr sz="2600" spc="-180" dirty="0">
                <a:latin typeface="Arial MT"/>
                <a:cs typeface="Arial MT"/>
              </a:rPr>
              <a:t> </a:t>
            </a:r>
            <a:r>
              <a:rPr sz="2600" spc="-50" dirty="0">
                <a:latin typeface="Arial MT"/>
                <a:cs typeface="Arial MT"/>
              </a:rPr>
              <a:t>power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160" dirty="0">
                <a:latin typeface="Arial MT"/>
                <a:cs typeface="Arial MT"/>
              </a:rPr>
              <a:t>'You</a:t>
            </a:r>
            <a:r>
              <a:rPr sz="2600" spc="-25" dirty="0">
                <a:latin typeface="Arial MT"/>
                <a:cs typeface="Arial MT"/>
              </a:rPr>
              <a:t> </a:t>
            </a:r>
            <a:r>
              <a:rPr sz="2600" spc="-35" dirty="0">
                <a:latin typeface="Arial MT"/>
                <a:cs typeface="Arial MT"/>
              </a:rPr>
              <a:t>might</a:t>
            </a:r>
            <a:r>
              <a:rPr sz="2600" spc="60" dirty="0">
                <a:latin typeface="Arial MT"/>
                <a:cs typeface="Arial MT"/>
              </a:rPr>
              <a:t> </a:t>
            </a:r>
            <a:r>
              <a:rPr sz="2600" spc="-105" dirty="0">
                <a:latin typeface="Arial MT"/>
                <a:cs typeface="Arial MT"/>
              </a:rPr>
              <a:t>also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55" dirty="0">
                <a:latin typeface="Arial MT"/>
                <a:cs typeface="Arial MT"/>
              </a:rPr>
              <a:t>like...'</a:t>
            </a:r>
            <a:r>
              <a:rPr sz="2600" spc="-5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suggestions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on</a:t>
            </a:r>
            <a:r>
              <a:rPr sz="2600" spc="-114" dirty="0">
                <a:latin typeface="Arial MT"/>
                <a:cs typeface="Arial MT"/>
              </a:rPr>
              <a:t> </a:t>
            </a:r>
            <a:r>
              <a:rPr sz="2600" spc="-80" dirty="0">
                <a:latin typeface="Arial MT"/>
                <a:cs typeface="Arial MT"/>
              </a:rPr>
              <a:t>e-</a:t>
            </a:r>
            <a:r>
              <a:rPr sz="2600" spc="-40" dirty="0">
                <a:latin typeface="Arial MT"/>
                <a:cs typeface="Arial MT"/>
              </a:rPr>
              <a:t>commerce 	</a:t>
            </a:r>
            <a:r>
              <a:rPr sz="2600" spc="-10" dirty="0">
                <a:latin typeface="Arial MT"/>
                <a:cs typeface="Arial MT"/>
              </a:rPr>
              <a:t>platforms.</a:t>
            </a:r>
            <a:endParaRPr sz="2600">
              <a:latin typeface="Arial MT"/>
              <a:cs typeface="Arial MT"/>
            </a:endParaRPr>
          </a:p>
          <a:p>
            <a:pPr marL="478790" indent="-252729">
              <a:lnSpc>
                <a:spcPts val="2985"/>
              </a:lnSpc>
              <a:buChar char="•"/>
              <a:tabLst>
                <a:tab pos="478790" algn="l"/>
              </a:tabLst>
            </a:pPr>
            <a:r>
              <a:rPr sz="2700" spc="-65" dirty="0">
                <a:latin typeface="Arial MT"/>
                <a:cs typeface="Arial MT"/>
              </a:rPr>
              <a:t>In-Store</a:t>
            </a:r>
            <a:r>
              <a:rPr sz="2700" spc="-125" dirty="0">
                <a:latin typeface="Arial MT"/>
                <a:cs typeface="Arial MT"/>
              </a:rPr>
              <a:t> </a:t>
            </a:r>
            <a:r>
              <a:rPr sz="2700" spc="-130" dirty="0">
                <a:latin typeface="Arial MT"/>
                <a:cs typeface="Arial MT"/>
              </a:rPr>
              <a:t>Signage:</a:t>
            </a:r>
            <a:r>
              <a:rPr sz="2700" spc="-55" dirty="0">
                <a:latin typeface="Arial MT"/>
                <a:cs typeface="Arial MT"/>
              </a:rPr>
              <a:t> </a:t>
            </a:r>
            <a:r>
              <a:rPr sz="2700" spc="-175" dirty="0">
                <a:latin typeface="Arial MT"/>
                <a:cs typeface="Arial MT"/>
              </a:rPr>
              <a:t>Place</a:t>
            </a:r>
            <a:r>
              <a:rPr sz="2700" spc="-15" dirty="0">
                <a:latin typeface="Arial MT"/>
                <a:cs typeface="Arial MT"/>
              </a:rPr>
              <a:t> </a:t>
            </a:r>
            <a:r>
              <a:rPr sz="2700" spc="-90" dirty="0">
                <a:latin typeface="Arial MT"/>
                <a:cs typeface="Arial MT"/>
              </a:rPr>
              <a:t>'Don't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spc="-150" dirty="0">
                <a:latin typeface="Arial MT"/>
                <a:cs typeface="Arial MT"/>
              </a:rPr>
              <a:t>Forget</a:t>
            </a:r>
            <a:r>
              <a:rPr sz="2700" spc="-10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the</a:t>
            </a:r>
            <a:r>
              <a:rPr sz="2700" spc="-120" dirty="0">
                <a:latin typeface="Arial MT"/>
                <a:cs typeface="Arial MT"/>
              </a:rPr>
              <a:t> </a:t>
            </a:r>
            <a:r>
              <a:rPr sz="2700" spc="-105" dirty="0">
                <a:latin typeface="Arial MT"/>
                <a:cs typeface="Arial MT"/>
              </a:rPr>
              <a:t>Biscuits!'</a:t>
            </a:r>
            <a:r>
              <a:rPr sz="2700" spc="90" dirty="0">
                <a:latin typeface="Arial MT"/>
                <a:cs typeface="Arial MT"/>
              </a:rPr>
              <a:t> </a:t>
            </a:r>
            <a:r>
              <a:rPr sz="2700" spc="-145" dirty="0">
                <a:latin typeface="Arial MT"/>
                <a:cs typeface="Arial MT"/>
              </a:rPr>
              <a:t>signs</a:t>
            </a:r>
            <a:r>
              <a:rPr sz="2700" spc="-75" dirty="0">
                <a:latin typeface="Arial MT"/>
                <a:cs typeface="Arial MT"/>
              </a:rPr>
              <a:t> </a:t>
            </a:r>
            <a:r>
              <a:rPr sz="2700" spc="-50" dirty="0">
                <a:latin typeface="Arial MT"/>
                <a:cs typeface="Arial MT"/>
              </a:rPr>
              <a:t>in</a:t>
            </a:r>
            <a:r>
              <a:rPr sz="2700" spc="-65" dirty="0">
                <a:latin typeface="Arial MT"/>
                <a:cs typeface="Arial MT"/>
              </a:rPr>
              <a:t> </a:t>
            </a:r>
            <a:r>
              <a:rPr sz="2700" spc="-105" dirty="0">
                <a:latin typeface="Arial MT"/>
                <a:cs typeface="Arial MT"/>
              </a:rPr>
              <a:t>the</a:t>
            </a:r>
            <a:r>
              <a:rPr sz="2700" spc="-80" dirty="0">
                <a:latin typeface="Arial MT"/>
                <a:cs typeface="Arial MT"/>
              </a:rPr>
              <a:t> </a:t>
            </a:r>
            <a:r>
              <a:rPr sz="2700" spc="-220" dirty="0">
                <a:latin typeface="Arial MT"/>
                <a:cs typeface="Arial MT"/>
              </a:rPr>
              <a:t>Rice</a:t>
            </a:r>
            <a:r>
              <a:rPr sz="2700" spc="10" dirty="0">
                <a:latin typeface="Arial MT"/>
                <a:cs typeface="Arial MT"/>
              </a:rPr>
              <a:t> </a:t>
            </a:r>
            <a:r>
              <a:rPr sz="2700" spc="-10" dirty="0">
                <a:latin typeface="Arial MT"/>
                <a:cs typeface="Arial MT"/>
              </a:rPr>
              <a:t>aisle.</a:t>
            </a:r>
            <a:endParaRPr sz="2700">
              <a:latin typeface="Arial MT"/>
              <a:cs typeface="Arial MT"/>
            </a:endParaRPr>
          </a:p>
          <a:p>
            <a:pPr marL="495300" indent="-267970">
              <a:lnSpc>
                <a:spcPts val="3015"/>
              </a:lnSpc>
              <a:buChar char="•"/>
              <a:tabLst>
                <a:tab pos="495300" algn="l"/>
              </a:tabLst>
            </a:pPr>
            <a:r>
              <a:rPr sz="2550" spc="-20" dirty="0">
                <a:latin typeface="Arial MT"/>
                <a:cs typeface="Arial MT"/>
              </a:rPr>
              <a:t>Checkout</a:t>
            </a:r>
            <a:r>
              <a:rPr sz="2550" spc="-16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Prompts:</a:t>
            </a:r>
            <a:r>
              <a:rPr sz="2550" spc="-155" dirty="0">
                <a:latin typeface="Arial MT"/>
                <a:cs typeface="Arial MT"/>
              </a:rPr>
              <a:t> </a:t>
            </a:r>
            <a:r>
              <a:rPr sz="2550" spc="-85" dirty="0">
                <a:latin typeface="Arial MT"/>
                <a:cs typeface="Arial MT"/>
              </a:rPr>
              <a:t>Program</a:t>
            </a:r>
            <a:r>
              <a:rPr sz="2550" spc="-90" dirty="0">
                <a:latin typeface="Arial MT"/>
                <a:cs typeface="Arial MT"/>
              </a:rPr>
              <a:t> </a:t>
            </a:r>
            <a:r>
              <a:rPr sz="2550" spc="-295" dirty="0">
                <a:latin typeface="Arial MT"/>
                <a:cs typeface="Arial MT"/>
              </a:rPr>
              <a:t>POS</a:t>
            </a:r>
            <a:r>
              <a:rPr sz="2550" spc="120" dirty="0">
                <a:latin typeface="Arial MT"/>
                <a:cs typeface="Arial MT"/>
              </a:rPr>
              <a:t> </a:t>
            </a:r>
            <a:r>
              <a:rPr sz="2550" spc="-55" dirty="0">
                <a:latin typeface="Arial MT"/>
                <a:cs typeface="Arial MT"/>
              </a:rPr>
              <a:t>systems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to</a:t>
            </a:r>
            <a:r>
              <a:rPr sz="2550" spc="-155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suggest</a:t>
            </a:r>
            <a:r>
              <a:rPr sz="2550" spc="90" dirty="0">
                <a:latin typeface="Arial MT"/>
                <a:cs typeface="Arial MT"/>
              </a:rPr>
              <a:t> </a:t>
            </a:r>
            <a:r>
              <a:rPr sz="2550" spc="-285" dirty="0">
                <a:latin typeface="Arial MT"/>
                <a:cs typeface="Arial MT"/>
              </a:rPr>
              <a:t>a</a:t>
            </a:r>
            <a:r>
              <a:rPr sz="2550" spc="40" dirty="0">
                <a:latin typeface="Arial MT"/>
                <a:cs typeface="Arial MT"/>
              </a:rPr>
              <a:t> </a:t>
            </a:r>
            <a:r>
              <a:rPr sz="2550" spc="-60" dirty="0">
                <a:latin typeface="Arial MT"/>
                <a:cs typeface="Arial MT"/>
              </a:rPr>
              <a:t>complementary</a:t>
            </a:r>
            <a:r>
              <a:rPr sz="2550" spc="15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item</a:t>
            </a:r>
            <a:r>
              <a:rPr sz="2550" spc="-3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when</a:t>
            </a:r>
            <a:r>
              <a:rPr sz="2550" spc="-85" dirty="0">
                <a:latin typeface="Arial MT"/>
                <a:cs typeface="Arial MT"/>
              </a:rPr>
              <a:t> </a:t>
            </a:r>
            <a:r>
              <a:rPr sz="2550" spc="-285" dirty="0">
                <a:latin typeface="Arial MT"/>
                <a:cs typeface="Arial MT"/>
              </a:rPr>
              <a:t>a</a:t>
            </a:r>
            <a:r>
              <a:rPr sz="2550" spc="9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trigger</a:t>
            </a:r>
            <a:r>
              <a:rPr sz="2550" spc="-5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item</a:t>
            </a:r>
            <a:r>
              <a:rPr sz="2550" spc="-17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is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scanned.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82427" y="4865511"/>
            <a:ext cx="4094479" cy="4279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600" spc="-30" dirty="0">
                <a:latin typeface="Arial MT"/>
                <a:cs typeface="Arial MT"/>
              </a:rPr>
              <a:t>**Confidence:</a:t>
            </a:r>
            <a:r>
              <a:rPr sz="2600" spc="-45" dirty="0">
                <a:latin typeface="Arial MT"/>
                <a:cs typeface="Arial MT"/>
              </a:rPr>
              <a:t> </a:t>
            </a:r>
            <a:r>
              <a:rPr sz="2600" spc="-75" dirty="0">
                <a:latin typeface="Arial MT"/>
                <a:cs typeface="Arial MT"/>
              </a:rPr>
              <a:t>Much</a:t>
            </a:r>
            <a:r>
              <a:rPr sz="2600" spc="-229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Lower**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12019" y="4848930"/>
            <a:ext cx="9623425" cy="4171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8749665" algn="l"/>
              </a:tabLst>
            </a:pPr>
            <a:r>
              <a:rPr sz="2550" spc="-10" dirty="0">
                <a:latin typeface="Arial MT"/>
                <a:cs typeface="Arial MT"/>
              </a:rPr>
              <a:t>{Biscuits}</a:t>
            </a:r>
            <a:r>
              <a:rPr sz="2550" dirty="0">
                <a:latin typeface="Arial MT"/>
                <a:cs typeface="Arial MT"/>
              </a:rPr>
              <a:t>	</a:t>
            </a:r>
            <a:r>
              <a:rPr sz="2550" spc="-10" dirty="0">
                <a:latin typeface="Arial MT"/>
                <a:cs typeface="Arial MT"/>
              </a:rPr>
              <a:t>{Rice}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350500" y="4406900"/>
            <a:ext cx="5156200" cy="22987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300" y="482600"/>
            <a:ext cx="622300" cy="6223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216400" y="584200"/>
            <a:ext cx="508000" cy="5080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5684500" y="5664200"/>
            <a:ext cx="800100" cy="1524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385300" y="5397500"/>
            <a:ext cx="774700" cy="3175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291296" y="352424"/>
            <a:ext cx="11247755" cy="1625600"/>
          </a:xfrm>
          <a:prstGeom prst="rect">
            <a:avLst/>
          </a:prstGeom>
        </p:spPr>
        <p:txBody>
          <a:bodyPr vert="horz" wrap="square" lIns="0" tIns="132715" rIns="0" bIns="0" rtlCol="0">
            <a:spAutoFit/>
          </a:bodyPr>
          <a:lstStyle/>
          <a:p>
            <a:pPr marL="12700" marR="5080" indent="-635">
              <a:lnSpc>
                <a:spcPts val="5850"/>
              </a:lnSpc>
              <a:spcBef>
                <a:spcPts val="1045"/>
              </a:spcBef>
              <a:tabLst>
                <a:tab pos="3529965" algn="l"/>
              </a:tabLst>
            </a:pPr>
            <a:r>
              <a:rPr sz="5600" spc="-30" dirty="0">
                <a:solidFill>
                  <a:srgbClr val="000000"/>
                </a:solidFill>
              </a:rPr>
              <a:t>Insight</a:t>
            </a:r>
            <a:r>
              <a:rPr sz="5600" spc="-250" dirty="0">
                <a:solidFill>
                  <a:srgbClr val="000000"/>
                </a:solidFill>
              </a:rPr>
              <a:t> </a:t>
            </a:r>
            <a:r>
              <a:rPr sz="5600" spc="-25" dirty="0">
                <a:solidFill>
                  <a:srgbClr val="000000"/>
                </a:solidFill>
              </a:rPr>
              <a:t>5:</a:t>
            </a:r>
            <a:r>
              <a:rPr sz="5600" dirty="0">
                <a:solidFill>
                  <a:srgbClr val="000000"/>
                </a:solidFill>
              </a:rPr>
              <a:t>	</a:t>
            </a:r>
            <a:r>
              <a:rPr sz="5600" spc="-135" dirty="0">
                <a:solidFill>
                  <a:srgbClr val="000000"/>
                </a:solidFill>
              </a:rPr>
              <a:t>Framework</a:t>
            </a:r>
            <a:r>
              <a:rPr sz="5600" spc="-155" dirty="0">
                <a:solidFill>
                  <a:srgbClr val="000000"/>
                </a:solidFill>
              </a:rPr>
              <a:t> </a:t>
            </a:r>
            <a:r>
              <a:rPr sz="5600" spc="-75" dirty="0">
                <a:solidFill>
                  <a:srgbClr val="000000"/>
                </a:solidFill>
              </a:rPr>
              <a:t>for</a:t>
            </a:r>
            <a:r>
              <a:rPr sz="5600" spc="-245" dirty="0">
                <a:solidFill>
                  <a:srgbClr val="000000"/>
                </a:solidFill>
              </a:rPr>
              <a:t> </a:t>
            </a:r>
            <a:r>
              <a:rPr sz="5600" spc="-10" dirty="0">
                <a:solidFill>
                  <a:srgbClr val="000000"/>
                </a:solidFill>
              </a:rPr>
              <a:t>Confident, </a:t>
            </a:r>
            <a:r>
              <a:rPr sz="5600" spc="-40" dirty="0">
                <a:solidFill>
                  <a:srgbClr val="000000"/>
                </a:solidFill>
              </a:rPr>
              <a:t>Data-</a:t>
            </a:r>
            <a:r>
              <a:rPr sz="5600" dirty="0">
                <a:solidFill>
                  <a:srgbClr val="000000"/>
                </a:solidFill>
              </a:rPr>
              <a:t>Driven</a:t>
            </a:r>
            <a:r>
              <a:rPr sz="5600" spc="5" dirty="0">
                <a:solidFill>
                  <a:srgbClr val="000000"/>
                </a:solidFill>
              </a:rPr>
              <a:t> </a:t>
            </a:r>
            <a:r>
              <a:rPr sz="5600" spc="-10" dirty="0">
                <a:solidFill>
                  <a:srgbClr val="000000"/>
                </a:solidFill>
              </a:rPr>
              <a:t>Decisions</a:t>
            </a:r>
            <a:endParaRPr sz="5600"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307708" y="2135271"/>
            <a:ext cx="14549119" cy="190690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135"/>
              </a:spcBef>
            </a:pPr>
            <a:r>
              <a:rPr sz="3300" spc="-20" dirty="0">
                <a:solidFill>
                  <a:srgbClr val="082D4D"/>
                </a:solidFill>
                <a:latin typeface="Arial MT"/>
                <a:cs typeface="Arial MT"/>
              </a:rPr>
              <a:t>The</a:t>
            </a:r>
            <a:r>
              <a:rPr sz="3300" spc="-210" dirty="0">
                <a:solidFill>
                  <a:srgbClr val="082D4D"/>
                </a:solidFill>
                <a:latin typeface="Arial MT"/>
                <a:cs typeface="Arial MT"/>
              </a:rPr>
              <a:t> </a:t>
            </a:r>
            <a:r>
              <a:rPr sz="3300" spc="-10" dirty="0">
                <a:solidFill>
                  <a:srgbClr val="0C3354"/>
                </a:solidFill>
                <a:latin typeface="Arial MT"/>
                <a:cs typeface="Arial MT"/>
              </a:rPr>
              <a:t>Finding</a:t>
            </a:r>
            <a:endParaRPr sz="3300">
              <a:latin typeface="Arial MT"/>
              <a:cs typeface="Arial MT"/>
            </a:endParaRPr>
          </a:p>
          <a:p>
            <a:pPr marL="12700" marR="5080" indent="635">
              <a:lnSpc>
                <a:spcPct val="93800"/>
              </a:lnSpc>
              <a:spcBef>
                <a:spcPts val="1035"/>
              </a:spcBef>
              <a:tabLst>
                <a:tab pos="6337935" algn="l"/>
              </a:tabLst>
            </a:pPr>
            <a:r>
              <a:rPr sz="2600" spc="-120" dirty="0">
                <a:latin typeface="Arial MT"/>
                <a:cs typeface="Arial MT"/>
              </a:rPr>
              <a:t>By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35" dirty="0">
                <a:latin typeface="Arial MT"/>
                <a:cs typeface="Arial MT"/>
              </a:rPr>
              <a:t>filtering</a:t>
            </a:r>
            <a:r>
              <a:rPr sz="2600" spc="-145" dirty="0">
                <a:latin typeface="Arial MT"/>
                <a:cs typeface="Arial MT"/>
              </a:rPr>
              <a:t> </a:t>
            </a:r>
            <a:r>
              <a:rPr sz="2600" spc="-70" dirty="0">
                <a:latin typeface="Arial MT"/>
                <a:cs typeface="Arial MT"/>
              </a:rPr>
              <a:t>rules</a:t>
            </a:r>
            <a:r>
              <a:rPr sz="2600" spc="-11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150" dirty="0">
                <a:latin typeface="Arial MT"/>
                <a:cs typeface="Arial MT"/>
              </a:rPr>
              <a:t> </a:t>
            </a:r>
            <a:r>
              <a:rPr sz="2600" spc="-75" dirty="0">
                <a:latin typeface="Arial MT"/>
                <a:cs typeface="Arial MT"/>
              </a:rPr>
              <a:t>high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55" dirty="0">
                <a:latin typeface="Arial MT"/>
                <a:cs typeface="Arial MT"/>
              </a:rPr>
              <a:t>confidence</a:t>
            </a:r>
            <a:r>
              <a:rPr sz="2600" spc="90" dirty="0">
                <a:latin typeface="Arial MT"/>
                <a:cs typeface="Arial MT"/>
              </a:rPr>
              <a:t> </a:t>
            </a:r>
            <a:r>
              <a:rPr sz="2600" spc="-400" dirty="0">
                <a:latin typeface="Arial MT"/>
                <a:cs typeface="Arial MT"/>
              </a:rPr>
              <a:t>(&gt;=60@o)</a:t>
            </a:r>
            <a:r>
              <a:rPr sz="2600" dirty="0">
                <a:latin typeface="Arial MT"/>
                <a:cs typeface="Arial MT"/>
              </a:rPr>
              <a:t>	</a:t>
            </a:r>
            <a:r>
              <a:rPr sz="2600" spc="-135" dirty="0">
                <a:latin typeface="Arial MT"/>
                <a:cs typeface="Arial MT"/>
              </a:rPr>
              <a:t>and</a:t>
            </a:r>
            <a:r>
              <a:rPr sz="2600" spc="-65" dirty="0">
                <a:latin typeface="Arial MT"/>
                <a:cs typeface="Arial MT"/>
              </a:rPr>
              <a:t> high</a:t>
            </a:r>
            <a:r>
              <a:rPr sz="2600" spc="-12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lift</a:t>
            </a:r>
            <a:r>
              <a:rPr sz="2600" spc="-125" dirty="0">
                <a:latin typeface="Arial MT"/>
                <a:cs typeface="Arial MT"/>
              </a:rPr>
              <a:t> </a:t>
            </a:r>
            <a:r>
              <a:rPr sz="2600" spc="-135" dirty="0">
                <a:latin typeface="Arial MT"/>
                <a:cs typeface="Arial MT"/>
              </a:rPr>
              <a:t>(&gt;1),</a:t>
            </a:r>
            <a:r>
              <a:rPr sz="2600" spc="45" dirty="0">
                <a:latin typeface="Arial MT"/>
                <a:cs typeface="Arial MT"/>
              </a:rPr>
              <a:t> </a:t>
            </a:r>
            <a:r>
              <a:rPr sz="2600" spc="-155" dirty="0">
                <a:latin typeface="Arial MT"/>
                <a:cs typeface="Arial MT"/>
              </a:rPr>
              <a:t>we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60" dirty="0">
                <a:latin typeface="Arial MT"/>
                <a:cs typeface="Arial MT"/>
              </a:rPr>
              <a:t>systematically</a:t>
            </a:r>
            <a:r>
              <a:rPr sz="2600" spc="-125" dirty="0">
                <a:latin typeface="Arial MT"/>
                <a:cs typeface="Arial MT"/>
              </a:rPr>
              <a:t> </a:t>
            </a:r>
            <a:r>
              <a:rPr sz="2600" spc="-70" dirty="0">
                <a:latin typeface="Arial MT"/>
                <a:cs typeface="Arial MT"/>
              </a:rPr>
              <a:t>eliminated</a:t>
            </a:r>
            <a:r>
              <a:rPr sz="2600" spc="5" dirty="0">
                <a:latin typeface="Arial MT"/>
                <a:cs typeface="Arial MT"/>
              </a:rPr>
              <a:t> </a:t>
            </a:r>
            <a:r>
              <a:rPr sz="2600" spc="-80" dirty="0">
                <a:latin typeface="Arial MT"/>
                <a:cs typeface="Arial MT"/>
              </a:rPr>
              <a:t>thousands</a:t>
            </a:r>
            <a:r>
              <a:rPr sz="2600" spc="8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of </a:t>
            </a:r>
            <a:r>
              <a:rPr sz="2600" spc="-55" dirty="0">
                <a:latin typeface="Arial MT"/>
                <a:cs typeface="Arial MT"/>
              </a:rPr>
              <a:t>coincidental</a:t>
            </a:r>
            <a:r>
              <a:rPr sz="2600" spc="-130" dirty="0">
                <a:latin typeface="Arial MT"/>
                <a:cs typeface="Arial MT"/>
              </a:rPr>
              <a:t> </a:t>
            </a:r>
            <a:r>
              <a:rPr sz="2600" spc="-80" dirty="0">
                <a:latin typeface="Arial MT"/>
                <a:cs typeface="Arial MT"/>
              </a:rPr>
              <a:t>associations.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145" dirty="0">
                <a:latin typeface="Arial MT"/>
                <a:cs typeface="Arial MT"/>
              </a:rPr>
              <a:t>Our</a:t>
            </a:r>
            <a:r>
              <a:rPr sz="2600" spc="-35" dirty="0">
                <a:latin typeface="Arial MT"/>
                <a:cs typeface="Arial MT"/>
              </a:rPr>
              <a:t> </a:t>
            </a:r>
            <a:r>
              <a:rPr sz="2600" spc="-55" dirty="0">
                <a:latin typeface="Arial MT"/>
                <a:cs typeface="Arial MT"/>
              </a:rPr>
              <a:t>final</a:t>
            </a:r>
            <a:r>
              <a:rPr sz="2600" spc="-125" dirty="0">
                <a:latin typeface="Arial MT"/>
                <a:cs typeface="Arial MT"/>
              </a:rPr>
              <a:t> </a:t>
            </a:r>
            <a:r>
              <a:rPr sz="2600" spc="-45" dirty="0">
                <a:latin typeface="Arial MT"/>
                <a:cs typeface="Arial MT"/>
              </a:rPr>
              <a:t>rule</a:t>
            </a:r>
            <a:r>
              <a:rPr sz="2600" spc="-14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set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of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80" dirty="0">
                <a:latin typeface="Arial MT"/>
                <a:cs typeface="Arial MT"/>
              </a:rPr>
              <a:t>2,145</a:t>
            </a:r>
            <a:r>
              <a:rPr sz="2600" dirty="0">
                <a:latin typeface="Arial MT"/>
                <a:cs typeface="Arial MT"/>
              </a:rPr>
              <a:t> </a:t>
            </a:r>
            <a:r>
              <a:rPr sz="2600" spc="-80" dirty="0">
                <a:latin typeface="Arial MT"/>
                <a:cs typeface="Arial MT"/>
              </a:rPr>
              <a:t>rules</a:t>
            </a:r>
            <a:r>
              <a:rPr sz="2600" spc="-100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represents</a:t>
            </a:r>
            <a:r>
              <a:rPr sz="2600" spc="-70" dirty="0">
                <a:latin typeface="Arial MT"/>
                <a:cs typeface="Arial MT"/>
              </a:rPr>
              <a:t> </a:t>
            </a:r>
            <a:r>
              <a:rPr sz="2600" spc="-35" dirty="0">
                <a:latin typeface="Arial MT"/>
                <a:cs typeface="Arial MT"/>
              </a:rPr>
              <a:t>statistically</a:t>
            </a:r>
            <a:r>
              <a:rPr sz="2600" spc="-75" dirty="0">
                <a:latin typeface="Arial MT"/>
                <a:cs typeface="Arial MT"/>
              </a:rPr>
              <a:t> </a:t>
            </a:r>
            <a:r>
              <a:rPr sz="2600" spc="-85" dirty="0">
                <a:latin typeface="Arial MT"/>
                <a:cs typeface="Arial MT"/>
              </a:rPr>
              <a:t>meaningful</a:t>
            </a:r>
            <a:r>
              <a:rPr sz="2600" spc="-40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purchasing behaviors.</a:t>
            </a:r>
            <a:endParaRPr sz="2600">
              <a:latin typeface="Arial MT"/>
              <a:cs typeface="Arial MT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1025"/>
              </a:spcBef>
            </a:pPr>
            <a:r>
              <a:rPr spc="-30" dirty="0">
                <a:solidFill>
                  <a:srgbClr val="0E3659"/>
                </a:solidFill>
              </a:rPr>
              <a:t>The</a:t>
            </a:r>
            <a:r>
              <a:rPr spc="-215" dirty="0">
                <a:solidFill>
                  <a:srgbClr val="0E3659"/>
                </a:solidFill>
              </a:rPr>
              <a:t> </a:t>
            </a:r>
            <a:r>
              <a:rPr spc="80" dirty="0"/>
              <a:t>Insight</a:t>
            </a:r>
          </a:p>
          <a:p>
            <a:pPr marL="12700" marR="5080" indent="4445">
              <a:lnSpc>
                <a:spcPct val="89500"/>
              </a:lnSpc>
              <a:spcBef>
                <a:spcPts val="1080"/>
              </a:spcBef>
            </a:pPr>
            <a:r>
              <a:rPr sz="2700" spc="-170" dirty="0">
                <a:solidFill>
                  <a:srgbClr val="000000"/>
                </a:solidFill>
              </a:rPr>
              <a:t>This</a:t>
            </a:r>
            <a:r>
              <a:rPr sz="2700" spc="-20" dirty="0">
                <a:solidFill>
                  <a:srgbClr val="000000"/>
                </a:solidFill>
              </a:rPr>
              <a:t> </a:t>
            </a:r>
            <a:r>
              <a:rPr sz="2700" spc="-120" dirty="0">
                <a:solidFill>
                  <a:srgbClr val="000000"/>
                </a:solidFill>
              </a:rPr>
              <a:t>rigorous</a:t>
            </a:r>
            <a:r>
              <a:rPr sz="2700" spc="-65" dirty="0">
                <a:solidFill>
                  <a:srgbClr val="000000"/>
                </a:solidFill>
              </a:rPr>
              <a:t> filtering</a:t>
            </a:r>
            <a:r>
              <a:rPr sz="2700" spc="-125" dirty="0">
                <a:solidFill>
                  <a:srgbClr val="000000"/>
                </a:solidFill>
              </a:rPr>
              <a:t> </a:t>
            </a:r>
            <a:r>
              <a:rPr sz="2700" spc="-160" dirty="0">
                <a:solidFill>
                  <a:srgbClr val="000000"/>
                </a:solidFill>
              </a:rPr>
              <a:t>ensures</a:t>
            </a:r>
            <a:r>
              <a:rPr sz="2700" spc="-25" dirty="0">
                <a:solidFill>
                  <a:srgbClr val="000000"/>
                </a:solidFill>
              </a:rPr>
              <a:t> </a:t>
            </a:r>
            <a:r>
              <a:rPr sz="2700" spc="-45" dirty="0">
                <a:solidFill>
                  <a:srgbClr val="000000"/>
                </a:solidFill>
              </a:rPr>
              <a:t>that</a:t>
            </a:r>
            <a:r>
              <a:rPr sz="2700" spc="-145" dirty="0">
                <a:solidFill>
                  <a:srgbClr val="000000"/>
                </a:solidFill>
              </a:rPr>
              <a:t> business</a:t>
            </a:r>
            <a:r>
              <a:rPr sz="2700" spc="125" dirty="0">
                <a:solidFill>
                  <a:srgbClr val="000000"/>
                </a:solidFill>
              </a:rPr>
              <a:t> </a:t>
            </a:r>
            <a:r>
              <a:rPr sz="2700" spc="-105" dirty="0">
                <a:solidFill>
                  <a:srgbClr val="000000"/>
                </a:solidFill>
              </a:rPr>
              <a:t>strategies </a:t>
            </a:r>
            <a:r>
              <a:rPr sz="2750" spc="-195" dirty="0">
                <a:solidFill>
                  <a:srgbClr val="000000"/>
                </a:solidFill>
              </a:rPr>
              <a:t>are</a:t>
            </a:r>
            <a:r>
              <a:rPr sz="2750" spc="-70" dirty="0">
                <a:solidFill>
                  <a:srgbClr val="000000"/>
                </a:solidFill>
              </a:rPr>
              <a:t> </a:t>
            </a:r>
            <a:r>
              <a:rPr sz="2750" spc="-90" dirty="0">
                <a:solidFill>
                  <a:srgbClr val="000000"/>
                </a:solidFill>
              </a:rPr>
              <a:t>built</a:t>
            </a:r>
            <a:r>
              <a:rPr sz="2750" spc="-105" dirty="0">
                <a:solidFill>
                  <a:srgbClr val="000000"/>
                </a:solidFill>
              </a:rPr>
              <a:t> </a:t>
            </a:r>
            <a:r>
              <a:rPr sz="2750" spc="-190" dirty="0">
                <a:solidFill>
                  <a:srgbClr val="000000"/>
                </a:solidFill>
              </a:rPr>
              <a:t>on</a:t>
            </a:r>
            <a:r>
              <a:rPr sz="2750" spc="-55" dirty="0">
                <a:solidFill>
                  <a:srgbClr val="000000"/>
                </a:solidFill>
              </a:rPr>
              <a:t> </a:t>
            </a:r>
            <a:r>
              <a:rPr sz="2750" spc="-415" dirty="0">
                <a:solidFill>
                  <a:srgbClr val="000000"/>
                </a:solidFill>
              </a:rPr>
              <a:t>a</a:t>
            </a:r>
            <a:r>
              <a:rPr sz="2750" spc="25" dirty="0">
                <a:solidFill>
                  <a:srgbClr val="000000"/>
                </a:solidFill>
              </a:rPr>
              <a:t> </a:t>
            </a:r>
            <a:r>
              <a:rPr sz="2750" spc="-150" dirty="0">
                <a:solidFill>
                  <a:srgbClr val="000000"/>
                </a:solidFill>
              </a:rPr>
              <a:t>reliable</a:t>
            </a:r>
            <a:r>
              <a:rPr sz="2750" spc="-40" dirty="0">
                <a:solidFill>
                  <a:srgbClr val="000000"/>
                </a:solidFill>
              </a:rPr>
              <a:t> </a:t>
            </a:r>
            <a:r>
              <a:rPr sz="2750" spc="-130" dirty="0">
                <a:solidFill>
                  <a:srgbClr val="000000"/>
                </a:solidFill>
              </a:rPr>
              <a:t>foundation.</a:t>
            </a:r>
            <a:r>
              <a:rPr sz="2750" spc="-120" dirty="0">
                <a:solidFill>
                  <a:srgbClr val="000000"/>
                </a:solidFill>
              </a:rPr>
              <a:t> </a:t>
            </a:r>
            <a:r>
              <a:rPr sz="2750" dirty="0">
                <a:solidFill>
                  <a:srgbClr val="000000"/>
                </a:solidFill>
              </a:rPr>
              <a:t>It</a:t>
            </a:r>
            <a:r>
              <a:rPr sz="2750" spc="-120" dirty="0">
                <a:solidFill>
                  <a:srgbClr val="000000"/>
                </a:solidFill>
              </a:rPr>
              <a:t> </a:t>
            </a:r>
            <a:r>
              <a:rPr sz="2750" spc="-170" dirty="0">
                <a:solidFill>
                  <a:srgbClr val="000000"/>
                </a:solidFill>
              </a:rPr>
              <a:t>separates</a:t>
            </a:r>
            <a:r>
              <a:rPr sz="2750" spc="170" dirty="0">
                <a:solidFill>
                  <a:srgbClr val="000000"/>
                </a:solidFill>
              </a:rPr>
              <a:t> </a:t>
            </a:r>
            <a:r>
              <a:rPr sz="2750" spc="-20" dirty="0">
                <a:solidFill>
                  <a:srgbClr val="000000"/>
                </a:solidFill>
              </a:rPr>
              <a:t>true </a:t>
            </a:r>
            <a:r>
              <a:rPr sz="2750" spc="-170" dirty="0">
                <a:solidFill>
                  <a:srgbClr val="000000"/>
                </a:solidFill>
              </a:rPr>
              <a:t>behavioral</a:t>
            </a:r>
            <a:r>
              <a:rPr sz="2750" spc="-20" dirty="0">
                <a:solidFill>
                  <a:srgbClr val="000000"/>
                </a:solidFill>
              </a:rPr>
              <a:t> </a:t>
            </a:r>
            <a:r>
              <a:rPr sz="2750" spc="-110" dirty="0">
                <a:solidFill>
                  <a:srgbClr val="000000"/>
                </a:solidFill>
              </a:rPr>
              <a:t>patterns</a:t>
            </a:r>
            <a:r>
              <a:rPr sz="2750" spc="-65" dirty="0">
                <a:solidFill>
                  <a:srgbClr val="000000"/>
                </a:solidFill>
              </a:rPr>
              <a:t> </a:t>
            </a:r>
            <a:r>
              <a:rPr sz="2750" spc="-130" dirty="0">
                <a:solidFill>
                  <a:srgbClr val="000000"/>
                </a:solidFill>
              </a:rPr>
              <a:t>from</a:t>
            </a:r>
            <a:r>
              <a:rPr sz="2750" spc="-120" dirty="0">
                <a:solidFill>
                  <a:srgbClr val="000000"/>
                </a:solidFill>
              </a:rPr>
              <a:t> </a:t>
            </a:r>
            <a:r>
              <a:rPr sz="2750" spc="-180" dirty="0">
                <a:solidFill>
                  <a:srgbClr val="000000"/>
                </a:solidFill>
              </a:rPr>
              <a:t>random</a:t>
            </a:r>
            <a:r>
              <a:rPr sz="2750" spc="80" dirty="0">
                <a:solidFill>
                  <a:srgbClr val="000000"/>
                </a:solidFill>
              </a:rPr>
              <a:t> </a:t>
            </a:r>
            <a:r>
              <a:rPr sz="2750" spc="-185" dirty="0">
                <a:solidFill>
                  <a:srgbClr val="000000"/>
                </a:solidFill>
              </a:rPr>
              <a:t>noise,</a:t>
            </a:r>
            <a:r>
              <a:rPr sz="2750" spc="-55" dirty="0">
                <a:solidFill>
                  <a:srgbClr val="000000"/>
                </a:solidFill>
              </a:rPr>
              <a:t> </a:t>
            </a:r>
            <a:r>
              <a:rPr sz="2750" spc="-135" dirty="0">
                <a:solidFill>
                  <a:srgbClr val="000000"/>
                </a:solidFill>
              </a:rPr>
              <a:t>reducing</a:t>
            </a:r>
            <a:r>
              <a:rPr sz="2750" spc="40" dirty="0">
                <a:solidFill>
                  <a:srgbClr val="000000"/>
                </a:solidFill>
              </a:rPr>
              <a:t> </a:t>
            </a:r>
            <a:r>
              <a:rPr sz="2750" spc="-25" dirty="0">
                <a:solidFill>
                  <a:srgbClr val="000000"/>
                </a:solidFill>
              </a:rPr>
              <a:t>the </a:t>
            </a:r>
            <a:r>
              <a:rPr sz="2750" spc="-135" dirty="0">
                <a:solidFill>
                  <a:srgbClr val="000000"/>
                </a:solidFill>
              </a:rPr>
              <a:t>risk</a:t>
            </a:r>
            <a:r>
              <a:rPr sz="2750" spc="-55" dirty="0">
                <a:solidFill>
                  <a:srgbClr val="000000"/>
                </a:solidFill>
              </a:rPr>
              <a:t> </a:t>
            </a:r>
            <a:r>
              <a:rPr sz="2750" spc="-85" dirty="0">
                <a:solidFill>
                  <a:srgbClr val="000000"/>
                </a:solidFill>
              </a:rPr>
              <a:t>of</a:t>
            </a:r>
            <a:r>
              <a:rPr sz="2750" spc="-100" dirty="0">
                <a:solidFill>
                  <a:srgbClr val="000000"/>
                </a:solidFill>
              </a:rPr>
              <a:t> </a:t>
            </a:r>
            <a:r>
              <a:rPr sz="2750" spc="-110" dirty="0">
                <a:solidFill>
                  <a:srgbClr val="000000"/>
                </a:solidFill>
              </a:rPr>
              <a:t>acting</a:t>
            </a:r>
            <a:r>
              <a:rPr sz="2750" spc="5" dirty="0">
                <a:solidFill>
                  <a:srgbClr val="000000"/>
                </a:solidFill>
              </a:rPr>
              <a:t> </a:t>
            </a:r>
            <a:r>
              <a:rPr sz="2750" spc="-195" dirty="0">
                <a:solidFill>
                  <a:srgbClr val="000000"/>
                </a:solidFill>
              </a:rPr>
              <a:t>on</a:t>
            </a:r>
            <a:r>
              <a:rPr sz="2750" spc="-90" dirty="0">
                <a:solidFill>
                  <a:srgbClr val="000000"/>
                </a:solidFill>
              </a:rPr>
              <a:t> </a:t>
            </a:r>
            <a:r>
              <a:rPr sz="2750" spc="-155" dirty="0">
                <a:solidFill>
                  <a:srgbClr val="000000"/>
                </a:solidFill>
              </a:rPr>
              <a:t>flawed</a:t>
            </a:r>
            <a:r>
              <a:rPr sz="2750" spc="-110" dirty="0">
                <a:solidFill>
                  <a:srgbClr val="000000"/>
                </a:solidFill>
              </a:rPr>
              <a:t> </a:t>
            </a:r>
            <a:r>
              <a:rPr sz="2750" spc="-90" dirty="0">
                <a:solidFill>
                  <a:srgbClr val="000000"/>
                </a:solidFill>
              </a:rPr>
              <a:t>assumptions.</a:t>
            </a:r>
            <a:endParaRPr sz="2750"/>
          </a:p>
        </p:txBody>
      </p:sp>
      <p:sp>
        <p:nvSpPr>
          <p:cNvPr id="10" name="object 10"/>
          <p:cNvSpPr txBox="1"/>
          <p:nvPr/>
        </p:nvSpPr>
        <p:spPr>
          <a:xfrm>
            <a:off x="1302490" y="6656471"/>
            <a:ext cx="15013305" cy="2318385"/>
          </a:xfrm>
          <a:prstGeom prst="rect">
            <a:avLst/>
          </a:prstGeom>
        </p:spPr>
        <p:txBody>
          <a:bodyPr vert="horz" wrap="square" lIns="0" tIns="144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35"/>
              </a:spcBef>
            </a:pPr>
            <a:r>
              <a:rPr sz="3300" dirty="0">
                <a:solidFill>
                  <a:srgbClr val="082F50"/>
                </a:solidFill>
                <a:latin typeface="Arial MT"/>
                <a:cs typeface="Arial MT"/>
              </a:rPr>
              <a:t>Business</a:t>
            </a:r>
            <a:r>
              <a:rPr sz="3300" spc="105" dirty="0">
                <a:solidFill>
                  <a:srgbClr val="082F50"/>
                </a:solidFill>
                <a:latin typeface="Arial MT"/>
                <a:cs typeface="Arial MT"/>
              </a:rPr>
              <a:t> </a:t>
            </a:r>
            <a:r>
              <a:rPr sz="3300" spc="75" dirty="0">
                <a:solidFill>
                  <a:srgbClr val="053159"/>
                </a:solidFill>
                <a:latin typeface="Arial MT"/>
                <a:cs typeface="Arial MT"/>
              </a:rPr>
              <a:t>Action</a:t>
            </a:r>
            <a:endParaRPr sz="3300">
              <a:latin typeface="Arial MT"/>
              <a:cs typeface="Arial MT"/>
            </a:endParaRPr>
          </a:p>
          <a:p>
            <a:pPr marL="462915" marR="5080" indent="-272415">
              <a:lnSpc>
                <a:spcPts val="2900"/>
              </a:lnSpc>
              <a:spcBef>
                <a:spcPts val="1120"/>
              </a:spcBef>
              <a:buChar char="•"/>
              <a:tabLst>
                <a:tab pos="466090" algn="l"/>
              </a:tabLst>
            </a:pPr>
            <a:r>
              <a:rPr sz="2600" spc="-40" dirty="0">
                <a:latin typeface="Arial MT"/>
                <a:cs typeface="Arial MT"/>
              </a:rPr>
              <a:t>Merchandising</a:t>
            </a:r>
            <a:r>
              <a:rPr sz="2600" spc="-145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Strategy:</a:t>
            </a:r>
            <a:r>
              <a:rPr sz="2600" spc="-160" dirty="0">
                <a:latin typeface="Arial MT"/>
                <a:cs typeface="Arial MT"/>
              </a:rPr>
              <a:t> </a:t>
            </a:r>
            <a:r>
              <a:rPr sz="2600" spc="-165" dirty="0">
                <a:latin typeface="Arial MT"/>
                <a:cs typeface="Arial MT"/>
              </a:rPr>
              <a:t>Use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the</a:t>
            </a:r>
            <a:r>
              <a:rPr sz="2600" spc="-180" dirty="0">
                <a:latin typeface="Arial MT"/>
                <a:cs typeface="Arial MT"/>
              </a:rPr>
              <a:t> </a:t>
            </a:r>
            <a:r>
              <a:rPr sz="2600" spc="-55" dirty="0">
                <a:latin typeface="Arial MT"/>
                <a:cs typeface="Arial MT"/>
              </a:rPr>
              <a:t>final,</a:t>
            </a:r>
            <a:r>
              <a:rPr sz="2600" spc="-130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filtered</a:t>
            </a:r>
            <a:r>
              <a:rPr sz="2600" spc="-155" dirty="0">
                <a:latin typeface="Arial MT"/>
                <a:cs typeface="Arial MT"/>
              </a:rPr>
              <a:t> </a:t>
            </a:r>
            <a:r>
              <a:rPr sz="2600" spc="-75" dirty="0">
                <a:latin typeface="Arial MT"/>
                <a:cs typeface="Arial MT"/>
              </a:rPr>
              <a:t>rule</a:t>
            </a:r>
            <a:r>
              <a:rPr sz="2600" spc="-10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set</a:t>
            </a:r>
            <a:r>
              <a:rPr sz="2600" spc="-155" dirty="0">
                <a:latin typeface="Arial MT"/>
                <a:cs typeface="Arial MT"/>
              </a:rPr>
              <a:t> </a:t>
            </a:r>
            <a:r>
              <a:rPr sz="2600" spc="-165" dirty="0">
                <a:latin typeface="Arial MT"/>
                <a:cs typeface="Arial MT"/>
              </a:rPr>
              <a:t>as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210" dirty="0">
                <a:latin typeface="Arial MT"/>
                <a:cs typeface="Arial MT"/>
              </a:rPr>
              <a:t>a</a:t>
            </a:r>
            <a:r>
              <a:rPr sz="2600" spc="-50" dirty="0">
                <a:latin typeface="Arial MT"/>
                <a:cs typeface="Arial MT"/>
              </a:rPr>
              <a:t> </a:t>
            </a:r>
            <a:r>
              <a:rPr sz="2600" spc="-65" dirty="0">
                <a:latin typeface="Arial MT"/>
                <a:cs typeface="Arial MT"/>
              </a:rPr>
              <a:t>primary</a:t>
            </a:r>
            <a:r>
              <a:rPr sz="2600" spc="-120" dirty="0">
                <a:latin typeface="Arial MT"/>
                <a:cs typeface="Arial MT"/>
              </a:rPr>
              <a:t> </a:t>
            </a:r>
            <a:r>
              <a:rPr sz="2600" spc="-20" dirty="0">
                <a:latin typeface="Arial MT"/>
                <a:cs typeface="Arial MT"/>
              </a:rPr>
              <a:t>input</a:t>
            </a:r>
            <a:r>
              <a:rPr sz="2600" spc="-90" dirty="0">
                <a:latin typeface="Arial MT"/>
                <a:cs typeface="Arial MT"/>
              </a:rPr>
              <a:t> </a:t>
            </a:r>
            <a:r>
              <a:rPr sz="2600" dirty="0">
                <a:latin typeface="Arial MT"/>
                <a:cs typeface="Arial MT"/>
              </a:rPr>
              <a:t>for</a:t>
            </a:r>
            <a:r>
              <a:rPr sz="2600" spc="-65" dirty="0">
                <a:latin typeface="Arial MT"/>
                <a:cs typeface="Arial MT"/>
              </a:rPr>
              <a:t> </a:t>
            </a:r>
            <a:r>
              <a:rPr sz="2600" spc="-40" dirty="0">
                <a:latin typeface="Arial MT"/>
                <a:cs typeface="Arial MT"/>
              </a:rPr>
              <a:t>quarterly</a:t>
            </a:r>
            <a:r>
              <a:rPr sz="2600" spc="-10" dirty="0">
                <a:latin typeface="Arial MT"/>
                <a:cs typeface="Arial MT"/>
              </a:rPr>
              <a:t> </a:t>
            </a:r>
            <a:r>
              <a:rPr sz="2600" spc="-95" dirty="0">
                <a:latin typeface="Arial MT"/>
                <a:cs typeface="Arial MT"/>
              </a:rPr>
              <a:t>merchandising</a:t>
            </a:r>
            <a:r>
              <a:rPr sz="2600" spc="-15" dirty="0">
                <a:latin typeface="Arial MT"/>
                <a:cs typeface="Arial MT"/>
              </a:rPr>
              <a:t> </a:t>
            </a:r>
            <a:r>
              <a:rPr sz="2600" spc="-25" dirty="0">
                <a:latin typeface="Arial MT"/>
                <a:cs typeface="Arial MT"/>
              </a:rPr>
              <a:t>and 	</a:t>
            </a:r>
            <a:r>
              <a:rPr sz="2600" spc="-75" dirty="0">
                <a:latin typeface="Arial MT"/>
                <a:cs typeface="Arial MT"/>
              </a:rPr>
              <a:t>promotional</a:t>
            </a:r>
            <a:r>
              <a:rPr sz="2600" spc="-85" dirty="0">
                <a:latin typeface="Arial MT"/>
                <a:cs typeface="Arial MT"/>
              </a:rPr>
              <a:t> </a:t>
            </a:r>
            <a:r>
              <a:rPr sz="2600" spc="-10" dirty="0">
                <a:latin typeface="Arial MT"/>
                <a:cs typeface="Arial MT"/>
              </a:rPr>
              <a:t>planning.</a:t>
            </a:r>
            <a:endParaRPr sz="2600">
              <a:latin typeface="Arial MT"/>
              <a:cs typeface="Arial MT"/>
            </a:endParaRPr>
          </a:p>
          <a:p>
            <a:pPr marL="465455" marR="153670" indent="-274320">
              <a:lnSpc>
                <a:spcPts val="3000"/>
              </a:lnSpc>
              <a:spcBef>
                <a:spcPts val="220"/>
              </a:spcBef>
              <a:buChar char="•"/>
              <a:tabLst>
                <a:tab pos="465455" algn="l"/>
                <a:tab pos="475615" algn="l"/>
              </a:tabLst>
            </a:pPr>
            <a:r>
              <a:rPr sz="2550" dirty="0">
                <a:latin typeface="Arial MT"/>
                <a:cs typeface="Arial MT"/>
              </a:rPr>
              <a:t>	</a:t>
            </a:r>
            <a:r>
              <a:rPr sz="2550" spc="-40" dirty="0">
                <a:latin typeface="Arial MT"/>
                <a:cs typeface="Arial MT"/>
              </a:rPr>
              <a:t>A/B</a:t>
            </a:r>
            <a:r>
              <a:rPr sz="2550" spc="-229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Testing:</a:t>
            </a:r>
            <a:r>
              <a:rPr sz="2550" spc="-170" dirty="0">
                <a:latin typeface="Arial MT"/>
                <a:cs typeface="Arial MT"/>
              </a:rPr>
              <a:t> </a:t>
            </a:r>
            <a:r>
              <a:rPr sz="2550" spc="-45" dirty="0">
                <a:latin typeface="Arial MT"/>
                <a:cs typeface="Arial MT"/>
              </a:rPr>
              <a:t>Prioritize</a:t>
            </a:r>
            <a:r>
              <a:rPr sz="2550" spc="-130" dirty="0">
                <a:latin typeface="Arial MT"/>
                <a:cs typeface="Arial MT"/>
              </a:rPr>
              <a:t> </a:t>
            </a:r>
            <a:r>
              <a:rPr sz="2550" spc="-70" dirty="0">
                <a:latin typeface="Arial MT"/>
                <a:cs typeface="Arial MT"/>
              </a:rPr>
              <a:t>A/B</a:t>
            </a:r>
            <a:r>
              <a:rPr sz="2550" spc="-10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tests</a:t>
            </a:r>
            <a:r>
              <a:rPr sz="2550" spc="-16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for</a:t>
            </a:r>
            <a:r>
              <a:rPr sz="2550" spc="-35" dirty="0">
                <a:latin typeface="Arial MT"/>
                <a:cs typeface="Arial MT"/>
              </a:rPr>
              <a:t> </a:t>
            </a:r>
            <a:r>
              <a:rPr sz="2550" spc="-65" dirty="0">
                <a:latin typeface="Arial MT"/>
                <a:cs typeface="Arial MT"/>
              </a:rPr>
              <a:t>store</a:t>
            </a:r>
            <a:r>
              <a:rPr sz="2550" spc="-114" dirty="0">
                <a:latin typeface="Arial MT"/>
                <a:cs typeface="Arial MT"/>
              </a:rPr>
              <a:t> </a:t>
            </a:r>
            <a:r>
              <a:rPr sz="2550" spc="-35" dirty="0">
                <a:latin typeface="Arial MT"/>
                <a:cs typeface="Arial MT"/>
              </a:rPr>
              <a:t>layouts</a:t>
            </a:r>
            <a:r>
              <a:rPr sz="2550" spc="-95" dirty="0">
                <a:latin typeface="Arial MT"/>
                <a:cs typeface="Arial MT"/>
              </a:rPr>
              <a:t> </a:t>
            </a:r>
            <a:r>
              <a:rPr sz="2550" spc="-35" dirty="0">
                <a:latin typeface="Arial MT"/>
                <a:cs typeface="Arial MT"/>
              </a:rPr>
              <a:t>and</a:t>
            </a:r>
            <a:r>
              <a:rPr sz="2550" spc="-90" dirty="0">
                <a:latin typeface="Arial MT"/>
                <a:cs typeface="Arial MT"/>
              </a:rPr>
              <a:t> </a:t>
            </a:r>
            <a:r>
              <a:rPr sz="2550" spc="-40" dirty="0">
                <a:latin typeface="Arial MT"/>
                <a:cs typeface="Arial MT"/>
              </a:rPr>
              <a:t>bundles</a:t>
            </a:r>
            <a:r>
              <a:rPr sz="2550" spc="-15" dirty="0">
                <a:latin typeface="Arial MT"/>
                <a:cs typeface="Arial MT"/>
              </a:rPr>
              <a:t> </a:t>
            </a:r>
            <a:r>
              <a:rPr sz="2550" spc="-55" dirty="0">
                <a:latin typeface="Arial MT"/>
                <a:cs typeface="Arial MT"/>
              </a:rPr>
              <a:t>based</a:t>
            </a:r>
            <a:r>
              <a:rPr sz="2550" spc="-65" dirty="0">
                <a:latin typeface="Arial MT"/>
                <a:cs typeface="Arial MT"/>
              </a:rPr>
              <a:t> </a:t>
            </a:r>
            <a:r>
              <a:rPr sz="2550" spc="-30" dirty="0">
                <a:latin typeface="Arial MT"/>
                <a:cs typeface="Arial MT"/>
              </a:rPr>
              <a:t>on</a:t>
            </a:r>
            <a:r>
              <a:rPr sz="2550" spc="-145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the</a:t>
            </a:r>
            <a:r>
              <a:rPr sz="2550" spc="-180" dirty="0">
                <a:latin typeface="Arial MT"/>
                <a:cs typeface="Arial MT"/>
              </a:rPr>
              <a:t> </a:t>
            </a:r>
            <a:r>
              <a:rPr sz="2550" spc="-35" dirty="0">
                <a:latin typeface="Arial MT"/>
                <a:cs typeface="Arial MT"/>
              </a:rPr>
              <a:t>rules</a:t>
            </a:r>
            <a:r>
              <a:rPr sz="2550" spc="-1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with</a:t>
            </a:r>
            <a:r>
              <a:rPr sz="2550" spc="-55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the</a:t>
            </a:r>
            <a:r>
              <a:rPr sz="2550" spc="-160" dirty="0">
                <a:latin typeface="Arial MT"/>
                <a:cs typeface="Arial MT"/>
              </a:rPr>
              <a:t> </a:t>
            </a:r>
            <a:r>
              <a:rPr sz="2550" spc="-35" dirty="0">
                <a:latin typeface="Arial MT"/>
                <a:cs typeface="Arial MT"/>
              </a:rPr>
              <a:t>highest</a:t>
            </a:r>
            <a:r>
              <a:rPr sz="2550" spc="7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lift</a:t>
            </a:r>
            <a:r>
              <a:rPr sz="2550" spc="-100" dirty="0">
                <a:latin typeface="Arial MT"/>
                <a:cs typeface="Arial MT"/>
              </a:rPr>
              <a:t> </a:t>
            </a:r>
            <a:r>
              <a:rPr sz="2550" spc="-25" dirty="0">
                <a:latin typeface="Arial MT"/>
                <a:cs typeface="Arial MT"/>
              </a:rPr>
              <a:t>and </a:t>
            </a:r>
            <a:r>
              <a:rPr sz="2550" spc="-10" dirty="0">
                <a:latin typeface="Arial MT"/>
                <a:cs typeface="Arial MT"/>
              </a:rPr>
              <a:t>support</a:t>
            </a:r>
            <a:r>
              <a:rPr sz="2550" spc="-140" dirty="0">
                <a:latin typeface="Arial MT"/>
                <a:cs typeface="Arial MT"/>
              </a:rPr>
              <a:t> </a:t>
            </a:r>
            <a:r>
              <a:rPr sz="2550" spc="-65" dirty="0">
                <a:latin typeface="Arial MT"/>
                <a:cs typeface="Arial MT"/>
              </a:rPr>
              <a:t>scores,</a:t>
            </a:r>
            <a:r>
              <a:rPr sz="2550" spc="-110" dirty="0">
                <a:latin typeface="Arial MT"/>
                <a:cs typeface="Arial MT"/>
              </a:rPr>
              <a:t> </a:t>
            </a:r>
            <a:r>
              <a:rPr sz="2550" spc="-155" dirty="0">
                <a:latin typeface="Arial MT"/>
                <a:cs typeface="Arial MT"/>
              </a:rPr>
              <a:t>as</a:t>
            </a:r>
            <a:r>
              <a:rPr sz="2550" spc="-80" dirty="0">
                <a:latin typeface="Arial MT"/>
                <a:cs typeface="Arial MT"/>
              </a:rPr>
              <a:t> </a:t>
            </a:r>
            <a:r>
              <a:rPr sz="2550" spc="-20" dirty="0">
                <a:latin typeface="Arial MT"/>
                <a:cs typeface="Arial MT"/>
              </a:rPr>
              <a:t>these</a:t>
            </a:r>
            <a:r>
              <a:rPr sz="2550" spc="-145" dirty="0">
                <a:latin typeface="Arial MT"/>
                <a:cs typeface="Arial MT"/>
              </a:rPr>
              <a:t> </a:t>
            </a:r>
            <a:r>
              <a:rPr sz="2550" spc="-50" dirty="0">
                <a:latin typeface="Arial MT"/>
                <a:cs typeface="Arial MT"/>
              </a:rPr>
              <a:t>represent</a:t>
            </a:r>
            <a:r>
              <a:rPr sz="2550" spc="-60" dirty="0">
                <a:latin typeface="Arial MT"/>
                <a:cs typeface="Arial MT"/>
              </a:rPr>
              <a:t> </a:t>
            </a:r>
            <a:r>
              <a:rPr sz="2550" dirty="0">
                <a:latin typeface="Arial MT"/>
                <a:cs typeface="Arial MT"/>
              </a:rPr>
              <a:t>the</a:t>
            </a:r>
            <a:r>
              <a:rPr sz="2550" spc="-170" dirty="0">
                <a:latin typeface="Arial MT"/>
                <a:cs typeface="Arial MT"/>
              </a:rPr>
              <a:t> </a:t>
            </a:r>
            <a:r>
              <a:rPr sz="2550" spc="-30" dirty="0">
                <a:latin typeface="Arial MT"/>
                <a:cs typeface="Arial MT"/>
              </a:rPr>
              <a:t>strongest</a:t>
            </a:r>
            <a:r>
              <a:rPr sz="2550" spc="45" dirty="0">
                <a:latin typeface="Arial MT"/>
                <a:cs typeface="Arial MT"/>
              </a:rPr>
              <a:t> </a:t>
            </a:r>
            <a:r>
              <a:rPr sz="2550" spc="-10" dirty="0">
                <a:latin typeface="Arial MT"/>
                <a:cs typeface="Arial MT"/>
              </a:rPr>
              <a:t>opportunities.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857131" y="5323063"/>
            <a:ext cx="452755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110" dirty="0">
                <a:solidFill>
                  <a:srgbClr val="908569"/>
                </a:solidFill>
                <a:latin typeface="Arial MT"/>
                <a:cs typeface="Arial MT"/>
              </a:rPr>
              <a:t>Ti</a:t>
            </a:r>
            <a:r>
              <a:rPr sz="1700" spc="-145" dirty="0">
                <a:solidFill>
                  <a:srgbClr val="908569"/>
                </a:solidFill>
                <a:latin typeface="Arial MT"/>
                <a:cs typeface="Arial MT"/>
              </a:rPr>
              <a:t> </a:t>
            </a:r>
            <a:r>
              <a:rPr sz="1700" spc="-35" dirty="0">
                <a:solidFill>
                  <a:srgbClr val="908252"/>
                </a:solidFill>
                <a:latin typeface="Arial MT"/>
                <a:cs typeface="Arial MT"/>
              </a:rPr>
              <a:t>ue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78000" y="2362200"/>
            <a:ext cx="1790700" cy="17272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98900" y="2438400"/>
            <a:ext cx="5600700" cy="15621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855200" y="2501900"/>
            <a:ext cx="1536700" cy="14605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938000" y="2374900"/>
            <a:ext cx="1714500" cy="17018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4147800" y="2489200"/>
            <a:ext cx="1549400" cy="147320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2824" rIns="0" bIns="0" rtlCol="0">
            <a:spAutoFit/>
          </a:bodyPr>
          <a:lstStyle/>
          <a:p>
            <a:pPr marL="2374265">
              <a:lnSpc>
                <a:spcPct val="100000"/>
              </a:lnSpc>
              <a:spcBef>
                <a:spcPts val="114"/>
              </a:spcBef>
            </a:pPr>
            <a:r>
              <a:rPr spc="150" dirty="0"/>
              <a:t>From</a:t>
            </a:r>
            <a:r>
              <a:rPr spc="-35" dirty="0"/>
              <a:t> </a:t>
            </a:r>
            <a:r>
              <a:rPr spc="95" dirty="0">
                <a:solidFill>
                  <a:srgbClr val="2D2D2D"/>
                </a:solidFill>
              </a:rPr>
              <a:t>Raw</a:t>
            </a:r>
            <a:r>
              <a:rPr spc="20" dirty="0">
                <a:solidFill>
                  <a:srgbClr val="2D2D2D"/>
                </a:solidFill>
              </a:rPr>
              <a:t> </a:t>
            </a:r>
            <a:r>
              <a:rPr spc="204" dirty="0"/>
              <a:t>Data</a:t>
            </a:r>
            <a:r>
              <a:rPr spc="-15" dirty="0"/>
              <a:t> </a:t>
            </a:r>
            <a:r>
              <a:rPr spc="204" dirty="0">
                <a:solidFill>
                  <a:srgbClr val="2D2D2D"/>
                </a:solidFill>
              </a:rPr>
              <a:t>to</a:t>
            </a:r>
            <a:r>
              <a:rPr spc="-114" dirty="0">
                <a:solidFill>
                  <a:srgbClr val="2D2D2D"/>
                </a:solidFill>
              </a:rPr>
              <a:t> </a:t>
            </a:r>
            <a:r>
              <a:rPr spc="235" dirty="0">
                <a:solidFill>
                  <a:srgbClr val="313131"/>
                </a:solidFill>
              </a:rPr>
              <a:t>a</a:t>
            </a:r>
            <a:r>
              <a:rPr spc="-50" dirty="0">
                <a:solidFill>
                  <a:srgbClr val="313131"/>
                </a:solidFill>
              </a:rPr>
              <a:t> </a:t>
            </a:r>
            <a:r>
              <a:rPr spc="100" dirty="0"/>
              <a:t>Strategic</a:t>
            </a:r>
            <a:r>
              <a:rPr spc="280" dirty="0"/>
              <a:t> </a:t>
            </a:r>
            <a:r>
              <a:rPr spc="80" dirty="0">
                <a:solidFill>
                  <a:srgbClr val="242424"/>
                </a:solidFill>
              </a:rPr>
              <a:t>Asset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555"/>
              </a:lnSpc>
            </a:pPr>
            <a:r>
              <a:rPr dirty="0"/>
              <a:t>G</a:t>
            </a:r>
            <a:r>
              <a:rPr spc="490" dirty="0"/>
              <a:t> </a:t>
            </a:r>
            <a:r>
              <a:rPr spc="-10" dirty="0"/>
              <a:t>NotebookLM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64084" y="4646436"/>
            <a:ext cx="14587219" cy="415734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 marR="5080" indent="3810">
              <a:lnSpc>
                <a:spcPts val="3600"/>
              </a:lnSpc>
              <a:spcBef>
                <a:spcPts val="480"/>
              </a:spcBef>
            </a:pPr>
            <a:r>
              <a:rPr sz="3250" spc="-105" dirty="0">
                <a:latin typeface="Arial MT"/>
                <a:cs typeface="Arial MT"/>
              </a:rPr>
              <a:t>This</a:t>
            </a:r>
            <a:r>
              <a:rPr sz="3250" spc="-120" dirty="0">
                <a:latin typeface="Arial MT"/>
                <a:cs typeface="Arial MT"/>
              </a:rPr>
              <a:t> </a:t>
            </a:r>
            <a:r>
              <a:rPr sz="3250" spc="-95" dirty="0">
                <a:latin typeface="Arial MT"/>
                <a:cs typeface="Arial MT"/>
              </a:rPr>
              <a:t>Market</a:t>
            </a:r>
            <a:r>
              <a:rPr sz="3250" spc="-130" dirty="0">
                <a:latin typeface="Arial MT"/>
                <a:cs typeface="Arial MT"/>
              </a:rPr>
              <a:t> Basket</a:t>
            </a:r>
            <a:r>
              <a:rPr sz="3250" spc="-95" dirty="0">
                <a:latin typeface="Arial MT"/>
                <a:cs typeface="Arial MT"/>
              </a:rPr>
              <a:t> </a:t>
            </a:r>
            <a:r>
              <a:rPr sz="3250" spc="-114" dirty="0">
                <a:latin typeface="Arial MT"/>
                <a:cs typeface="Arial MT"/>
              </a:rPr>
              <a:t>Analysis</a:t>
            </a:r>
            <a:r>
              <a:rPr sz="3250" spc="-110" dirty="0">
                <a:latin typeface="Arial MT"/>
                <a:cs typeface="Arial MT"/>
              </a:rPr>
              <a:t> </a:t>
            </a:r>
            <a:r>
              <a:rPr sz="3250" spc="-165" dirty="0">
                <a:latin typeface="Arial MT"/>
                <a:cs typeface="Arial MT"/>
              </a:rPr>
              <a:t>has</a:t>
            </a:r>
            <a:r>
              <a:rPr sz="3250" spc="-60" dirty="0">
                <a:latin typeface="Arial MT"/>
                <a:cs typeface="Arial MT"/>
              </a:rPr>
              <a:t> </a:t>
            </a:r>
            <a:r>
              <a:rPr sz="3250" spc="-80" dirty="0">
                <a:latin typeface="Arial MT"/>
                <a:cs typeface="Arial MT"/>
              </a:rPr>
              <a:t>successfully</a:t>
            </a:r>
            <a:r>
              <a:rPr sz="3250" spc="-145" dirty="0">
                <a:latin typeface="Arial MT"/>
                <a:cs typeface="Arial MT"/>
              </a:rPr>
              <a:t> </a:t>
            </a:r>
            <a:r>
              <a:rPr sz="3250" spc="-75" dirty="0">
                <a:latin typeface="Arial MT"/>
                <a:cs typeface="Arial MT"/>
              </a:rPr>
              <a:t>translated</a:t>
            </a:r>
            <a:r>
              <a:rPr sz="3250" spc="-5" dirty="0">
                <a:latin typeface="Arial MT"/>
                <a:cs typeface="Arial MT"/>
              </a:rPr>
              <a:t> </a:t>
            </a:r>
            <a:r>
              <a:rPr sz="3250" spc="-150" dirty="0">
                <a:latin typeface="Arial MT"/>
                <a:cs typeface="Arial MT"/>
              </a:rPr>
              <a:t>raw</a:t>
            </a:r>
            <a:r>
              <a:rPr sz="3250" spc="-80" dirty="0">
                <a:latin typeface="Arial MT"/>
                <a:cs typeface="Arial MT"/>
              </a:rPr>
              <a:t> </a:t>
            </a:r>
            <a:r>
              <a:rPr sz="3250" spc="-65" dirty="0">
                <a:latin typeface="Arial MT"/>
                <a:cs typeface="Arial MT"/>
              </a:rPr>
              <a:t>transaction</a:t>
            </a:r>
            <a:r>
              <a:rPr sz="3250" spc="-45" dirty="0">
                <a:latin typeface="Arial MT"/>
                <a:cs typeface="Arial MT"/>
              </a:rPr>
              <a:t> </a:t>
            </a:r>
            <a:r>
              <a:rPr sz="3250" spc="-125" dirty="0">
                <a:latin typeface="Arial MT"/>
                <a:cs typeface="Arial MT"/>
              </a:rPr>
              <a:t>data</a:t>
            </a:r>
            <a:r>
              <a:rPr sz="3250" spc="-100" dirty="0">
                <a:latin typeface="Arial MT"/>
                <a:cs typeface="Arial MT"/>
              </a:rPr>
              <a:t> </a:t>
            </a:r>
            <a:r>
              <a:rPr sz="3250" spc="-20" dirty="0">
                <a:latin typeface="Arial MT"/>
                <a:cs typeface="Arial MT"/>
              </a:rPr>
              <a:t>into </a:t>
            </a:r>
            <a:r>
              <a:rPr sz="3250" spc="-95" dirty="0">
                <a:latin typeface="Arial MT"/>
                <a:cs typeface="Arial MT"/>
              </a:rPr>
              <a:t>actionable</a:t>
            </a:r>
            <a:r>
              <a:rPr sz="3250" spc="-140" dirty="0">
                <a:latin typeface="Arial MT"/>
                <a:cs typeface="Arial MT"/>
              </a:rPr>
              <a:t> </a:t>
            </a:r>
            <a:r>
              <a:rPr sz="3250" spc="-100" dirty="0">
                <a:latin typeface="Arial MT"/>
                <a:cs typeface="Arial MT"/>
              </a:rPr>
              <a:t>business</a:t>
            </a:r>
            <a:r>
              <a:rPr sz="3250" spc="-125" dirty="0">
                <a:latin typeface="Arial MT"/>
                <a:cs typeface="Arial MT"/>
              </a:rPr>
              <a:t> </a:t>
            </a:r>
            <a:r>
              <a:rPr sz="3250" spc="-85" dirty="0">
                <a:latin typeface="Arial MT"/>
                <a:cs typeface="Arial MT"/>
              </a:rPr>
              <a:t>intelligence.</a:t>
            </a:r>
            <a:r>
              <a:rPr sz="3250" spc="90" dirty="0">
                <a:latin typeface="Arial MT"/>
                <a:cs typeface="Arial MT"/>
              </a:rPr>
              <a:t> </a:t>
            </a:r>
            <a:r>
              <a:rPr sz="3250" spc="-370" dirty="0">
                <a:latin typeface="Arial MT"/>
                <a:cs typeface="Arial MT"/>
              </a:rPr>
              <a:t>We</a:t>
            </a:r>
            <a:r>
              <a:rPr sz="3250" spc="-140" dirty="0">
                <a:latin typeface="Arial MT"/>
                <a:cs typeface="Arial MT"/>
              </a:rPr>
              <a:t> </a:t>
            </a:r>
            <a:r>
              <a:rPr sz="3250" spc="-185" dirty="0">
                <a:latin typeface="Arial MT"/>
                <a:cs typeface="Arial MT"/>
              </a:rPr>
              <a:t>have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spc="-130" dirty="0">
                <a:latin typeface="Arial MT"/>
                <a:cs typeface="Arial MT"/>
              </a:rPr>
              <a:t>moved</a:t>
            </a:r>
            <a:r>
              <a:rPr sz="3250" spc="-5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from</a:t>
            </a:r>
            <a:r>
              <a:rPr sz="3250" spc="-114" dirty="0">
                <a:latin typeface="Arial MT"/>
                <a:cs typeface="Arial MT"/>
              </a:rPr>
              <a:t> </a:t>
            </a:r>
            <a:r>
              <a:rPr sz="3250" spc="-75" dirty="0">
                <a:latin typeface="Arial MT"/>
                <a:cs typeface="Arial MT"/>
              </a:rPr>
              <a:t>simple</a:t>
            </a:r>
            <a:r>
              <a:rPr sz="3250" spc="-85" dirty="0">
                <a:latin typeface="Arial MT"/>
                <a:cs typeface="Arial MT"/>
              </a:rPr>
              <a:t> </a:t>
            </a:r>
            <a:r>
              <a:rPr sz="3250" spc="-130" dirty="0">
                <a:latin typeface="Arial MT"/>
                <a:cs typeface="Arial MT"/>
              </a:rPr>
              <a:t>sales</a:t>
            </a:r>
            <a:r>
              <a:rPr sz="3250" spc="-90" dirty="0">
                <a:latin typeface="Arial MT"/>
                <a:cs typeface="Arial MT"/>
              </a:rPr>
              <a:t> </a:t>
            </a:r>
            <a:r>
              <a:rPr sz="3250" spc="-70" dirty="0">
                <a:latin typeface="Arial MT"/>
                <a:cs typeface="Arial MT"/>
              </a:rPr>
              <a:t>reports</a:t>
            </a:r>
            <a:r>
              <a:rPr sz="3250" spc="-114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to</a:t>
            </a:r>
            <a:r>
              <a:rPr sz="3250" spc="-190" dirty="0">
                <a:latin typeface="Arial MT"/>
                <a:cs typeface="Arial MT"/>
              </a:rPr>
              <a:t> </a:t>
            </a:r>
            <a:r>
              <a:rPr sz="3250" spc="-345" dirty="0">
                <a:latin typeface="Arial MT"/>
                <a:cs typeface="Arial MT"/>
              </a:rPr>
              <a:t>a</a:t>
            </a:r>
            <a:r>
              <a:rPr sz="3250" spc="35" dirty="0">
                <a:latin typeface="Arial MT"/>
                <a:cs typeface="Arial MT"/>
              </a:rPr>
              <a:t> </a:t>
            </a:r>
            <a:r>
              <a:rPr sz="3250" spc="-85" dirty="0">
                <a:latin typeface="Arial MT"/>
                <a:cs typeface="Arial MT"/>
              </a:rPr>
              <a:t>deep </a:t>
            </a:r>
            <a:r>
              <a:rPr sz="3250" spc="-95" dirty="0">
                <a:latin typeface="Arial MT"/>
                <a:cs typeface="Arial MT"/>
              </a:rPr>
              <a:t>understanding</a:t>
            </a:r>
            <a:r>
              <a:rPr sz="3250" spc="-75" dirty="0">
                <a:latin typeface="Arial MT"/>
                <a:cs typeface="Arial MT"/>
              </a:rPr>
              <a:t> </a:t>
            </a:r>
            <a:r>
              <a:rPr sz="3250" dirty="0">
                <a:latin typeface="Arial MT"/>
                <a:cs typeface="Arial MT"/>
              </a:rPr>
              <a:t>of</a:t>
            </a:r>
            <a:r>
              <a:rPr sz="3250" spc="-160" dirty="0">
                <a:latin typeface="Arial MT"/>
                <a:cs typeface="Arial MT"/>
              </a:rPr>
              <a:t> </a:t>
            </a:r>
            <a:r>
              <a:rPr sz="3250" spc="-75" dirty="0">
                <a:latin typeface="Arial MT"/>
                <a:cs typeface="Arial MT"/>
              </a:rPr>
              <a:t>customer</a:t>
            </a:r>
            <a:r>
              <a:rPr sz="3250" spc="-30" dirty="0">
                <a:latin typeface="Arial MT"/>
                <a:cs typeface="Arial MT"/>
              </a:rPr>
              <a:t> </a:t>
            </a:r>
            <a:r>
              <a:rPr sz="3250" spc="-150" dirty="0">
                <a:latin typeface="Arial MT"/>
                <a:cs typeface="Arial MT"/>
              </a:rPr>
              <a:t>co-</a:t>
            </a:r>
            <a:r>
              <a:rPr sz="3250" spc="-125" dirty="0">
                <a:latin typeface="Arial MT"/>
                <a:cs typeface="Arial MT"/>
              </a:rPr>
              <a:t>purchase</a:t>
            </a:r>
            <a:r>
              <a:rPr sz="3250" spc="-65" dirty="0">
                <a:latin typeface="Arial MT"/>
                <a:cs typeface="Arial MT"/>
              </a:rPr>
              <a:t> </a:t>
            </a:r>
            <a:r>
              <a:rPr sz="3250" spc="-40" dirty="0">
                <a:latin typeface="Arial MT"/>
                <a:cs typeface="Arial MT"/>
              </a:rPr>
              <a:t>behavior.</a:t>
            </a:r>
            <a:endParaRPr sz="3250">
              <a:latin typeface="Arial MT"/>
              <a:cs typeface="Arial MT"/>
            </a:endParaRPr>
          </a:p>
          <a:p>
            <a:pPr marL="20320">
              <a:lnSpc>
                <a:spcPts val="3779"/>
              </a:lnSpc>
              <a:spcBef>
                <a:spcPts val="3080"/>
              </a:spcBef>
            </a:pPr>
            <a:r>
              <a:rPr sz="3300" spc="-305" dirty="0">
                <a:latin typeface="Arial MT"/>
                <a:cs typeface="Arial MT"/>
              </a:rPr>
              <a:t>Key</a:t>
            </a:r>
            <a:r>
              <a:rPr sz="3300" spc="-60" dirty="0">
                <a:latin typeface="Arial MT"/>
                <a:cs typeface="Arial MT"/>
              </a:rPr>
              <a:t> </a:t>
            </a:r>
            <a:r>
              <a:rPr sz="3300" spc="-110" dirty="0">
                <a:latin typeface="Arial MT"/>
                <a:cs typeface="Arial MT"/>
              </a:rPr>
              <a:t>Opportunities</a:t>
            </a:r>
            <a:r>
              <a:rPr sz="3300" spc="-95" dirty="0">
                <a:latin typeface="Arial MT"/>
                <a:cs typeface="Arial MT"/>
              </a:rPr>
              <a:t> </a:t>
            </a:r>
            <a:r>
              <a:rPr sz="3300" spc="-25" dirty="0">
                <a:latin typeface="Arial MT"/>
                <a:cs typeface="Arial MT"/>
              </a:rPr>
              <a:t>Unlocked</a:t>
            </a:r>
            <a:endParaRPr sz="3300">
              <a:latin typeface="Arial MT"/>
              <a:cs typeface="Arial MT"/>
            </a:endParaRPr>
          </a:p>
          <a:p>
            <a:pPr marL="609600" indent="-339090">
              <a:lnSpc>
                <a:spcPts val="3600"/>
              </a:lnSpc>
              <a:buClr>
                <a:srgbClr val="013B64"/>
              </a:buClr>
              <a:buChar char="•"/>
              <a:tabLst>
                <a:tab pos="609600" algn="l"/>
              </a:tabLst>
            </a:pPr>
            <a:r>
              <a:rPr sz="3300" spc="-114" dirty="0">
                <a:latin typeface="Arial MT"/>
                <a:cs typeface="Arial MT"/>
              </a:rPr>
              <a:t>**Shelf </a:t>
            </a:r>
            <a:r>
              <a:rPr sz="3300" spc="-85" dirty="0">
                <a:latin typeface="Arial MT"/>
                <a:cs typeface="Arial MT"/>
              </a:rPr>
              <a:t>Optimization**:</a:t>
            </a:r>
            <a:r>
              <a:rPr sz="3300" spc="-320" dirty="0">
                <a:latin typeface="Arial MT"/>
                <a:cs typeface="Arial MT"/>
              </a:rPr>
              <a:t> </a:t>
            </a:r>
            <a:r>
              <a:rPr sz="3300" spc="-204" dirty="0">
                <a:latin typeface="Arial MT"/>
                <a:cs typeface="Arial MT"/>
              </a:rPr>
              <a:t>Data-</a:t>
            </a:r>
            <a:r>
              <a:rPr sz="3300" spc="-200" dirty="0">
                <a:latin typeface="Arial MT"/>
                <a:cs typeface="Arial MT"/>
              </a:rPr>
              <a:t>backed</a:t>
            </a:r>
            <a:r>
              <a:rPr sz="3300" spc="-5" dirty="0">
                <a:latin typeface="Arial MT"/>
                <a:cs typeface="Arial MT"/>
              </a:rPr>
              <a:t> </a:t>
            </a:r>
            <a:r>
              <a:rPr sz="3300" spc="-50" dirty="0">
                <a:latin typeface="Arial MT"/>
                <a:cs typeface="Arial MT"/>
              </a:rPr>
              <a:t>logic</a:t>
            </a:r>
            <a:r>
              <a:rPr sz="3300" dirty="0">
                <a:latin typeface="Arial MT"/>
                <a:cs typeface="Arial MT"/>
              </a:rPr>
              <a:t> </a:t>
            </a:r>
            <a:r>
              <a:rPr sz="3300" spc="-90" dirty="0">
                <a:latin typeface="Arial MT"/>
                <a:cs typeface="Arial MT"/>
              </a:rPr>
              <a:t>for</a:t>
            </a:r>
            <a:r>
              <a:rPr sz="3300" spc="-140" dirty="0">
                <a:latin typeface="Arial MT"/>
                <a:cs typeface="Arial MT"/>
              </a:rPr>
              <a:t> </a:t>
            </a:r>
            <a:r>
              <a:rPr sz="3300" spc="-110" dirty="0">
                <a:latin typeface="Arial MT"/>
                <a:cs typeface="Arial MT"/>
              </a:rPr>
              <a:t>product</a:t>
            </a:r>
            <a:r>
              <a:rPr sz="3300" spc="-1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placement.</a:t>
            </a:r>
            <a:endParaRPr sz="3300">
              <a:latin typeface="Arial MT"/>
              <a:cs typeface="Arial MT"/>
            </a:endParaRPr>
          </a:p>
          <a:p>
            <a:pPr marL="596900" indent="-326390">
              <a:lnSpc>
                <a:spcPts val="3550"/>
              </a:lnSpc>
              <a:buClr>
                <a:srgbClr val="033B64"/>
              </a:buClr>
              <a:buChar char="•"/>
              <a:tabLst>
                <a:tab pos="596900" algn="l"/>
              </a:tabLst>
            </a:pPr>
            <a:r>
              <a:rPr sz="3300" spc="-105" dirty="0">
                <a:latin typeface="Arial MT"/>
                <a:cs typeface="Arial MT"/>
              </a:rPr>
              <a:t>**Promotional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spc="-145" dirty="0">
                <a:latin typeface="Arial MT"/>
                <a:cs typeface="Arial MT"/>
              </a:rPr>
              <a:t>Design**: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spc="-170" dirty="0">
                <a:latin typeface="Arial MT"/>
                <a:cs typeface="Arial MT"/>
              </a:rPr>
              <a:t>Creation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of</a:t>
            </a:r>
            <a:r>
              <a:rPr sz="3300" spc="-45" dirty="0">
                <a:latin typeface="Arial MT"/>
                <a:cs typeface="Arial MT"/>
              </a:rPr>
              <a:t> </a:t>
            </a:r>
            <a:r>
              <a:rPr sz="3300" spc="-140" dirty="0">
                <a:latin typeface="Arial MT"/>
                <a:cs typeface="Arial MT"/>
              </a:rPr>
              <a:t>compelling,</a:t>
            </a:r>
            <a:r>
              <a:rPr sz="3300" spc="-90" dirty="0">
                <a:latin typeface="Arial MT"/>
                <a:cs typeface="Arial MT"/>
              </a:rPr>
              <a:t> </a:t>
            </a:r>
            <a:r>
              <a:rPr sz="3300" spc="-170" dirty="0">
                <a:latin typeface="Arial MT"/>
                <a:cs typeface="Arial MT"/>
              </a:rPr>
              <a:t>relevant</a:t>
            </a:r>
            <a:r>
              <a:rPr sz="3300" spc="-10" dirty="0">
                <a:latin typeface="Arial MT"/>
                <a:cs typeface="Arial MT"/>
              </a:rPr>
              <a:t> </a:t>
            </a:r>
            <a:r>
              <a:rPr sz="3300" spc="-145" dirty="0">
                <a:latin typeface="Arial MT"/>
                <a:cs typeface="Arial MT"/>
              </a:rPr>
              <a:t>bundle</a:t>
            </a:r>
            <a:r>
              <a:rPr sz="3300" spc="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offers.</a:t>
            </a:r>
            <a:endParaRPr sz="3300">
              <a:latin typeface="Arial MT"/>
              <a:cs typeface="Arial MT"/>
            </a:endParaRPr>
          </a:p>
          <a:p>
            <a:pPr marL="596900" indent="-326390">
              <a:lnSpc>
                <a:spcPts val="3550"/>
              </a:lnSpc>
              <a:buClr>
                <a:srgbClr val="013B66"/>
              </a:buClr>
              <a:buChar char="•"/>
              <a:tabLst>
                <a:tab pos="596900" algn="l"/>
              </a:tabLst>
            </a:pPr>
            <a:r>
              <a:rPr sz="3300" spc="-125" dirty="0">
                <a:latin typeface="Arial MT"/>
                <a:cs typeface="Arial MT"/>
              </a:rPr>
              <a:t>**Customer</a:t>
            </a:r>
            <a:r>
              <a:rPr sz="3300" spc="-105" dirty="0">
                <a:latin typeface="Arial MT"/>
                <a:cs typeface="Arial MT"/>
              </a:rPr>
              <a:t> </a:t>
            </a:r>
            <a:r>
              <a:rPr sz="3300" spc="-130" dirty="0">
                <a:latin typeface="Arial MT"/>
                <a:cs typeface="Arial MT"/>
              </a:rPr>
              <a:t>Recommendation**:</a:t>
            </a:r>
            <a:r>
              <a:rPr sz="3300" spc="-180" dirty="0">
                <a:latin typeface="Arial MT"/>
                <a:cs typeface="Arial MT"/>
              </a:rPr>
              <a:t> </a:t>
            </a:r>
            <a:r>
              <a:rPr sz="3300" spc="-465" dirty="0">
                <a:latin typeface="Arial MT"/>
                <a:cs typeface="Arial MT"/>
              </a:rPr>
              <a:t>A</a:t>
            </a:r>
            <a:r>
              <a:rPr sz="3300" spc="-100" dirty="0">
                <a:latin typeface="Arial MT"/>
                <a:cs typeface="Arial MT"/>
              </a:rPr>
              <a:t> </a:t>
            </a:r>
            <a:r>
              <a:rPr sz="3300" spc="-95" dirty="0">
                <a:latin typeface="Arial MT"/>
                <a:cs typeface="Arial MT"/>
              </a:rPr>
              <a:t>powerful</a:t>
            </a:r>
            <a:r>
              <a:rPr sz="3300" spc="-35" dirty="0">
                <a:latin typeface="Arial MT"/>
                <a:cs typeface="Arial MT"/>
              </a:rPr>
              <a:t> </a:t>
            </a:r>
            <a:r>
              <a:rPr sz="3300" spc="-185" dirty="0">
                <a:latin typeface="Arial MT"/>
                <a:cs typeface="Arial MT"/>
              </a:rPr>
              <a:t>engine</a:t>
            </a:r>
            <a:r>
              <a:rPr sz="3300" spc="-5" dirty="0">
                <a:latin typeface="Arial MT"/>
                <a:cs typeface="Arial MT"/>
              </a:rPr>
              <a:t> </a:t>
            </a:r>
            <a:r>
              <a:rPr sz="3300" spc="-45" dirty="0">
                <a:latin typeface="Arial MT"/>
                <a:cs typeface="Arial MT"/>
              </a:rPr>
              <a:t>for</a:t>
            </a:r>
            <a:r>
              <a:rPr sz="3300" spc="-100" dirty="0">
                <a:latin typeface="Arial MT"/>
                <a:cs typeface="Arial MT"/>
              </a:rPr>
              <a:t> </a:t>
            </a:r>
            <a:r>
              <a:rPr sz="3300" spc="-114" dirty="0">
                <a:latin typeface="Arial MT"/>
                <a:cs typeface="Arial MT"/>
              </a:rPr>
              <a:t>cross-</a:t>
            </a:r>
            <a:r>
              <a:rPr sz="3300" spc="-10" dirty="0">
                <a:latin typeface="Arial MT"/>
                <a:cs typeface="Arial MT"/>
              </a:rPr>
              <a:t>selling.</a:t>
            </a:r>
            <a:endParaRPr sz="3300">
              <a:latin typeface="Arial MT"/>
              <a:cs typeface="Arial MT"/>
            </a:endParaRPr>
          </a:p>
          <a:p>
            <a:pPr marL="596900" indent="-326390">
              <a:lnSpc>
                <a:spcPts val="3779"/>
              </a:lnSpc>
              <a:buClr>
                <a:srgbClr val="013B62"/>
              </a:buClr>
              <a:buChar char="•"/>
              <a:tabLst>
                <a:tab pos="596900" algn="l"/>
              </a:tabLst>
            </a:pPr>
            <a:r>
              <a:rPr sz="3300" spc="-80" dirty="0">
                <a:latin typeface="Arial MT"/>
                <a:cs typeface="Arial MT"/>
              </a:rPr>
              <a:t>**Strategic</a:t>
            </a:r>
            <a:r>
              <a:rPr sz="3300" spc="-150" dirty="0">
                <a:latin typeface="Arial MT"/>
                <a:cs typeface="Arial MT"/>
              </a:rPr>
              <a:t> </a:t>
            </a:r>
            <a:r>
              <a:rPr sz="3300" spc="-95" dirty="0">
                <a:latin typeface="Arial MT"/>
                <a:cs typeface="Arial MT"/>
              </a:rPr>
              <a:t>Planning**: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spc="-375" dirty="0">
                <a:latin typeface="Arial MT"/>
                <a:cs typeface="Arial MT"/>
              </a:rPr>
              <a:t>A</a:t>
            </a:r>
            <a:r>
              <a:rPr sz="3300" spc="-85" dirty="0">
                <a:latin typeface="Arial MT"/>
                <a:cs typeface="Arial MT"/>
              </a:rPr>
              <a:t> </a:t>
            </a:r>
            <a:r>
              <a:rPr sz="3300" spc="-130" dirty="0">
                <a:latin typeface="Arial MT"/>
                <a:cs typeface="Arial MT"/>
              </a:rPr>
              <a:t>reliable</a:t>
            </a:r>
            <a:r>
              <a:rPr sz="3300" spc="-95" dirty="0">
                <a:latin typeface="Arial MT"/>
                <a:cs typeface="Arial MT"/>
              </a:rPr>
              <a:t> </a:t>
            </a:r>
            <a:r>
              <a:rPr sz="3300" spc="-125" dirty="0">
                <a:latin typeface="Arial MT"/>
                <a:cs typeface="Arial MT"/>
              </a:rPr>
              <a:t>framework</a:t>
            </a:r>
            <a:r>
              <a:rPr sz="3300" spc="-15" dirty="0">
                <a:latin typeface="Arial MT"/>
                <a:cs typeface="Arial MT"/>
              </a:rPr>
              <a:t> </a:t>
            </a:r>
            <a:r>
              <a:rPr sz="3300" dirty="0">
                <a:latin typeface="Arial MT"/>
                <a:cs typeface="Arial MT"/>
              </a:rPr>
              <a:t>for</a:t>
            </a:r>
            <a:r>
              <a:rPr sz="3300" spc="-100" dirty="0">
                <a:latin typeface="Arial MT"/>
                <a:cs typeface="Arial MT"/>
              </a:rPr>
              <a:t> </a:t>
            </a:r>
            <a:r>
              <a:rPr sz="3300" spc="-110" dirty="0">
                <a:latin typeface="Arial MT"/>
                <a:cs typeface="Arial MT"/>
              </a:rPr>
              <a:t>future</a:t>
            </a:r>
            <a:r>
              <a:rPr sz="3300" spc="-130" dirty="0">
                <a:latin typeface="Arial MT"/>
                <a:cs typeface="Arial MT"/>
              </a:rPr>
              <a:t> </a:t>
            </a:r>
            <a:r>
              <a:rPr sz="3300" spc="-90" dirty="0">
                <a:latin typeface="Arial MT"/>
                <a:cs typeface="Arial MT"/>
              </a:rPr>
              <a:t>retail</a:t>
            </a:r>
            <a:r>
              <a:rPr sz="3300" spc="-135" dirty="0">
                <a:latin typeface="Arial MT"/>
                <a:cs typeface="Arial MT"/>
              </a:rPr>
              <a:t> </a:t>
            </a:r>
            <a:r>
              <a:rPr sz="3300" spc="-10" dirty="0">
                <a:latin typeface="Arial MT"/>
                <a:cs typeface="Arial MT"/>
              </a:rPr>
              <a:t>decisions.</a:t>
            </a:r>
            <a:endParaRPr sz="3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57500" y="3530600"/>
            <a:ext cx="838200" cy="10668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66100" y="3530600"/>
            <a:ext cx="1143000" cy="1066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3627100" y="3530600"/>
            <a:ext cx="1143000" cy="10668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12380" y="609952"/>
            <a:ext cx="14810740" cy="8407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350" spc="-285" dirty="0">
                <a:solidFill>
                  <a:srgbClr val="000000"/>
                </a:solidFill>
              </a:rPr>
              <a:t>Recommended</a:t>
            </a:r>
            <a:r>
              <a:rPr sz="5350" spc="325" dirty="0">
                <a:solidFill>
                  <a:srgbClr val="000000"/>
                </a:solidFill>
              </a:rPr>
              <a:t> </a:t>
            </a:r>
            <a:r>
              <a:rPr sz="5350" spc="-120" dirty="0">
                <a:solidFill>
                  <a:srgbClr val="000000"/>
                </a:solidFill>
              </a:rPr>
              <a:t>Next</a:t>
            </a:r>
            <a:r>
              <a:rPr sz="5350" dirty="0">
                <a:solidFill>
                  <a:srgbClr val="000000"/>
                </a:solidFill>
              </a:rPr>
              <a:t> </a:t>
            </a:r>
            <a:r>
              <a:rPr sz="5350" spc="-165" dirty="0">
                <a:solidFill>
                  <a:srgbClr val="000000"/>
                </a:solidFill>
              </a:rPr>
              <a:t>Steps:</a:t>
            </a:r>
            <a:r>
              <a:rPr sz="5350" spc="-100" dirty="0">
                <a:solidFill>
                  <a:srgbClr val="000000"/>
                </a:solidFill>
              </a:rPr>
              <a:t> </a:t>
            </a:r>
            <a:r>
              <a:rPr sz="5350" spc="-185" dirty="0">
                <a:solidFill>
                  <a:srgbClr val="000000"/>
                </a:solidFill>
              </a:rPr>
              <a:t>Putting</a:t>
            </a:r>
            <a:r>
              <a:rPr sz="5350" spc="-110" dirty="0">
                <a:solidFill>
                  <a:srgbClr val="000000"/>
                </a:solidFill>
              </a:rPr>
              <a:t> </a:t>
            </a:r>
            <a:r>
              <a:rPr sz="5350" spc="-190" dirty="0">
                <a:solidFill>
                  <a:srgbClr val="000000"/>
                </a:solidFill>
              </a:rPr>
              <a:t>Insights</a:t>
            </a:r>
            <a:r>
              <a:rPr sz="5350" spc="-35" dirty="0">
                <a:solidFill>
                  <a:srgbClr val="000000"/>
                </a:solidFill>
              </a:rPr>
              <a:t> </a:t>
            </a:r>
            <a:r>
              <a:rPr sz="5350" spc="-140" dirty="0">
                <a:solidFill>
                  <a:srgbClr val="000000"/>
                </a:solidFill>
              </a:rPr>
              <a:t>into</a:t>
            </a:r>
            <a:r>
              <a:rPr sz="5350" spc="-75" dirty="0">
                <a:solidFill>
                  <a:srgbClr val="000000"/>
                </a:solidFill>
              </a:rPr>
              <a:t> </a:t>
            </a:r>
            <a:r>
              <a:rPr sz="5350" spc="-20" dirty="0">
                <a:solidFill>
                  <a:srgbClr val="000000"/>
                </a:solidFill>
              </a:rPr>
              <a:t>Action</a:t>
            </a:r>
            <a:endParaRPr sz="5350"/>
          </a:p>
        </p:txBody>
      </p:sp>
      <p:sp>
        <p:nvSpPr>
          <p:cNvPr id="6" name="object 6"/>
          <p:cNvSpPr txBox="1"/>
          <p:nvPr/>
        </p:nvSpPr>
        <p:spPr>
          <a:xfrm>
            <a:off x="915540" y="1867252"/>
            <a:ext cx="14360525" cy="8693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85">
              <a:lnSpc>
                <a:spcPts val="3260"/>
              </a:lnSpc>
              <a:spcBef>
                <a:spcPts val="95"/>
              </a:spcBef>
            </a:pPr>
            <a:r>
              <a:rPr sz="2850" spc="-285" dirty="0">
                <a:latin typeface="Arial MT"/>
                <a:cs typeface="Arial MT"/>
              </a:rPr>
              <a:t>We</a:t>
            </a:r>
            <a:r>
              <a:rPr sz="2850" dirty="0">
                <a:latin typeface="Arial MT"/>
                <a:cs typeface="Arial MT"/>
              </a:rPr>
              <a:t> </a:t>
            </a:r>
            <a:r>
              <a:rPr sz="2850" spc="-90" dirty="0">
                <a:latin typeface="Arial MT"/>
                <a:cs typeface="Arial MT"/>
              </a:rPr>
              <a:t>recommend</a:t>
            </a:r>
            <a:r>
              <a:rPr sz="2850" spc="-110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a</a:t>
            </a:r>
            <a:r>
              <a:rPr sz="2850" spc="-165" dirty="0">
                <a:latin typeface="Arial MT"/>
                <a:cs typeface="Arial MT"/>
              </a:rPr>
              <a:t> </a:t>
            </a:r>
            <a:r>
              <a:rPr sz="2850" spc="-80" dirty="0">
                <a:latin typeface="Arial MT"/>
                <a:cs typeface="Arial MT"/>
              </a:rPr>
              <a:t>phased</a:t>
            </a:r>
            <a:r>
              <a:rPr sz="2850" spc="-55" dirty="0">
                <a:latin typeface="Arial MT"/>
                <a:cs typeface="Arial MT"/>
              </a:rPr>
              <a:t> </a:t>
            </a:r>
            <a:r>
              <a:rPr sz="2850" spc="-75" dirty="0">
                <a:latin typeface="Arial MT"/>
                <a:cs typeface="Arial MT"/>
              </a:rPr>
              <a:t>approach</a:t>
            </a:r>
            <a:r>
              <a:rPr sz="2850" spc="-8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to</a:t>
            </a:r>
            <a:r>
              <a:rPr sz="2850" spc="-130" dirty="0">
                <a:latin typeface="Arial MT"/>
                <a:cs typeface="Arial MT"/>
              </a:rPr>
              <a:t> </a:t>
            </a:r>
            <a:r>
              <a:rPr sz="2850" spc="-50" dirty="0">
                <a:latin typeface="Arial MT"/>
                <a:cs typeface="Arial MT"/>
              </a:rPr>
              <a:t>capitalize</a:t>
            </a:r>
            <a:r>
              <a:rPr sz="2850" spc="-20" dirty="0">
                <a:latin typeface="Arial MT"/>
                <a:cs typeface="Arial MT"/>
              </a:rPr>
              <a:t> </a:t>
            </a:r>
            <a:r>
              <a:rPr sz="2850" spc="-60" dirty="0">
                <a:latin typeface="Arial MT"/>
                <a:cs typeface="Arial MT"/>
              </a:rPr>
              <a:t>on</a:t>
            </a:r>
            <a:r>
              <a:rPr sz="2850" spc="-14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these</a:t>
            </a:r>
            <a:r>
              <a:rPr sz="2850" spc="-85" dirty="0">
                <a:latin typeface="Arial MT"/>
                <a:cs typeface="Arial MT"/>
              </a:rPr>
              <a:t> </a:t>
            </a:r>
            <a:r>
              <a:rPr sz="2850" spc="-35" dirty="0">
                <a:latin typeface="Arial MT"/>
                <a:cs typeface="Arial MT"/>
              </a:rPr>
              <a:t>findings,</a:t>
            </a:r>
            <a:r>
              <a:rPr sz="2850" spc="-5" dirty="0">
                <a:latin typeface="Arial MT"/>
                <a:cs typeface="Arial MT"/>
              </a:rPr>
              <a:t> </a:t>
            </a:r>
            <a:r>
              <a:rPr sz="2850" dirty="0">
                <a:latin typeface="Arial MT"/>
                <a:cs typeface="Arial MT"/>
              </a:rPr>
              <a:t>starting</a:t>
            </a:r>
            <a:r>
              <a:rPr sz="2850" spc="-30" dirty="0">
                <a:latin typeface="Arial MT"/>
                <a:cs typeface="Arial MT"/>
              </a:rPr>
              <a:t> </a:t>
            </a:r>
            <a:r>
              <a:rPr sz="2850" spc="-10" dirty="0">
                <a:latin typeface="Arial MT"/>
                <a:cs typeface="Arial MT"/>
              </a:rPr>
              <a:t>with</a:t>
            </a:r>
            <a:r>
              <a:rPr sz="2850" spc="-185" dirty="0">
                <a:latin typeface="Arial MT"/>
                <a:cs typeface="Arial MT"/>
              </a:rPr>
              <a:t> </a:t>
            </a:r>
            <a:r>
              <a:rPr sz="2850" spc="-50" dirty="0">
                <a:latin typeface="Arial MT"/>
                <a:cs typeface="Arial MT"/>
              </a:rPr>
              <a:t>high-</a:t>
            </a:r>
            <a:r>
              <a:rPr sz="2850" spc="-10" dirty="0">
                <a:latin typeface="Arial MT"/>
                <a:cs typeface="Arial MT"/>
              </a:rPr>
              <a:t>impact,</a:t>
            </a:r>
            <a:endParaRPr sz="2850">
              <a:latin typeface="Arial MT"/>
              <a:cs typeface="Arial MT"/>
            </a:endParaRPr>
          </a:p>
          <a:p>
            <a:pPr marL="12700">
              <a:lnSpc>
                <a:spcPts val="3379"/>
              </a:lnSpc>
            </a:pPr>
            <a:r>
              <a:rPr sz="2950" spc="-60" dirty="0">
                <a:latin typeface="Arial MT"/>
                <a:cs typeface="Arial MT"/>
              </a:rPr>
              <a:t>low-</a:t>
            </a:r>
            <a:r>
              <a:rPr sz="2950" spc="-55" dirty="0">
                <a:latin typeface="Arial MT"/>
                <a:cs typeface="Arial MT"/>
              </a:rPr>
              <a:t>complexity</a:t>
            </a:r>
            <a:r>
              <a:rPr sz="2950" spc="-114" dirty="0">
                <a:latin typeface="Arial MT"/>
                <a:cs typeface="Arial MT"/>
              </a:rPr>
              <a:t> </a:t>
            </a:r>
            <a:r>
              <a:rPr sz="2950" spc="-10" dirty="0">
                <a:latin typeface="Arial MT"/>
                <a:cs typeface="Arial MT"/>
              </a:rPr>
              <a:t>initiatives.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7395" y="4733859"/>
            <a:ext cx="4592320" cy="2370455"/>
          </a:xfrm>
          <a:prstGeom prst="rect">
            <a:avLst/>
          </a:prstGeom>
        </p:spPr>
        <p:txBody>
          <a:bodyPr vert="horz" wrap="square" lIns="0" tIns="2635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75"/>
              </a:spcBef>
            </a:pPr>
            <a:r>
              <a:rPr sz="2950" spc="-130" dirty="0">
                <a:latin typeface="Cambria"/>
                <a:cs typeface="Cambria"/>
              </a:rPr>
              <a:t>Phase</a:t>
            </a:r>
            <a:r>
              <a:rPr sz="2950" spc="-100" dirty="0">
                <a:latin typeface="Cambria"/>
                <a:cs typeface="Cambria"/>
              </a:rPr>
              <a:t> </a:t>
            </a:r>
            <a:r>
              <a:rPr sz="2950" spc="-365" dirty="0">
                <a:latin typeface="Cambria"/>
                <a:cs typeface="Cambria"/>
              </a:rPr>
              <a:t>1:</a:t>
            </a:r>
            <a:r>
              <a:rPr sz="2950" spc="25" dirty="0">
                <a:latin typeface="Cambria"/>
                <a:cs typeface="Cambria"/>
              </a:rPr>
              <a:t> </a:t>
            </a:r>
            <a:r>
              <a:rPr sz="2950" spc="-95" dirty="0">
                <a:latin typeface="Cambria"/>
                <a:cs typeface="Cambria"/>
              </a:rPr>
              <a:t>Pilot</a:t>
            </a:r>
            <a:r>
              <a:rPr sz="2950" spc="35" dirty="0">
                <a:latin typeface="Cambria"/>
                <a:cs typeface="Cambria"/>
              </a:rPr>
              <a:t> </a:t>
            </a:r>
            <a:r>
              <a:rPr sz="2950" spc="-150" dirty="0">
                <a:latin typeface="Cambria"/>
                <a:cs typeface="Cambria"/>
              </a:rPr>
              <a:t>Programs</a:t>
            </a:r>
            <a:r>
              <a:rPr sz="2950" spc="-30" dirty="0">
                <a:latin typeface="Cambria"/>
                <a:cs typeface="Cambria"/>
              </a:rPr>
              <a:t> </a:t>
            </a:r>
            <a:r>
              <a:rPr sz="2950" spc="-340" dirty="0">
                <a:latin typeface="Cambria"/>
                <a:cs typeface="Cambria"/>
              </a:rPr>
              <a:t>(Q1)</a:t>
            </a:r>
            <a:endParaRPr sz="2950">
              <a:latin typeface="Cambria"/>
              <a:cs typeface="Cambria"/>
            </a:endParaRPr>
          </a:p>
          <a:p>
            <a:pPr marL="325755" indent="-252095">
              <a:lnSpc>
                <a:spcPts val="2935"/>
              </a:lnSpc>
              <a:spcBef>
                <a:spcPts val="1760"/>
              </a:spcBef>
              <a:buChar char="•"/>
              <a:tabLst>
                <a:tab pos="325755" algn="l"/>
              </a:tabLst>
            </a:pPr>
            <a:r>
              <a:rPr sz="2600" spc="-85" dirty="0">
                <a:latin typeface="Cambria"/>
                <a:cs typeface="Cambria"/>
              </a:rPr>
              <a:t>Action</a:t>
            </a:r>
            <a:r>
              <a:rPr sz="2600" spc="-60" dirty="0">
                <a:latin typeface="Cambria"/>
                <a:cs typeface="Cambria"/>
              </a:rPr>
              <a:t> </a:t>
            </a:r>
            <a:r>
              <a:rPr sz="2600" spc="-95" dirty="0">
                <a:latin typeface="Cambria"/>
                <a:cs typeface="Cambria"/>
              </a:rPr>
              <a:t>1:</a:t>
            </a:r>
            <a:r>
              <a:rPr sz="2600" spc="-50" dirty="0">
                <a:latin typeface="Cambria"/>
                <a:cs typeface="Cambria"/>
              </a:rPr>
              <a:t> </a:t>
            </a:r>
            <a:r>
              <a:rPr sz="2600" spc="-140" dirty="0">
                <a:latin typeface="Cambria"/>
                <a:cs typeface="Cambria"/>
              </a:rPr>
              <a:t>Launch</a:t>
            </a:r>
            <a:r>
              <a:rPr sz="2600" spc="140" dirty="0">
                <a:latin typeface="Cambria"/>
                <a:cs typeface="Cambria"/>
              </a:rPr>
              <a:t> </a:t>
            </a:r>
            <a:r>
              <a:rPr sz="2600" spc="-270" dirty="0">
                <a:latin typeface="Cambria"/>
                <a:cs typeface="Cambria"/>
              </a:rPr>
              <a:t>a</a:t>
            </a:r>
            <a:r>
              <a:rPr sz="2600" spc="125" dirty="0">
                <a:latin typeface="Cambria"/>
                <a:cs typeface="Cambria"/>
              </a:rPr>
              <a:t> </a:t>
            </a:r>
            <a:r>
              <a:rPr sz="2600" spc="-175" dirty="0">
                <a:latin typeface="Cambria"/>
                <a:cs typeface="Cambria"/>
              </a:rPr>
              <a:t>pilot</a:t>
            </a:r>
            <a:r>
              <a:rPr sz="2600" spc="65" dirty="0">
                <a:latin typeface="Cambria"/>
                <a:cs typeface="Cambria"/>
              </a:rPr>
              <a:t> </a:t>
            </a:r>
            <a:r>
              <a:rPr sz="2600" spc="-10" dirty="0">
                <a:latin typeface="Cambria"/>
                <a:cs typeface="Cambria"/>
              </a:rPr>
              <a:t>'Chai</a:t>
            </a:r>
            <a:endParaRPr sz="2600">
              <a:latin typeface="Cambria"/>
              <a:cs typeface="Cambria"/>
            </a:endParaRPr>
          </a:p>
          <a:p>
            <a:pPr marL="316865">
              <a:lnSpc>
                <a:spcPts val="2690"/>
              </a:lnSpc>
            </a:pPr>
            <a:r>
              <a:rPr sz="2500" spc="-105" dirty="0">
                <a:latin typeface="Cambria"/>
                <a:cs typeface="Cambria"/>
              </a:rPr>
              <a:t>Time</a:t>
            </a:r>
            <a:r>
              <a:rPr sz="2500" spc="-35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Snack’</a:t>
            </a:r>
            <a:r>
              <a:rPr sz="2500" spc="10" dirty="0">
                <a:latin typeface="Cambria"/>
                <a:cs typeface="Cambria"/>
              </a:rPr>
              <a:t> </a:t>
            </a:r>
            <a:r>
              <a:rPr sz="2500" spc="-90" dirty="0">
                <a:latin typeface="Cambria"/>
                <a:cs typeface="Cambria"/>
              </a:rPr>
              <a:t>bundle</a:t>
            </a:r>
            <a:r>
              <a:rPr sz="2500" spc="-20" dirty="0">
                <a:latin typeface="Cambria"/>
                <a:cs typeface="Cambria"/>
              </a:rPr>
              <a:t> </a:t>
            </a:r>
            <a:r>
              <a:rPr sz="2500" dirty="0">
                <a:latin typeface="Cambria"/>
                <a:cs typeface="Cambria"/>
              </a:rPr>
              <a:t>({Paneer}</a:t>
            </a:r>
            <a:r>
              <a:rPr sz="2500" spc="-5" dirty="0">
                <a:latin typeface="Cambria"/>
                <a:cs typeface="Cambria"/>
              </a:rPr>
              <a:t> </a:t>
            </a:r>
            <a:r>
              <a:rPr sz="2500" spc="-50" dirty="0">
                <a:latin typeface="Cambria"/>
                <a:cs typeface="Cambria"/>
              </a:rPr>
              <a:t>+</a:t>
            </a:r>
            <a:endParaRPr sz="2500">
              <a:latin typeface="Cambria"/>
              <a:cs typeface="Cambria"/>
            </a:endParaRPr>
          </a:p>
          <a:p>
            <a:pPr marL="312420">
              <a:lnSpc>
                <a:spcPts val="2775"/>
              </a:lnSpc>
            </a:pPr>
            <a:r>
              <a:rPr sz="2500" dirty="0">
                <a:solidFill>
                  <a:srgbClr val="997B34"/>
                </a:solidFill>
                <a:latin typeface="Cambria"/>
                <a:cs typeface="Cambria"/>
              </a:rPr>
              <a:t>{Tea,</a:t>
            </a:r>
            <a:r>
              <a:rPr sz="2500" spc="-90" dirty="0">
                <a:solidFill>
                  <a:srgbClr val="997B34"/>
                </a:solidFill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Milk})</a:t>
            </a:r>
            <a:r>
              <a:rPr sz="2500" spc="75" dirty="0">
                <a:latin typeface="Cambria"/>
                <a:cs typeface="Cambria"/>
              </a:rPr>
              <a:t> </a:t>
            </a:r>
            <a:r>
              <a:rPr sz="2500" spc="-254" dirty="0">
                <a:latin typeface="Cambria"/>
                <a:cs typeface="Cambria"/>
              </a:rPr>
              <a:t>in</a:t>
            </a:r>
            <a:r>
              <a:rPr sz="2500" spc="20" dirty="0">
                <a:latin typeface="Cambria"/>
                <a:cs typeface="Cambria"/>
              </a:rPr>
              <a:t> </a:t>
            </a:r>
            <a:r>
              <a:rPr sz="2500" spc="-150" dirty="0">
                <a:latin typeface="Cambria"/>
                <a:cs typeface="Cambria"/>
              </a:rPr>
              <a:t>10</a:t>
            </a:r>
            <a:r>
              <a:rPr sz="2500" spc="15" dirty="0">
                <a:latin typeface="Cambria"/>
                <a:cs typeface="Cambria"/>
              </a:rPr>
              <a:t> </a:t>
            </a:r>
            <a:r>
              <a:rPr sz="2500" spc="-10" dirty="0">
                <a:latin typeface="Cambria"/>
                <a:cs typeface="Cambria"/>
              </a:rPr>
              <a:t>test</a:t>
            </a:r>
            <a:r>
              <a:rPr sz="2500" spc="125" dirty="0">
                <a:latin typeface="Cambria"/>
                <a:cs typeface="Cambria"/>
              </a:rPr>
              <a:t> </a:t>
            </a:r>
            <a:r>
              <a:rPr sz="2500" spc="-60" dirty="0">
                <a:latin typeface="Cambria"/>
                <a:cs typeface="Cambria"/>
              </a:rPr>
              <a:t>stores</a:t>
            </a:r>
            <a:r>
              <a:rPr sz="2500" spc="60" dirty="0">
                <a:latin typeface="Cambria"/>
                <a:cs typeface="Cambria"/>
              </a:rPr>
              <a:t> </a:t>
            </a:r>
            <a:r>
              <a:rPr sz="2500" spc="-25" dirty="0">
                <a:latin typeface="Cambria"/>
                <a:cs typeface="Cambria"/>
              </a:rPr>
              <a:t>and</a:t>
            </a:r>
            <a:endParaRPr sz="2500">
              <a:latin typeface="Cambria"/>
              <a:cs typeface="Cambria"/>
            </a:endParaRPr>
          </a:p>
          <a:p>
            <a:pPr marL="327025">
              <a:lnSpc>
                <a:spcPts val="2780"/>
              </a:lnSpc>
            </a:pPr>
            <a:r>
              <a:rPr sz="2400" spc="-25" dirty="0">
                <a:latin typeface="Cambria"/>
                <a:cs typeface="Cambria"/>
              </a:rPr>
              <a:t>measure</a:t>
            </a:r>
            <a:r>
              <a:rPr sz="2400" spc="20" dirty="0">
                <a:latin typeface="Cambria"/>
                <a:cs typeface="Cambria"/>
              </a:rPr>
              <a:t> </a:t>
            </a:r>
            <a:r>
              <a:rPr sz="2400" spc="-60" dirty="0">
                <a:latin typeface="Cambria"/>
                <a:cs typeface="Cambria"/>
              </a:rPr>
              <a:t>uplift</a:t>
            </a:r>
            <a:r>
              <a:rPr sz="2400" spc="-30" dirty="0">
                <a:latin typeface="Cambria"/>
                <a:cs typeface="Cambria"/>
              </a:rPr>
              <a:t> </a:t>
            </a:r>
            <a:r>
              <a:rPr sz="2400" spc="-25" dirty="0">
                <a:latin typeface="Cambria"/>
                <a:cs typeface="Cambria"/>
              </a:rPr>
              <a:t>in</a:t>
            </a:r>
            <a:r>
              <a:rPr sz="2400" spc="-35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basket</a:t>
            </a:r>
            <a:r>
              <a:rPr sz="2400" spc="120" dirty="0">
                <a:latin typeface="Cambria"/>
                <a:cs typeface="Cambria"/>
              </a:rPr>
              <a:t> </a:t>
            </a:r>
            <a:r>
              <a:rPr sz="2400" spc="-10" dirty="0">
                <a:latin typeface="Cambria"/>
                <a:cs typeface="Cambria"/>
              </a:rPr>
              <a:t>value.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86872" y="7406569"/>
            <a:ext cx="4471670" cy="1780539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254635" marR="795020" indent="-242570">
              <a:lnSpc>
                <a:spcPts val="2700"/>
              </a:lnSpc>
              <a:spcBef>
                <a:spcPts val="370"/>
              </a:spcBef>
              <a:buChar char="•"/>
              <a:tabLst>
                <a:tab pos="254635" algn="l"/>
                <a:tab pos="257810" algn="l"/>
              </a:tabLst>
            </a:pPr>
            <a:r>
              <a:rPr sz="2400" dirty="0">
                <a:latin typeface="Arial MT"/>
                <a:cs typeface="Arial MT"/>
              </a:rPr>
              <a:t>	Action</a:t>
            </a:r>
            <a:r>
              <a:rPr sz="2400" spc="-4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2:</a:t>
            </a:r>
            <a:r>
              <a:rPr sz="2400" spc="-10" dirty="0">
                <a:latin typeface="Arial MT"/>
                <a:cs typeface="Arial MT"/>
              </a:rPr>
              <a:t> </a:t>
            </a:r>
            <a:r>
              <a:rPr sz="2400" spc="-150" dirty="0">
                <a:latin typeface="Arial MT"/>
                <a:cs typeface="Arial MT"/>
              </a:rPr>
              <a:t>A/B</a:t>
            </a:r>
            <a:r>
              <a:rPr sz="2400" spc="-30" dirty="0">
                <a:latin typeface="Arial MT"/>
                <a:cs typeface="Arial MT"/>
              </a:rPr>
              <a:t> </a:t>
            </a:r>
            <a:r>
              <a:rPr sz="2400" dirty="0">
                <a:latin typeface="Arial MT"/>
                <a:cs typeface="Arial MT"/>
              </a:rPr>
              <a:t>test</a:t>
            </a:r>
            <a:r>
              <a:rPr sz="2400" spc="45" dirty="0">
                <a:latin typeface="Arial MT"/>
                <a:cs typeface="Arial MT"/>
              </a:rPr>
              <a:t> </a:t>
            </a:r>
            <a:r>
              <a:rPr sz="2400" spc="-220" dirty="0">
                <a:latin typeface="Arial MT"/>
                <a:cs typeface="Arial MT"/>
              </a:rPr>
              <a:t>a</a:t>
            </a:r>
            <a:r>
              <a:rPr sz="2400" spc="20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cross- </a:t>
            </a:r>
            <a:r>
              <a:rPr sz="2350" spc="-10" dirty="0">
                <a:latin typeface="Arial MT"/>
                <a:cs typeface="Arial MT"/>
              </a:rPr>
              <a:t>category</a:t>
            </a:r>
            <a:r>
              <a:rPr sz="2350" spc="65" dirty="0">
                <a:latin typeface="Arial MT"/>
                <a:cs typeface="Arial MT"/>
              </a:rPr>
              <a:t> </a:t>
            </a:r>
            <a:r>
              <a:rPr sz="2350" spc="-50" dirty="0">
                <a:latin typeface="Arial MT"/>
                <a:cs typeface="Arial MT"/>
              </a:rPr>
              <a:t>end-</a:t>
            </a:r>
            <a:r>
              <a:rPr sz="2350" dirty="0">
                <a:latin typeface="Arial MT"/>
                <a:cs typeface="Arial MT"/>
              </a:rPr>
              <a:t>cap</a:t>
            </a:r>
            <a:r>
              <a:rPr sz="2350" spc="-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display </a:t>
            </a:r>
            <a:r>
              <a:rPr sz="2350" spc="-25" dirty="0">
                <a:latin typeface="Arial MT"/>
                <a:cs typeface="Arial MT"/>
              </a:rPr>
              <a:t>featuring</a:t>
            </a:r>
            <a:r>
              <a:rPr sz="2350" spc="155" dirty="0"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9A7E31"/>
                </a:solidFill>
                <a:latin typeface="Arial MT"/>
                <a:cs typeface="Arial MT"/>
              </a:rPr>
              <a:t>(Shampoo}</a:t>
            </a:r>
            <a:r>
              <a:rPr sz="2350" spc="355" dirty="0">
                <a:solidFill>
                  <a:srgbClr val="9A7E31"/>
                </a:solidFill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and</a:t>
            </a:r>
            <a:endParaRPr sz="2350">
              <a:latin typeface="Arial MT"/>
              <a:cs typeface="Arial MT"/>
            </a:endParaRPr>
          </a:p>
          <a:p>
            <a:pPr marL="261620">
              <a:lnSpc>
                <a:spcPts val="2595"/>
              </a:lnSpc>
            </a:pPr>
            <a:r>
              <a:rPr sz="2350" spc="50" dirty="0">
                <a:solidFill>
                  <a:srgbClr val="997E42"/>
                </a:solidFill>
                <a:latin typeface="Arial MT"/>
                <a:cs typeface="Arial MT"/>
              </a:rPr>
              <a:t>{Toothpaste}</a:t>
            </a:r>
            <a:r>
              <a:rPr sz="2350" spc="275" dirty="0">
                <a:solidFill>
                  <a:srgbClr val="997E42"/>
                </a:solidFill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in</a:t>
            </a:r>
            <a:r>
              <a:rPr sz="2350" spc="-9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the</a:t>
            </a:r>
            <a:r>
              <a:rPr sz="2350" spc="10" dirty="0">
                <a:latin typeface="Arial MT"/>
                <a:cs typeface="Arial MT"/>
              </a:rPr>
              <a:t> </a:t>
            </a:r>
            <a:r>
              <a:rPr sz="2350" dirty="0">
                <a:solidFill>
                  <a:srgbClr val="A1823B"/>
                </a:solidFill>
                <a:latin typeface="Arial MT"/>
                <a:cs typeface="Arial MT"/>
              </a:rPr>
              <a:t>(Rice}</a:t>
            </a:r>
            <a:r>
              <a:rPr sz="2350" spc="185" dirty="0">
                <a:solidFill>
                  <a:srgbClr val="A1823B"/>
                </a:solidFill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aisle</a:t>
            </a:r>
            <a:endParaRPr sz="2350">
              <a:latin typeface="Arial MT"/>
              <a:cs typeface="Arial MT"/>
            </a:endParaRPr>
          </a:p>
          <a:p>
            <a:pPr marL="259715">
              <a:lnSpc>
                <a:spcPts val="2845"/>
              </a:lnSpc>
            </a:pPr>
            <a:r>
              <a:rPr sz="2400" dirty="0">
                <a:latin typeface="Arial MT"/>
                <a:cs typeface="Arial MT"/>
              </a:rPr>
              <a:t>of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210" dirty="0">
                <a:latin typeface="Arial MT"/>
                <a:cs typeface="Arial MT"/>
              </a:rPr>
              <a:t>5</a:t>
            </a:r>
            <a:r>
              <a:rPr sz="2400" spc="10" dirty="0">
                <a:latin typeface="Arial MT"/>
                <a:cs typeface="Arial MT"/>
              </a:rPr>
              <a:t> </a:t>
            </a:r>
            <a:r>
              <a:rPr sz="2400" spc="-10" dirty="0">
                <a:latin typeface="Arial MT"/>
                <a:cs typeface="Arial MT"/>
              </a:rPr>
              <a:t>stores.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52995" y="4980163"/>
            <a:ext cx="4758690" cy="24714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120" dirty="0">
                <a:latin typeface="Cambria"/>
                <a:cs typeface="Cambria"/>
              </a:rPr>
              <a:t>Phase</a:t>
            </a:r>
            <a:r>
              <a:rPr sz="2950" spc="-50" dirty="0">
                <a:latin typeface="Cambria"/>
                <a:cs typeface="Cambria"/>
              </a:rPr>
              <a:t> </a:t>
            </a:r>
            <a:r>
              <a:rPr sz="2950" spc="-145" dirty="0">
                <a:latin typeface="Cambria"/>
                <a:cs typeface="Cambria"/>
              </a:rPr>
              <a:t>2:</a:t>
            </a:r>
            <a:r>
              <a:rPr sz="2950" spc="-85" dirty="0">
                <a:latin typeface="Cambria"/>
                <a:cs typeface="Cambria"/>
              </a:rPr>
              <a:t> </a:t>
            </a:r>
            <a:r>
              <a:rPr sz="2950" spc="-90" dirty="0">
                <a:latin typeface="Cambria"/>
                <a:cs typeface="Cambria"/>
              </a:rPr>
              <a:t>Digital</a:t>
            </a:r>
            <a:r>
              <a:rPr sz="2950" spc="20" dirty="0">
                <a:latin typeface="Cambria"/>
                <a:cs typeface="Cambria"/>
              </a:rPr>
              <a:t> </a:t>
            </a:r>
            <a:r>
              <a:rPr sz="2950" spc="-135" dirty="0">
                <a:latin typeface="Cambria"/>
                <a:cs typeface="Cambria"/>
              </a:rPr>
              <a:t>Integration</a:t>
            </a:r>
            <a:r>
              <a:rPr sz="2950" spc="30" dirty="0">
                <a:latin typeface="Cambria"/>
                <a:cs typeface="Cambria"/>
              </a:rPr>
              <a:t> </a:t>
            </a:r>
            <a:r>
              <a:rPr sz="2950" spc="-100" dirty="0">
                <a:latin typeface="Cambria"/>
                <a:cs typeface="Cambria"/>
              </a:rPr>
              <a:t>(Q2)</a:t>
            </a:r>
            <a:endParaRPr sz="2950">
              <a:latin typeface="Cambria"/>
              <a:cs typeface="Cambria"/>
            </a:endParaRPr>
          </a:p>
          <a:p>
            <a:pPr marL="352425" indent="-245745">
              <a:lnSpc>
                <a:spcPts val="2925"/>
              </a:lnSpc>
              <a:spcBef>
                <a:spcPts val="1860"/>
              </a:spcBef>
              <a:buChar char="•"/>
              <a:tabLst>
                <a:tab pos="352425" algn="l"/>
              </a:tabLst>
            </a:pPr>
            <a:r>
              <a:rPr sz="2500" spc="-25" dirty="0">
                <a:latin typeface="Arial MT"/>
                <a:cs typeface="Arial MT"/>
              </a:rPr>
              <a:t>Action</a:t>
            </a:r>
            <a:r>
              <a:rPr sz="2500" spc="-15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3:</a:t>
            </a:r>
            <a:r>
              <a:rPr sz="2500" spc="-335" dirty="0">
                <a:latin typeface="Arial MT"/>
                <a:cs typeface="Arial MT"/>
              </a:rPr>
              <a:t> </a:t>
            </a:r>
            <a:r>
              <a:rPr sz="2500" spc="-100" dirty="0">
                <a:latin typeface="Arial MT"/>
                <a:cs typeface="Arial MT"/>
              </a:rPr>
              <a:t>Integrate</a:t>
            </a:r>
            <a:r>
              <a:rPr sz="2500" spc="5" dirty="0">
                <a:latin typeface="Arial MT"/>
                <a:cs typeface="Arial MT"/>
              </a:rPr>
              <a:t> </a:t>
            </a:r>
            <a:r>
              <a:rPr sz="2500" spc="-55" dirty="0">
                <a:latin typeface="Arial MT"/>
                <a:cs typeface="Arial MT"/>
              </a:rPr>
              <a:t>the</a:t>
            </a:r>
            <a:r>
              <a:rPr sz="2500" spc="-120" dirty="0">
                <a:latin typeface="Arial MT"/>
                <a:cs typeface="Arial MT"/>
              </a:rPr>
              <a:t> </a:t>
            </a:r>
            <a:r>
              <a:rPr sz="2500" spc="-20" dirty="0">
                <a:latin typeface="Arial MT"/>
                <a:cs typeface="Arial MT"/>
              </a:rPr>
              <a:t>top</a:t>
            </a:r>
            <a:r>
              <a:rPr sz="2500" spc="-50" dirty="0">
                <a:latin typeface="Arial MT"/>
                <a:cs typeface="Arial MT"/>
              </a:rPr>
              <a:t> </a:t>
            </a:r>
            <a:r>
              <a:rPr sz="2500" spc="-25" dirty="0">
                <a:latin typeface="Arial MT"/>
                <a:cs typeface="Arial MT"/>
              </a:rPr>
              <a:t>20</a:t>
            </a:r>
            <a:endParaRPr sz="2500">
              <a:latin typeface="Arial MT"/>
              <a:cs typeface="Arial MT"/>
            </a:endParaRPr>
          </a:p>
          <a:p>
            <a:pPr marL="345440" marR="1256030" indent="-635">
              <a:lnSpc>
                <a:spcPts val="2700"/>
              </a:lnSpc>
              <a:spcBef>
                <a:spcPts val="114"/>
              </a:spcBef>
            </a:pPr>
            <a:r>
              <a:rPr sz="2350" spc="-10" dirty="0">
                <a:latin typeface="Arial MT"/>
                <a:cs typeface="Arial MT"/>
              </a:rPr>
              <a:t>highest-</a:t>
            </a:r>
            <a:r>
              <a:rPr sz="2350" dirty="0">
                <a:latin typeface="Arial MT"/>
                <a:cs typeface="Arial MT"/>
              </a:rPr>
              <a:t>lift</a:t>
            </a:r>
            <a:r>
              <a:rPr sz="2350" spc="135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rules </a:t>
            </a:r>
            <a:r>
              <a:rPr sz="2350" dirty="0">
                <a:latin typeface="Arial MT"/>
                <a:cs typeface="Arial MT"/>
              </a:rPr>
              <a:t>into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spc="-25" dirty="0">
                <a:latin typeface="Arial MT"/>
                <a:cs typeface="Arial MT"/>
              </a:rPr>
              <a:t>the </a:t>
            </a:r>
            <a:r>
              <a:rPr sz="2350" spc="-55" dirty="0">
                <a:latin typeface="Arial MT"/>
                <a:cs typeface="Arial MT"/>
              </a:rPr>
              <a:t>e-</a:t>
            </a:r>
            <a:r>
              <a:rPr sz="2350" spc="-25" dirty="0">
                <a:latin typeface="Arial MT"/>
                <a:cs typeface="Arial MT"/>
              </a:rPr>
              <a:t>commerce</a:t>
            </a:r>
            <a:r>
              <a:rPr sz="2350" spc="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site's </a:t>
            </a:r>
            <a:r>
              <a:rPr sz="2350" spc="-35" dirty="0">
                <a:latin typeface="Arial MT"/>
                <a:cs typeface="Arial MT"/>
              </a:rPr>
              <a:t>recommendation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engine</a:t>
            </a:r>
            <a:endParaRPr sz="2350">
              <a:latin typeface="Arial MT"/>
              <a:cs typeface="Arial MT"/>
            </a:endParaRPr>
          </a:p>
          <a:p>
            <a:pPr marL="359410">
              <a:lnSpc>
                <a:spcPts val="2680"/>
              </a:lnSpc>
            </a:pPr>
            <a:r>
              <a:rPr sz="2350" spc="-45" dirty="0">
                <a:latin typeface="Arial MT"/>
                <a:cs typeface="Arial MT"/>
              </a:rPr>
              <a:t>('Frequently</a:t>
            </a:r>
            <a:r>
              <a:rPr sz="2350" spc="25" dirty="0">
                <a:latin typeface="Arial MT"/>
                <a:cs typeface="Arial MT"/>
              </a:rPr>
              <a:t> </a:t>
            </a:r>
            <a:r>
              <a:rPr sz="2350" spc="-40" dirty="0">
                <a:latin typeface="Arial MT"/>
                <a:cs typeface="Arial MT"/>
              </a:rPr>
              <a:t>Bought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Together').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826694" y="4980163"/>
            <a:ext cx="4716780" cy="21221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950" spc="-125" dirty="0">
                <a:latin typeface="Cambria"/>
                <a:cs typeface="Cambria"/>
              </a:rPr>
              <a:t>Phase</a:t>
            </a:r>
            <a:r>
              <a:rPr sz="2950" spc="-50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3:</a:t>
            </a:r>
            <a:r>
              <a:rPr sz="2950" spc="-75" dirty="0">
                <a:latin typeface="Cambria"/>
                <a:cs typeface="Cambria"/>
              </a:rPr>
              <a:t> </a:t>
            </a:r>
            <a:r>
              <a:rPr sz="2950" spc="-70" dirty="0">
                <a:latin typeface="Cambria"/>
                <a:cs typeface="Cambria"/>
              </a:rPr>
              <a:t>Scaled</a:t>
            </a:r>
            <a:r>
              <a:rPr sz="2950" spc="20" dirty="0">
                <a:latin typeface="Cambria"/>
                <a:cs typeface="Cambria"/>
              </a:rPr>
              <a:t> </a:t>
            </a:r>
            <a:r>
              <a:rPr sz="2950" spc="-140" dirty="0">
                <a:latin typeface="Cambria"/>
                <a:cs typeface="Cambria"/>
              </a:rPr>
              <a:t>Rollout</a:t>
            </a:r>
            <a:r>
              <a:rPr sz="2950" spc="-15" dirty="0">
                <a:latin typeface="Cambria"/>
                <a:cs typeface="Cambria"/>
              </a:rPr>
              <a:t> </a:t>
            </a:r>
            <a:r>
              <a:rPr sz="2950" spc="-125" dirty="0">
                <a:latin typeface="Cambria"/>
                <a:cs typeface="Cambria"/>
              </a:rPr>
              <a:t>(Q3-</a:t>
            </a:r>
            <a:r>
              <a:rPr sz="2950" spc="-70" dirty="0">
                <a:latin typeface="Cambria"/>
                <a:cs typeface="Cambria"/>
              </a:rPr>
              <a:t>Q4)</a:t>
            </a:r>
            <a:endParaRPr sz="2950">
              <a:latin typeface="Cambria"/>
              <a:cs typeface="Cambria"/>
            </a:endParaRPr>
          </a:p>
          <a:p>
            <a:pPr marL="342265" marR="120650" indent="-235585">
              <a:lnSpc>
                <a:spcPts val="2700"/>
              </a:lnSpc>
              <a:spcBef>
                <a:spcPts val="2200"/>
              </a:spcBef>
              <a:buChar char="•"/>
              <a:tabLst>
                <a:tab pos="342265" algn="l"/>
                <a:tab pos="352425" algn="l"/>
              </a:tabLst>
            </a:pPr>
            <a:r>
              <a:rPr sz="2500" dirty="0">
                <a:latin typeface="Arial MT"/>
                <a:cs typeface="Arial MT"/>
              </a:rPr>
              <a:t>	</a:t>
            </a:r>
            <a:r>
              <a:rPr sz="2500" spc="-30" dirty="0">
                <a:latin typeface="Arial MT"/>
                <a:cs typeface="Arial MT"/>
              </a:rPr>
              <a:t>Action</a:t>
            </a:r>
            <a:r>
              <a:rPr sz="2500" spc="-145" dirty="0">
                <a:latin typeface="Arial MT"/>
                <a:cs typeface="Arial MT"/>
              </a:rPr>
              <a:t> </a:t>
            </a:r>
            <a:r>
              <a:rPr sz="2500" spc="60" dirty="0">
                <a:latin typeface="Arial MT"/>
                <a:cs typeface="Arial MT"/>
              </a:rPr>
              <a:t>4:</a:t>
            </a:r>
            <a:r>
              <a:rPr sz="2500" spc="-275" dirty="0">
                <a:latin typeface="Arial MT"/>
                <a:cs typeface="Arial MT"/>
              </a:rPr>
              <a:t> </a:t>
            </a:r>
            <a:r>
              <a:rPr sz="2500" spc="-190" dirty="0">
                <a:latin typeface="Arial MT"/>
                <a:cs typeface="Arial MT"/>
              </a:rPr>
              <a:t>Based</a:t>
            </a:r>
            <a:r>
              <a:rPr sz="2500" spc="15" dirty="0">
                <a:latin typeface="Arial MT"/>
                <a:cs typeface="Arial MT"/>
              </a:rPr>
              <a:t> </a:t>
            </a:r>
            <a:r>
              <a:rPr sz="2500" spc="-165" dirty="0">
                <a:latin typeface="Arial MT"/>
                <a:cs typeface="Arial MT"/>
              </a:rPr>
              <a:t>on</a:t>
            </a:r>
            <a:r>
              <a:rPr sz="2500" spc="-55" dirty="0">
                <a:latin typeface="Arial MT"/>
                <a:cs typeface="Arial MT"/>
              </a:rPr>
              <a:t> </a:t>
            </a:r>
            <a:r>
              <a:rPr sz="2500" spc="-30" dirty="0">
                <a:latin typeface="Arial MT"/>
                <a:cs typeface="Arial MT"/>
              </a:rPr>
              <a:t>pilot</a:t>
            </a:r>
            <a:r>
              <a:rPr sz="2500" spc="-70" dirty="0">
                <a:latin typeface="Arial MT"/>
                <a:cs typeface="Arial MT"/>
              </a:rPr>
              <a:t> </a:t>
            </a:r>
            <a:r>
              <a:rPr sz="2500" spc="-10" dirty="0">
                <a:latin typeface="Arial MT"/>
                <a:cs typeface="Arial MT"/>
              </a:rPr>
              <a:t>results, </a:t>
            </a:r>
            <a:r>
              <a:rPr sz="2350" spc="-20" dirty="0">
                <a:latin typeface="Arial MT"/>
                <a:cs typeface="Arial MT"/>
              </a:rPr>
              <a:t>develop</a:t>
            </a:r>
            <a:r>
              <a:rPr sz="2350" spc="-145" dirty="0">
                <a:latin typeface="Arial MT"/>
                <a:cs typeface="Arial MT"/>
              </a:rPr>
              <a:t> </a:t>
            </a:r>
            <a:r>
              <a:rPr sz="2350" spc="-180" dirty="0">
                <a:latin typeface="Arial MT"/>
                <a:cs typeface="Arial MT"/>
              </a:rPr>
              <a:t>a</a:t>
            </a:r>
            <a:r>
              <a:rPr sz="2350" spc="-70" dirty="0">
                <a:latin typeface="Arial MT"/>
                <a:cs typeface="Arial MT"/>
              </a:rPr>
              <a:t> </a:t>
            </a:r>
            <a:r>
              <a:rPr sz="2350" spc="-20" dirty="0">
                <a:latin typeface="Arial MT"/>
                <a:cs typeface="Arial MT"/>
              </a:rPr>
              <a:t>new</a:t>
            </a:r>
            <a:r>
              <a:rPr sz="2350" spc="-10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national </a:t>
            </a:r>
            <a:r>
              <a:rPr sz="2350" spc="-30" dirty="0">
                <a:latin typeface="Arial MT"/>
                <a:cs typeface="Arial MT"/>
              </a:rPr>
              <a:t>promotional</a:t>
            </a:r>
            <a:r>
              <a:rPr sz="2350" spc="-55" dirty="0">
                <a:latin typeface="Arial MT"/>
                <a:cs typeface="Arial MT"/>
              </a:rPr>
              <a:t> </a:t>
            </a:r>
            <a:r>
              <a:rPr sz="2350" spc="-40" dirty="0">
                <a:latin typeface="Arial MT"/>
                <a:cs typeface="Arial MT"/>
              </a:rPr>
              <a:t>calendar</a:t>
            </a:r>
            <a:r>
              <a:rPr sz="2350" spc="-6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and</a:t>
            </a:r>
            <a:r>
              <a:rPr sz="2350" spc="-150" dirty="0">
                <a:latin typeface="Arial MT"/>
                <a:cs typeface="Arial MT"/>
              </a:rPr>
              <a:t> </a:t>
            </a:r>
            <a:r>
              <a:rPr sz="2350" spc="-30" dirty="0">
                <a:latin typeface="Arial MT"/>
                <a:cs typeface="Arial MT"/>
              </a:rPr>
              <a:t>update </a:t>
            </a:r>
            <a:r>
              <a:rPr sz="2350" spc="-50" dirty="0">
                <a:latin typeface="Arial MT"/>
                <a:cs typeface="Arial MT"/>
              </a:rPr>
              <a:t>planograms</a:t>
            </a:r>
            <a:r>
              <a:rPr sz="2350" spc="-25" dirty="0">
                <a:latin typeface="Arial MT"/>
                <a:cs typeface="Arial MT"/>
              </a:rPr>
              <a:t> </a:t>
            </a:r>
            <a:r>
              <a:rPr sz="2350" dirty="0">
                <a:latin typeface="Arial MT"/>
                <a:cs typeface="Arial MT"/>
              </a:rPr>
              <a:t>for</a:t>
            </a:r>
            <a:r>
              <a:rPr sz="2350" spc="-165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key</a:t>
            </a:r>
            <a:r>
              <a:rPr sz="2350" spc="-50" dirty="0">
                <a:latin typeface="Arial MT"/>
                <a:cs typeface="Arial MT"/>
              </a:rPr>
              <a:t> </a:t>
            </a:r>
            <a:r>
              <a:rPr sz="2350" spc="-10" dirty="0">
                <a:latin typeface="Arial MT"/>
                <a:cs typeface="Arial MT"/>
              </a:rPr>
              <a:t>categories.</a:t>
            </a:r>
            <a:endParaRPr sz="235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707030" y="9439980"/>
            <a:ext cx="123825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50" dirty="0">
                <a:latin typeface="Cambria"/>
                <a:cs typeface="Cambria"/>
              </a:rPr>
              <a:t>G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348023" y="9439980"/>
            <a:ext cx="996950" cy="2266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300" spc="-10" dirty="0">
                <a:latin typeface="Cambria"/>
                <a:cs typeface="Cambria"/>
              </a:rPr>
              <a:t>NotebookLM</a:t>
            </a:r>
            <a:endParaRPr sz="13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1624</Words>
  <Application>Microsoft Office PowerPoint</Application>
  <PresentationFormat>Custom</PresentationFormat>
  <Paragraphs>204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Arial MT</vt:lpstr>
      <vt:lpstr>Cambria</vt:lpstr>
      <vt:lpstr>Consolas</vt:lpstr>
      <vt:lpstr>Courier New</vt:lpstr>
      <vt:lpstr>Times New Roman</vt:lpstr>
      <vt:lpstr>Office Theme</vt:lpstr>
      <vt:lpstr>PowerPoint Presentation</vt:lpstr>
      <vt:lpstr>Our Analysis Revealed Five Actionable Customer Behavior Patterns</vt:lpstr>
      <vt:lpstr>The Core Challenge: Understanding the ‘Why’ Behind Every Purchase</vt:lpstr>
      <vt:lpstr>Our Approach: Market Basket Analysis</vt:lpstr>
      <vt:lpstr>A Rigorous, Multi-Step Process to Ensure Reliable Insights</vt:lpstr>
      <vt:lpstr>Translating Statistics into Business Logic: Our Key Metrics</vt:lpstr>
      <vt:lpstr>From 88,575Itemsets to 5 Key Business Insights</vt:lpstr>
      <vt:lpstr>Insight 1: Staple Products are the Anchors of the Shopping Basket</vt:lpstr>
      <vt:lpstr>Insight 2: High-Lik Pairings Reveal Strong Bundling Opportunities</vt:lpstr>
      <vt:lpstr>Insight 3: Shoppers Bridge Categories, Linking Groceries and Personal Care</vt:lpstr>
      <vt:lpstr>Insight 4: The Direction of Purchase Matters</vt:lpstr>
      <vt:lpstr>Insight 5: Framework for Confident, Data-Driven Decisions</vt:lpstr>
      <vt:lpstr>From Raw Data to a Strategic Asset</vt:lpstr>
      <vt:lpstr>Recommended Next Steps: Putting Insights into Action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Pragya Gupta</cp:lastModifiedBy>
  <cp:revision>2</cp:revision>
  <dcterms:created xsi:type="dcterms:W3CDTF">2026-01-06T09:54:20Z</dcterms:created>
  <dcterms:modified xsi:type="dcterms:W3CDTF">2026-01-07T12:19:48Z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2026-01-06T00:00:00Z</vt:filetime>
  </property>
  <property fmtid="{D5CDD505-2E9C-101B-9397-08002B2CF9AE}" pid="3" name="LastSaved">
    <vt:filetime>2026-01-06T00:00:00Z</vt:filetime>
  </property>
</Properties>
</file>